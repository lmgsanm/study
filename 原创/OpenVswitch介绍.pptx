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bookmarkIdSeed="4">
  <p:sldMasterIdLst>
    <p:sldMasterId id="2147483648" r:id="rId1"/>
  </p:sldMasterIdLst>
  <p:notesMasterIdLst>
    <p:notesMasterId r:id="rId24"/>
  </p:notesMasterIdLst>
  <p:sldIdLst>
    <p:sldId id="256" r:id="rId2"/>
    <p:sldId id="453" r:id="rId3"/>
    <p:sldId id="456" r:id="rId4"/>
    <p:sldId id="457" r:id="rId5"/>
    <p:sldId id="455" r:id="rId6"/>
    <p:sldId id="465" r:id="rId7"/>
    <p:sldId id="466" r:id="rId8"/>
    <p:sldId id="473" r:id="rId9"/>
    <p:sldId id="469" r:id="rId10"/>
    <p:sldId id="467" r:id="rId11"/>
    <p:sldId id="458" r:id="rId12"/>
    <p:sldId id="460" r:id="rId13"/>
    <p:sldId id="459" r:id="rId14"/>
    <p:sldId id="464" r:id="rId15"/>
    <p:sldId id="461" r:id="rId16"/>
    <p:sldId id="470" r:id="rId17"/>
    <p:sldId id="471" r:id="rId18"/>
    <p:sldId id="472" r:id="rId19"/>
    <p:sldId id="462" r:id="rId20"/>
    <p:sldId id="463" r:id="rId21"/>
    <p:sldId id="447" r:id="rId22"/>
    <p:sldId id="295" r:id="rId23"/>
  </p:sldIdLst>
  <p:sldSz cx="11518900" cy="6477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57598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1pPr>
    <a:lvl2pPr marL="0" marR="0" indent="575980" algn="l" defTabSz="57598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2pPr>
    <a:lvl3pPr marL="0" marR="0" indent="1151960" algn="l" defTabSz="57598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3pPr>
    <a:lvl4pPr marL="0" marR="0" indent="1727942" algn="l" defTabSz="57598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4pPr>
    <a:lvl5pPr marL="0" marR="0" indent="2303921" algn="l" defTabSz="57598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5pPr>
    <a:lvl6pPr marL="0" marR="0" indent="2879903" algn="l" defTabSz="57598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6pPr>
    <a:lvl7pPr marL="0" marR="0" indent="3455882" algn="l" defTabSz="57598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7pPr>
    <a:lvl8pPr marL="0" marR="0" indent="4031863" algn="l" defTabSz="57598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8pPr>
    <a:lvl9pPr marL="0" marR="0" indent="4607843" algn="l" defTabSz="57598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9pPr>
  </p:defaultTextStyle>
  <p:extLst>
    <p:ext uri="{EFAFB233-063F-42B5-8137-9DF3F51BA10A}">
      <p15:sldGuideLst xmlns:p15="http://schemas.microsoft.com/office/powerpoint/2012/main">
        <p15:guide id="1" orient="horz" pos="2040">
          <p15:clr>
            <a:srgbClr val="A4A3A4"/>
          </p15:clr>
        </p15:guide>
        <p15:guide id="2" pos="3628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梁桂明(平安科技计算产品团队监控智能服务组)" initials="梁桂明(平安科技计算产品团队监控智能服务组)" lastIdx="1" clrIdx="0">
    <p:extLst>
      <p:ext uri="{19B8F6BF-5375-455C-9EA6-DF929625EA0E}">
        <p15:presenceInfo xmlns:p15="http://schemas.microsoft.com/office/powerpoint/2012/main" userId="S-1-5-21-1392117938-847598349-1136263860-257667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4709"/>
    <a:srgbClr val="229113"/>
    <a:srgbClr val="0000CC"/>
    <a:srgbClr val="333031"/>
    <a:srgbClr val="D75328"/>
    <a:srgbClr val="DD4B23"/>
    <a:srgbClr val="ABE7F3"/>
    <a:srgbClr val="7983DD"/>
    <a:srgbClr val="F587E8"/>
    <a:srgbClr val="EA46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E9639D4-E3E2-4D34-9284-5A2195B3D0D7}" styleName="浅色样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EC20E35-A176-4012-BC5E-935CFFF8708E}" styleName="中度样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58" autoAdjust="0"/>
    <p:restoredTop sz="87692" autoAdjust="0"/>
  </p:normalViewPr>
  <p:slideViewPr>
    <p:cSldViewPr snapToGrid="0">
      <p:cViewPr varScale="1">
        <p:scale>
          <a:sx n="60" d="100"/>
          <a:sy n="60" d="100"/>
        </p:scale>
        <p:origin x="78" y="156"/>
      </p:cViewPr>
      <p:guideLst>
        <p:guide orient="horz" pos="2040"/>
        <p:guide pos="362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Shape 135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36" name="Shape 136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87062434"/>
      </p:ext>
    </p:extLst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等线"/>
      </a:defRPr>
    </a:lvl1pPr>
    <a:lvl2pPr indent="228600" latinLnBrk="0">
      <a:defRPr sz="1200">
        <a:latin typeface="+mn-lt"/>
        <a:ea typeface="+mn-ea"/>
        <a:cs typeface="+mn-cs"/>
        <a:sym typeface="等线"/>
      </a:defRPr>
    </a:lvl2pPr>
    <a:lvl3pPr indent="457200" latinLnBrk="0">
      <a:defRPr sz="1200">
        <a:latin typeface="+mn-lt"/>
        <a:ea typeface="+mn-ea"/>
        <a:cs typeface="+mn-cs"/>
        <a:sym typeface="等线"/>
      </a:defRPr>
    </a:lvl3pPr>
    <a:lvl4pPr indent="685800" latinLnBrk="0">
      <a:defRPr sz="1200">
        <a:latin typeface="+mn-lt"/>
        <a:ea typeface="+mn-ea"/>
        <a:cs typeface="+mn-cs"/>
        <a:sym typeface="等线"/>
      </a:defRPr>
    </a:lvl4pPr>
    <a:lvl5pPr indent="914400" latinLnBrk="0">
      <a:defRPr sz="1200">
        <a:latin typeface="+mn-lt"/>
        <a:ea typeface="+mn-ea"/>
        <a:cs typeface="+mn-cs"/>
        <a:sym typeface="等线"/>
      </a:defRPr>
    </a:lvl5pPr>
    <a:lvl6pPr indent="1143000" latinLnBrk="0">
      <a:defRPr sz="1200">
        <a:latin typeface="+mn-lt"/>
        <a:ea typeface="+mn-ea"/>
        <a:cs typeface="+mn-cs"/>
        <a:sym typeface="等线"/>
      </a:defRPr>
    </a:lvl6pPr>
    <a:lvl7pPr indent="1371600" latinLnBrk="0">
      <a:defRPr sz="1200">
        <a:latin typeface="+mn-lt"/>
        <a:ea typeface="+mn-ea"/>
        <a:cs typeface="+mn-cs"/>
        <a:sym typeface="等线"/>
      </a:defRPr>
    </a:lvl7pPr>
    <a:lvl8pPr indent="1600200" latinLnBrk="0">
      <a:defRPr sz="1200">
        <a:latin typeface="+mn-lt"/>
        <a:ea typeface="+mn-ea"/>
        <a:cs typeface="+mn-cs"/>
        <a:sym typeface="等线"/>
      </a:defRPr>
    </a:lvl8pPr>
    <a:lvl9pPr indent="1828800" latinLnBrk="0">
      <a:defRPr sz="1200">
        <a:latin typeface="+mn-lt"/>
        <a:ea typeface="+mn-ea"/>
        <a:cs typeface="+mn-cs"/>
        <a:sym typeface="等线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73509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14505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文本"/>
          <p:cNvSpPr txBox="1">
            <a:spLocks noGrp="1"/>
          </p:cNvSpPr>
          <p:nvPr>
            <p:ph type="title"/>
          </p:nvPr>
        </p:nvSpPr>
        <p:spPr>
          <a:xfrm>
            <a:off x="864036" y="2013055"/>
            <a:ext cx="9792416" cy="1389039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13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1728073" y="3672099"/>
            <a:ext cx="8064342" cy="1656046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/>
          </a:p>
        </p:txBody>
      </p:sp>
      <p:sp>
        <p:nvSpPr>
          <p:cNvPr id="14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标题文本"/>
          <p:cNvSpPr txBox="1">
            <a:spLocks noGrp="1"/>
          </p:cNvSpPr>
          <p:nvPr>
            <p:ph type="title"/>
          </p:nvPr>
        </p:nvSpPr>
        <p:spPr>
          <a:xfrm>
            <a:off x="910039" y="4164114"/>
            <a:ext cx="9792415" cy="128703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31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910039" y="2746574"/>
            <a:ext cx="9792415" cy="1417539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/>
          </a:p>
        </p:txBody>
      </p:sp>
      <p:pic>
        <p:nvPicPr>
          <p:cNvPr id="32" name="图片 6" descr="图片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1"/>
            <a:ext cx="11520489" cy="6479414"/>
          </a:xfrm>
          <a:prstGeom prst="rect">
            <a:avLst/>
          </a:prstGeom>
          <a:ln w="12700">
            <a:miter lim="400000"/>
          </a:ln>
        </p:spPr>
      </p:pic>
      <p:sp>
        <p:nvSpPr>
          <p:cNvPr id="3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41" name="正文级别 1…"/>
          <p:cNvSpPr txBox="1">
            <a:spLocks noGrp="1"/>
          </p:cNvSpPr>
          <p:nvPr>
            <p:ph type="body" sz="half" idx="1"/>
          </p:nvPr>
        </p:nvSpPr>
        <p:spPr>
          <a:xfrm>
            <a:off x="576023" y="1134030"/>
            <a:ext cx="5088218" cy="3207087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/>
          </a:p>
        </p:txBody>
      </p:sp>
      <p:pic>
        <p:nvPicPr>
          <p:cNvPr id="42" name="图片 7" descr="图片 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1"/>
            <a:ext cx="11520489" cy="6479414"/>
          </a:xfrm>
          <a:prstGeom prst="rect">
            <a:avLst/>
          </a:prstGeom>
          <a:ln w="12700">
            <a:miter lim="400000"/>
          </a:ln>
        </p:spPr>
      </p:pic>
      <p:pic>
        <p:nvPicPr>
          <p:cNvPr id="43" name="图片 8" descr="图片 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25430" y="0"/>
            <a:ext cx="973734" cy="112170"/>
          </a:xfrm>
          <a:prstGeom prst="rect">
            <a:avLst/>
          </a:prstGeom>
          <a:ln w="12700">
            <a:miter lim="400000"/>
          </a:ln>
        </p:spPr>
      </p:pic>
      <p:sp>
        <p:nvSpPr>
          <p:cNvPr id="44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62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576025" y="1450540"/>
            <a:ext cx="5090217" cy="604517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sz="2400" b="1"/>
            </a:lvl1pPr>
            <a:lvl2pPr marL="0" indent="457200">
              <a:spcBef>
                <a:spcPts val="500"/>
              </a:spcBef>
              <a:buSzTx/>
              <a:buFontTx/>
              <a:buNone/>
              <a:defRPr sz="2400" b="1"/>
            </a:lvl2pPr>
            <a:lvl3pPr marL="0" indent="914400">
              <a:spcBef>
                <a:spcPts val="500"/>
              </a:spcBef>
              <a:buSzTx/>
              <a:buFontTx/>
              <a:buNone/>
              <a:defRPr sz="2400" b="1"/>
            </a:lvl3pPr>
            <a:lvl4pPr marL="0" indent="1371600">
              <a:spcBef>
                <a:spcPts val="500"/>
              </a:spcBef>
              <a:buSzTx/>
              <a:buFontTx/>
              <a:buNone/>
              <a:defRPr sz="2400" b="1"/>
            </a:lvl4pPr>
            <a:lvl5pPr marL="0" indent="1828800">
              <a:spcBef>
                <a:spcPts val="500"/>
              </a:spcBef>
              <a:buSzTx/>
              <a:buFontTx/>
              <a:buNone/>
              <a:defRPr sz="2400" b="1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/>
          </a:p>
        </p:txBody>
      </p:sp>
      <p:sp>
        <p:nvSpPr>
          <p:cNvPr id="63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5852250" y="1450540"/>
            <a:ext cx="5092217" cy="604517"/>
          </a:xfrm>
          <a:prstGeom prst="rect">
            <a:avLst/>
          </a:prstGeom>
        </p:spPr>
        <p:txBody>
          <a:bodyPr anchor="b"/>
          <a:lstStyle/>
          <a:p>
            <a:pPr marL="0" lvl="0" indent="0">
              <a:spcBef>
                <a:spcPts val="500"/>
              </a:spcBef>
              <a:buSzTx/>
              <a:buFontTx/>
              <a:buNone/>
              <a:defRPr sz="2400" b="1"/>
            </a:pPr>
            <a:r>
              <a:rPr lang="zh-CN" altLang="en-US"/>
              <a:t>单击此处编辑母版文本样式</a:t>
            </a:r>
          </a:p>
        </p:txBody>
      </p:sp>
      <p:sp>
        <p:nvSpPr>
          <p:cNvPr id="64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72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标题文本"/>
          <p:cNvSpPr txBox="1">
            <a:spLocks noGrp="1"/>
          </p:cNvSpPr>
          <p:nvPr>
            <p:ph type="title"/>
          </p:nvPr>
        </p:nvSpPr>
        <p:spPr>
          <a:xfrm>
            <a:off x="576025" y="258006"/>
            <a:ext cx="3790162" cy="109803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87" name="正文级别 1…"/>
          <p:cNvSpPr txBox="1">
            <a:spLocks noGrp="1"/>
          </p:cNvSpPr>
          <p:nvPr>
            <p:ph type="body" idx="1"/>
          </p:nvPr>
        </p:nvSpPr>
        <p:spPr>
          <a:xfrm>
            <a:off x="4504190" y="258007"/>
            <a:ext cx="6440275" cy="553065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/>
          </a:p>
        </p:txBody>
      </p:sp>
      <p:sp>
        <p:nvSpPr>
          <p:cNvPr id="88" name="文本占位符 3"/>
          <p:cNvSpPr>
            <a:spLocks noGrp="1"/>
          </p:cNvSpPr>
          <p:nvPr>
            <p:ph type="body" sz="half" idx="13"/>
          </p:nvPr>
        </p:nvSpPr>
        <p:spPr>
          <a:xfrm>
            <a:off x="576026" y="1356037"/>
            <a:ext cx="3790161" cy="4432622"/>
          </a:xfrm>
          <a:prstGeom prst="rect">
            <a:avLst/>
          </a:prstGeom>
        </p:spPr>
        <p:txBody>
          <a:bodyPr/>
          <a:lstStyle/>
          <a:p>
            <a:pPr marL="0" lvl="0" indent="0">
              <a:spcBef>
                <a:spcPts val="300"/>
              </a:spcBef>
              <a:buSzTx/>
              <a:buFontTx/>
              <a:buNone/>
              <a:defRPr sz="1400"/>
            </a:pPr>
            <a:r>
              <a:rPr lang="zh-CN" altLang="en-US"/>
              <a:t>单击此处编辑母版文本样式</a:t>
            </a:r>
          </a:p>
        </p:txBody>
      </p:sp>
      <p:sp>
        <p:nvSpPr>
          <p:cNvPr id="89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标题文本"/>
          <p:cNvSpPr txBox="1">
            <a:spLocks noGrp="1"/>
          </p:cNvSpPr>
          <p:nvPr>
            <p:ph type="title"/>
          </p:nvPr>
        </p:nvSpPr>
        <p:spPr>
          <a:xfrm>
            <a:off x="2258096" y="4536121"/>
            <a:ext cx="6912293" cy="535517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97" name="图片占位符 2"/>
          <p:cNvSpPr>
            <a:spLocks noGrp="1"/>
          </p:cNvSpPr>
          <p:nvPr>
            <p:ph type="pic" sz="half" idx="13"/>
          </p:nvPr>
        </p:nvSpPr>
        <p:spPr>
          <a:xfrm>
            <a:off x="2258096" y="579014"/>
            <a:ext cx="6912293" cy="38881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r>
              <a:rPr lang="zh-CN" altLang="en-US"/>
              <a:t>单击图标添加图片</a:t>
            </a:r>
            <a:endParaRPr/>
          </a:p>
        </p:txBody>
      </p:sp>
      <p:sp>
        <p:nvSpPr>
          <p:cNvPr id="98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2258096" y="5071636"/>
            <a:ext cx="6912293" cy="760522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/>
          </a:p>
        </p:txBody>
      </p:sp>
      <p:sp>
        <p:nvSpPr>
          <p:cNvPr id="99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107" name="正文级别 1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/>
          </a:p>
        </p:txBody>
      </p:sp>
      <p:sp>
        <p:nvSpPr>
          <p:cNvPr id="108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标题文本"/>
          <p:cNvSpPr txBox="1">
            <a:spLocks noGrp="1"/>
          </p:cNvSpPr>
          <p:nvPr>
            <p:ph type="title"/>
          </p:nvPr>
        </p:nvSpPr>
        <p:spPr>
          <a:xfrm>
            <a:off x="8352353" y="195005"/>
            <a:ext cx="2592111" cy="414611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116" name="正文级别 1…"/>
          <p:cNvSpPr txBox="1">
            <a:spLocks noGrp="1"/>
          </p:cNvSpPr>
          <p:nvPr>
            <p:ph type="body" idx="1"/>
          </p:nvPr>
        </p:nvSpPr>
        <p:spPr>
          <a:xfrm>
            <a:off x="576025" y="195005"/>
            <a:ext cx="7584321" cy="414611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/>
          </a:p>
        </p:txBody>
      </p:sp>
      <p:sp>
        <p:nvSpPr>
          <p:cNvPr id="117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只有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矩形 4"/>
          <p:cNvSpPr/>
          <p:nvPr/>
        </p:nvSpPr>
        <p:spPr>
          <a:xfrm>
            <a:off x="418582" y="0"/>
            <a:ext cx="167206" cy="654019"/>
          </a:xfrm>
          <a:prstGeom prst="rect">
            <a:avLst/>
          </a:prstGeom>
          <a:solidFill>
            <a:srgbClr val="FF5D0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2100"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25" name="图片 5" descr="图片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031666" y="261531"/>
            <a:ext cx="3072131" cy="293981"/>
          </a:xfrm>
          <a:prstGeom prst="rect">
            <a:avLst/>
          </a:prstGeom>
          <a:ln w="12700">
            <a:miter lim="400000"/>
          </a:ln>
        </p:spPr>
      </p:pic>
      <p:sp>
        <p:nvSpPr>
          <p:cNvPr id="126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4260839" y="712595"/>
            <a:ext cx="2998809" cy="342986"/>
          </a:xfrm>
          <a:prstGeom prst="rect">
            <a:avLst/>
          </a:prstGeom>
        </p:spPr>
        <p:txBody>
          <a:bodyPr/>
          <a:lstStyle>
            <a:lvl1pPr marL="0" indent="0" algn="ctr" defTabSz="864017">
              <a:lnSpc>
                <a:spcPct val="90000"/>
              </a:lnSpc>
              <a:spcBef>
                <a:spcPts val="900"/>
              </a:spcBef>
              <a:buSzTx/>
              <a:buFontTx/>
              <a:buNone/>
              <a:defRPr sz="2200">
                <a:solidFill>
                  <a:srgbClr val="595959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marL="681717" indent="-224517" algn="ctr" defTabSz="864017">
              <a:lnSpc>
                <a:spcPct val="90000"/>
              </a:lnSpc>
              <a:spcBef>
                <a:spcPts val="900"/>
              </a:spcBef>
              <a:buFontTx/>
              <a:defRPr sz="2200">
                <a:solidFill>
                  <a:srgbClr val="595959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2pPr>
            <a:lvl3pPr marL="1123950" indent="-209550" algn="ctr" defTabSz="864017">
              <a:lnSpc>
                <a:spcPct val="90000"/>
              </a:lnSpc>
              <a:spcBef>
                <a:spcPts val="900"/>
              </a:spcBef>
              <a:buFontTx/>
              <a:defRPr sz="2200">
                <a:solidFill>
                  <a:srgbClr val="595959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3pPr>
            <a:lvl4pPr marL="1623060" indent="-251460" algn="ctr" defTabSz="864017">
              <a:lnSpc>
                <a:spcPct val="90000"/>
              </a:lnSpc>
              <a:spcBef>
                <a:spcPts val="900"/>
              </a:spcBef>
              <a:buFontTx/>
              <a:defRPr sz="2200">
                <a:solidFill>
                  <a:srgbClr val="595959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4pPr>
            <a:lvl5pPr marL="2080260" indent="-251460" algn="ctr" defTabSz="864017">
              <a:lnSpc>
                <a:spcPct val="90000"/>
              </a:lnSpc>
              <a:spcBef>
                <a:spcPts val="900"/>
              </a:spcBef>
              <a:buFontTx/>
              <a:defRPr sz="2200">
                <a:solidFill>
                  <a:srgbClr val="595959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/>
          </a:p>
        </p:txBody>
      </p:sp>
      <p:sp>
        <p:nvSpPr>
          <p:cNvPr id="127" name="标题文本"/>
          <p:cNvSpPr txBox="1">
            <a:spLocks noGrp="1"/>
          </p:cNvSpPr>
          <p:nvPr>
            <p:ph type="title"/>
          </p:nvPr>
        </p:nvSpPr>
        <p:spPr>
          <a:xfrm>
            <a:off x="792034" y="206813"/>
            <a:ext cx="3278307" cy="447206"/>
          </a:xfrm>
          <a:prstGeom prst="rect">
            <a:avLst/>
          </a:prstGeom>
        </p:spPr>
        <p:txBody>
          <a:bodyPr/>
          <a:lstStyle>
            <a:lvl1pPr>
              <a:defRPr sz="2600"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128" name="文本占位符 39"/>
          <p:cNvSpPr>
            <a:spLocks noGrp="1"/>
          </p:cNvSpPr>
          <p:nvPr>
            <p:ph type="body" sz="quarter" idx="13"/>
          </p:nvPr>
        </p:nvSpPr>
        <p:spPr>
          <a:xfrm>
            <a:off x="792034" y="712595"/>
            <a:ext cx="2931125" cy="342986"/>
          </a:xfrm>
          <a:prstGeom prst="rect">
            <a:avLst/>
          </a:prstGeom>
        </p:spPr>
        <p:txBody>
          <a:bodyPr/>
          <a:lstStyle/>
          <a:p>
            <a:pPr marL="0" lvl="0" indent="0">
              <a:spcBef>
                <a:spcPts val="500"/>
              </a:spcBef>
              <a:buSzTx/>
              <a:buFontTx/>
              <a:buNone/>
              <a:defRPr sz="2200">
                <a:solidFill>
                  <a:srgbClr val="595959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rPr lang="zh-CN" altLang="en-US"/>
              <a:t>单击此处编辑母版文本样式</a:t>
            </a:r>
          </a:p>
        </p:txBody>
      </p:sp>
      <p:sp>
        <p:nvSpPr>
          <p:cNvPr id="129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0464473" y="6044047"/>
            <a:ext cx="263983" cy="26924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文本"/>
          <p:cNvSpPr txBox="1">
            <a:spLocks noGrp="1"/>
          </p:cNvSpPr>
          <p:nvPr>
            <p:ph type="title"/>
          </p:nvPr>
        </p:nvSpPr>
        <p:spPr>
          <a:xfrm>
            <a:off x="576025" y="259507"/>
            <a:ext cx="10368440" cy="10800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标题文本</a:t>
            </a:r>
          </a:p>
        </p:txBody>
      </p:sp>
      <p:sp>
        <p:nvSpPr>
          <p:cNvPr id="3" name="正文级别 1…"/>
          <p:cNvSpPr txBox="1">
            <a:spLocks noGrp="1"/>
          </p:cNvSpPr>
          <p:nvPr>
            <p:ph type="body" idx="1"/>
          </p:nvPr>
        </p:nvSpPr>
        <p:spPr>
          <a:xfrm>
            <a:off x="576025" y="1512042"/>
            <a:ext cx="10368440" cy="42766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pic>
        <p:nvPicPr>
          <p:cNvPr id="4" name="图片 6" descr="图片 6"/>
          <p:cNvPicPr>
            <a:picLocks noChangeAspect="1"/>
          </p:cNvPicPr>
          <p:nvPr/>
        </p:nvPicPr>
        <p:blipFill>
          <a:blip r:embed="rId13">
            <a:extLst/>
          </a:blip>
          <a:stretch>
            <a:fillRect/>
          </a:stretch>
        </p:blipFill>
        <p:spPr>
          <a:xfrm>
            <a:off x="0" y="1"/>
            <a:ext cx="11520489" cy="6479414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0680483" y="6044047"/>
            <a:ext cx="263982" cy="2692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ransition spd="med"/>
  <p:txStyles>
    <p:titleStyle>
      <a:lvl1pPr marL="0" marR="0" indent="0" algn="ctr" defTabSz="457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0" marR="0" indent="0" algn="ctr" defTabSz="457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0" marR="0" indent="0" algn="ctr" defTabSz="457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0" marR="0" indent="0" algn="ctr" defTabSz="457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0" marR="0" indent="0" algn="ctr" defTabSz="457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0" marR="0" indent="0" algn="ctr" defTabSz="457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0" marR="0" indent="0" algn="ctr" defTabSz="457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0" marR="0" indent="0" algn="ctr" defTabSz="457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0" marR="0" indent="0" algn="ctr" defTabSz="457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titleStyle>
    <p:bodyStyle>
      <a:lvl1pPr marL="342900" marR="0" indent="-342900" algn="l" defTabSz="457200" rtl="0" eaLnBrk="1" latinLnBrk="0" hangingPunct="1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783771" marR="0" indent="-326571" algn="l" defTabSz="457200" rtl="0" eaLnBrk="1" latinLnBrk="0" hangingPunct="1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1219200" marR="0" indent="-304800" algn="l" defTabSz="457200" rtl="0" eaLnBrk="1" latinLnBrk="0" hangingPunct="1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1737360" marR="0" indent="-365760" algn="l" defTabSz="457200" rtl="0" eaLnBrk="1" latinLnBrk="0" hangingPunct="1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2194560" marR="0" indent="-365760" algn="l" defTabSz="457200" rtl="0" eaLnBrk="1" latinLnBrk="0" hangingPunct="1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2651760" marR="0" indent="-365760" algn="l" defTabSz="457200" rtl="0" eaLnBrk="1" latinLnBrk="0" hangingPunct="1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3108960" marR="0" indent="-365760" algn="l" defTabSz="457200" rtl="0" eaLnBrk="1" latinLnBrk="0" hangingPunct="1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3566159" marR="0" indent="-365759" algn="l" defTabSz="457200" rtl="0" eaLnBrk="1" latinLnBrk="0" hangingPunct="1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4023359" marR="0" indent="-365759" algn="l" defTabSz="457200" rtl="0" eaLnBrk="1" latinLnBrk="0" hangingPunct="1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bodyStyle>
    <p:otherStyle>
      <a:lvl1pPr marL="0" marR="0" indent="0" algn="r" defTabSz="57598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575980" algn="r" defTabSz="57598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1151960" algn="r" defTabSz="57598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727942" algn="r" defTabSz="57598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2303921" algn="r" defTabSz="57598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879903" algn="r" defTabSz="57598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3455882" algn="r" defTabSz="57598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4031863" algn="r" defTabSz="57598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4607843" algn="r" defTabSz="57598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流程图: 手动输入 4"/>
          <p:cNvSpPr/>
          <p:nvPr/>
        </p:nvSpPr>
        <p:spPr>
          <a:xfrm rot="16200000" flipH="1">
            <a:off x="4358349" y="-681962"/>
            <a:ext cx="6480178" cy="78441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432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39" name="图片 5" descr="图片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-101600" y="-1851"/>
            <a:ext cx="11520489" cy="6541660"/>
          </a:xfrm>
          <a:prstGeom prst="rect">
            <a:avLst/>
          </a:prstGeom>
          <a:ln w="12700">
            <a:miter lim="400000"/>
          </a:ln>
        </p:spPr>
      </p:pic>
      <p:pic>
        <p:nvPicPr>
          <p:cNvPr id="140" name="图片 6" descr="图片 6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-138274" y="-29029"/>
            <a:ext cx="11658763" cy="6557282"/>
          </a:xfrm>
          <a:prstGeom prst="rect">
            <a:avLst/>
          </a:prstGeom>
          <a:ln w="12700">
            <a:miter lim="400000"/>
          </a:ln>
        </p:spPr>
      </p:pic>
      <p:pic>
        <p:nvPicPr>
          <p:cNvPr id="143" name="图片 9" descr="图片 9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-9856" y="-6999"/>
            <a:ext cx="11508085" cy="6495751"/>
          </a:xfrm>
          <a:prstGeom prst="rect">
            <a:avLst/>
          </a:prstGeom>
          <a:ln w="12700">
            <a:miter lim="400000"/>
          </a:ln>
        </p:spPr>
      </p:pic>
      <p:sp>
        <p:nvSpPr>
          <p:cNvPr id="141" name="文本框 7"/>
          <p:cNvSpPr txBox="1"/>
          <p:nvPr/>
        </p:nvSpPr>
        <p:spPr>
          <a:xfrm>
            <a:off x="5684292" y="2824589"/>
            <a:ext cx="5029580" cy="830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/>
          <a:p>
            <a:pPr algn="r">
              <a:lnSpc>
                <a:spcPct val="120000"/>
              </a:lnSpc>
              <a:defRPr sz="4000" spc="300">
                <a:latin typeface="思源黑体"/>
                <a:ea typeface="思源黑体"/>
                <a:cs typeface="思源黑体"/>
                <a:sym typeface="思源黑体"/>
              </a:defRPr>
            </a:pPr>
            <a:r>
              <a:rPr lang="en-US" altLang="zh-CN" sz="4000" b="1" spc="300" dirty="0" err="1" smtClean="0">
                <a:latin typeface="微软雅黑" panose="020B0503020204020204" pitchFamily="34" charset="-122"/>
                <a:ea typeface="微软雅黑" panose="020B0503020204020204" pitchFamily="34" charset="-122"/>
                <a:cs typeface="思源黑体"/>
                <a:sym typeface="思源黑体"/>
              </a:rPr>
              <a:t>OpenVswitch</a:t>
            </a:r>
            <a:r>
              <a:rPr lang="zh-CN" altLang="en-US" sz="4000" b="1" spc="3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思源黑体"/>
                <a:sym typeface="思源黑体"/>
              </a:rPr>
              <a:t>介绍</a:t>
            </a:r>
            <a:endParaRPr lang="en-US" altLang="zh-CN" sz="4000" b="1" spc="300" dirty="0">
              <a:latin typeface="微软雅黑" panose="020B0503020204020204" pitchFamily="34" charset="-122"/>
              <a:ea typeface="微软雅黑" panose="020B0503020204020204" pitchFamily="34" charset="-122"/>
              <a:cs typeface="思源黑体"/>
              <a:sym typeface="思源黑体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940487" y="6032552"/>
            <a:ext cx="6341922" cy="33855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r" defTabSz="57598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0" i="0" u="none" strike="noStrike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Calibri"/>
              </a:rPr>
              <a:t>平安科技（深圳）有限公司  版权所有  未经授权不得使用和传播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文本框 3"/>
          <p:cNvSpPr txBox="1"/>
          <p:nvPr/>
        </p:nvSpPr>
        <p:spPr>
          <a:xfrm>
            <a:off x="231708" y="1332280"/>
            <a:ext cx="1030515" cy="3177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19900" spc="300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defRPr>
            </a:lvl1pPr>
          </a:lstStyle>
          <a:p>
            <a:r>
              <a:rPr dirty="0"/>
              <a:t>1</a:t>
            </a:r>
          </a:p>
        </p:txBody>
      </p:sp>
      <p:sp>
        <p:nvSpPr>
          <p:cNvPr id="156" name="文本框 4"/>
          <p:cNvSpPr txBox="1"/>
          <p:nvPr/>
        </p:nvSpPr>
        <p:spPr>
          <a:xfrm>
            <a:off x="3016178" y="2559738"/>
            <a:ext cx="5914438" cy="830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4800" spc="3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defRPr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Open </a:t>
            </a:r>
            <a:r>
              <a:rPr lang="en-US" altLang="zh-CN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vSwitch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介绍</a:t>
            </a:r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0073521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标题 1"/>
          <p:cNvSpPr>
            <a:spLocks noGrp="1"/>
          </p:cNvSpPr>
          <p:nvPr>
            <p:ph type="title"/>
          </p:nvPr>
        </p:nvSpPr>
        <p:spPr>
          <a:xfrm>
            <a:off x="576025" y="54787"/>
            <a:ext cx="10368440" cy="1080031"/>
          </a:xfrm>
        </p:spPr>
        <p:txBody>
          <a:bodyPr>
            <a:normAutofit/>
          </a:bodyPr>
          <a:lstStyle/>
          <a:p>
            <a:pPr algn="l"/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主流虚拟交换机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4"/>
          <p:cNvSpPr txBox="1"/>
          <p:nvPr/>
        </p:nvSpPr>
        <p:spPr>
          <a:xfrm>
            <a:off x="992884" y="1340735"/>
            <a:ext cx="7992758" cy="7838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>
              <a:lnSpc>
                <a:spcPct val="140000"/>
              </a:lnSpc>
              <a:defRPr sz="2400" spc="300">
                <a:latin typeface="思源黑体"/>
                <a:ea typeface="思源黑体"/>
                <a:cs typeface="思源黑体"/>
                <a:sym typeface="思源黑体"/>
              </a:defRPr>
            </a:pPr>
            <a:r>
              <a:rPr lang="en-US" altLang="zh-CN" sz="3600" b="1" spc="3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思源黑体"/>
              </a:rPr>
              <a:t>Open </a:t>
            </a:r>
            <a:r>
              <a:rPr lang="en-US" altLang="zh-CN" sz="3600" b="1" spc="300" dirty="0" err="1" smtClean="0">
                <a:latin typeface="微软雅黑" panose="020B0503020204020204" pitchFamily="34" charset="-122"/>
                <a:ea typeface="微软雅黑" panose="020B0503020204020204" pitchFamily="34" charset="-122"/>
                <a:cs typeface="思源黑体"/>
              </a:rPr>
              <a:t>vSwitch</a:t>
            </a:r>
            <a:endParaRPr lang="en-US" altLang="zh-CN" sz="3600" b="1" spc="300" dirty="0">
              <a:latin typeface="微软雅黑" panose="020B0503020204020204" pitchFamily="34" charset="-122"/>
              <a:ea typeface="微软雅黑" panose="020B0503020204020204" pitchFamily="34" charset="-122"/>
              <a:cs typeface="思源黑体"/>
            </a:endParaRPr>
          </a:p>
        </p:txBody>
      </p:sp>
      <p:sp>
        <p:nvSpPr>
          <p:cNvPr id="4" name="文本框 4"/>
          <p:cNvSpPr txBox="1"/>
          <p:nvPr/>
        </p:nvSpPr>
        <p:spPr>
          <a:xfrm>
            <a:off x="992884" y="2370862"/>
            <a:ext cx="7992758" cy="7838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>
              <a:lnSpc>
                <a:spcPct val="140000"/>
              </a:lnSpc>
              <a:defRPr sz="2400" spc="300">
                <a:latin typeface="思源黑体"/>
                <a:ea typeface="思源黑体"/>
                <a:cs typeface="思源黑体"/>
                <a:sym typeface="思源黑体"/>
              </a:defRPr>
            </a:pPr>
            <a:r>
              <a:rPr lang="en-US" altLang="zh-CN" sz="3600" b="1" spc="300" dirty="0" err="1" smtClean="0">
                <a:latin typeface="微软雅黑" panose="020B0503020204020204" pitchFamily="34" charset="-122"/>
                <a:ea typeface="微软雅黑" panose="020B0503020204020204" pitchFamily="34" charset="-122"/>
                <a:cs typeface="思源黑体"/>
              </a:rPr>
              <a:t>Vmware</a:t>
            </a:r>
            <a:r>
              <a:rPr lang="en-US" altLang="zh-CN" sz="3600" b="1" spc="3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思源黑体"/>
              </a:rPr>
              <a:t> virtual switch</a:t>
            </a:r>
            <a:endParaRPr lang="en-US" altLang="zh-CN" sz="3600" b="1" spc="300" dirty="0">
              <a:latin typeface="微软雅黑" panose="020B0503020204020204" pitchFamily="34" charset="-122"/>
              <a:ea typeface="微软雅黑" panose="020B0503020204020204" pitchFamily="34" charset="-122"/>
              <a:cs typeface="思源黑体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92884" y="3400989"/>
            <a:ext cx="7992758" cy="7838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>
              <a:lnSpc>
                <a:spcPct val="140000"/>
              </a:lnSpc>
              <a:defRPr sz="2400" spc="300">
                <a:latin typeface="思源黑体"/>
                <a:ea typeface="思源黑体"/>
                <a:cs typeface="思源黑体"/>
                <a:sym typeface="思源黑体"/>
              </a:defRPr>
            </a:pPr>
            <a:r>
              <a:rPr lang="en-US" altLang="zh-CN" sz="3600" b="1" spc="3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思源黑体"/>
              </a:rPr>
              <a:t>Cisco Nexus 1000V</a:t>
            </a:r>
            <a:endParaRPr lang="en-US" altLang="zh-CN" sz="3600" b="1" spc="300" dirty="0">
              <a:latin typeface="微软雅黑" panose="020B0503020204020204" pitchFamily="34" charset="-122"/>
              <a:ea typeface="微软雅黑" panose="020B0503020204020204" pitchFamily="34" charset="-122"/>
              <a:cs typeface="思源黑体"/>
            </a:endParaRPr>
          </a:p>
        </p:txBody>
      </p:sp>
    </p:spTree>
    <p:extLst>
      <p:ext uri="{BB962C8B-B14F-4D97-AF65-F5344CB8AC3E}">
        <p14:creationId xmlns:p14="http://schemas.microsoft.com/office/powerpoint/2010/main" val="113265430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标题 1"/>
          <p:cNvSpPr>
            <a:spLocks noGrp="1"/>
          </p:cNvSpPr>
          <p:nvPr>
            <p:ph type="title"/>
          </p:nvPr>
        </p:nvSpPr>
        <p:spPr>
          <a:xfrm>
            <a:off x="576025" y="54787"/>
            <a:ext cx="10368440" cy="1080031"/>
          </a:xfrm>
        </p:spPr>
        <p:txBody>
          <a:bodyPr>
            <a:normAutofit/>
          </a:bodyPr>
          <a:lstStyle/>
          <a:p>
            <a:pPr algn="l"/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主流控制器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4"/>
          <p:cNvSpPr txBox="1"/>
          <p:nvPr/>
        </p:nvSpPr>
        <p:spPr>
          <a:xfrm>
            <a:off x="992884" y="1340735"/>
            <a:ext cx="7992758" cy="7838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>
              <a:lnSpc>
                <a:spcPct val="140000"/>
              </a:lnSpc>
              <a:defRPr sz="2400" spc="300">
                <a:latin typeface="思源黑体"/>
                <a:ea typeface="思源黑体"/>
                <a:cs typeface="思源黑体"/>
                <a:sym typeface="思源黑体"/>
              </a:defRPr>
            </a:pPr>
            <a:r>
              <a:rPr lang="en-US" altLang="zh-CN" sz="3600" b="1" spc="3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思源黑体"/>
              </a:rPr>
              <a:t>ODL &amp;ONOS</a:t>
            </a:r>
            <a:endParaRPr lang="en-US" altLang="zh-CN" sz="3600" b="1" spc="300" dirty="0">
              <a:latin typeface="微软雅黑" panose="020B0503020204020204" pitchFamily="34" charset="-122"/>
              <a:ea typeface="微软雅黑" panose="020B0503020204020204" pitchFamily="34" charset="-122"/>
              <a:cs typeface="思源黑体"/>
            </a:endParaRPr>
          </a:p>
        </p:txBody>
      </p:sp>
      <p:sp>
        <p:nvSpPr>
          <p:cNvPr id="4" name="文本框 4"/>
          <p:cNvSpPr txBox="1"/>
          <p:nvPr/>
        </p:nvSpPr>
        <p:spPr>
          <a:xfrm>
            <a:off x="992884" y="2370862"/>
            <a:ext cx="7992758" cy="7838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>
              <a:lnSpc>
                <a:spcPct val="140000"/>
              </a:lnSpc>
              <a:defRPr sz="2400" spc="300">
                <a:latin typeface="思源黑体"/>
                <a:ea typeface="思源黑体"/>
                <a:cs typeface="思源黑体"/>
                <a:sym typeface="思源黑体"/>
              </a:defRPr>
            </a:pPr>
            <a:r>
              <a:rPr lang="en-US" altLang="zh-CN" sz="3600" b="1" spc="300" dirty="0" err="1" smtClean="0">
                <a:latin typeface="微软雅黑" panose="020B0503020204020204" pitchFamily="34" charset="-122"/>
                <a:ea typeface="微软雅黑" panose="020B0503020204020204" pitchFamily="34" charset="-122"/>
                <a:cs typeface="思源黑体"/>
              </a:rPr>
              <a:t>vCenter</a:t>
            </a:r>
            <a:endParaRPr lang="en-US" altLang="zh-CN" sz="3600" b="1" spc="300" dirty="0">
              <a:latin typeface="微软雅黑" panose="020B0503020204020204" pitchFamily="34" charset="-122"/>
              <a:ea typeface="微软雅黑" panose="020B0503020204020204" pitchFamily="34" charset="-122"/>
              <a:cs typeface="思源黑体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92884" y="3400989"/>
            <a:ext cx="7992758" cy="7838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>
              <a:lnSpc>
                <a:spcPct val="140000"/>
              </a:lnSpc>
              <a:defRPr sz="2400" spc="300">
                <a:latin typeface="思源黑体"/>
                <a:ea typeface="思源黑体"/>
                <a:cs typeface="思源黑体"/>
                <a:sym typeface="思源黑体"/>
              </a:defRPr>
            </a:pPr>
            <a:r>
              <a:rPr lang="en-US" altLang="zh-CN" sz="3600" b="1" spc="3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思源黑体"/>
              </a:rPr>
              <a:t>VSM</a:t>
            </a:r>
            <a:endParaRPr lang="en-US" altLang="zh-CN" sz="3600" b="1" spc="300" dirty="0">
              <a:latin typeface="微软雅黑" panose="020B0503020204020204" pitchFamily="34" charset="-122"/>
              <a:ea typeface="微软雅黑" panose="020B0503020204020204" pitchFamily="34" charset="-122"/>
              <a:cs typeface="思源黑体"/>
            </a:endParaRPr>
          </a:p>
        </p:txBody>
      </p:sp>
    </p:spTree>
    <p:extLst>
      <p:ext uri="{BB962C8B-B14F-4D97-AF65-F5344CB8AC3E}">
        <p14:creationId xmlns:p14="http://schemas.microsoft.com/office/powerpoint/2010/main" val="394864462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标题 1"/>
          <p:cNvSpPr>
            <a:spLocks noGrp="1"/>
          </p:cNvSpPr>
          <p:nvPr>
            <p:ph type="title"/>
          </p:nvPr>
        </p:nvSpPr>
        <p:spPr>
          <a:xfrm>
            <a:off x="576025" y="54787"/>
            <a:ext cx="10368440" cy="1080031"/>
          </a:xfrm>
        </p:spPr>
        <p:txBody>
          <a:bodyPr>
            <a:normAutofit/>
          </a:bodyPr>
          <a:lstStyle/>
          <a:p>
            <a:pPr algn="l"/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总体架构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3358" y="1372040"/>
            <a:ext cx="8413774" cy="4142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602704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标题 1"/>
          <p:cNvSpPr>
            <a:spLocks noGrp="1"/>
          </p:cNvSpPr>
          <p:nvPr>
            <p:ph type="title"/>
          </p:nvPr>
        </p:nvSpPr>
        <p:spPr>
          <a:xfrm>
            <a:off x="576025" y="54787"/>
            <a:ext cx="10368440" cy="1080031"/>
          </a:xfrm>
        </p:spPr>
        <p:txBody>
          <a:bodyPr>
            <a:normAutofit/>
          </a:bodyPr>
          <a:lstStyle/>
          <a:p>
            <a:pPr algn="l"/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模块和组件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7699" y="923930"/>
            <a:ext cx="8472154" cy="4913642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0099" y="1076330"/>
            <a:ext cx="8472154" cy="4913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72897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标题 1"/>
          <p:cNvSpPr>
            <a:spLocks noGrp="1"/>
          </p:cNvSpPr>
          <p:nvPr>
            <p:ph type="title"/>
          </p:nvPr>
        </p:nvSpPr>
        <p:spPr>
          <a:xfrm>
            <a:off x="576025" y="54787"/>
            <a:ext cx="10368440" cy="1080031"/>
          </a:xfrm>
        </p:spPr>
        <p:txBody>
          <a:bodyPr>
            <a:normAutofit/>
          </a:bodyPr>
          <a:lstStyle/>
          <a:p>
            <a:pPr algn="l"/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内部结构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466" y="1134818"/>
            <a:ext cx="9763125" cy="435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84936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标题 1"/>
          <p:cNvSpPr>
            <a:spLocks noGrp="1"/>
          </p:cNvSpPr>
          <p:nvPr>
            <p:ph type="title"/>
          </p:nvPr>
        </p:nvSpPr>
        <p:spPr>
          <a:xfrm>
            <a:off x="576025" y="54787"/>
            <a:ext cx="10368440" cy="1080031"/>
          </a:xfrm>
        </p:spPr>
        <p:txBody>
          <a:bodyPr>
            <a:normAutofit/>
          </a:bodyPr>
          <a:lstStyle/>
          <a:p>
            <a:pPr algn="l"/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工作原理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4333943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标题 1"/>
          <p:cNvSpPr>
            <a:spLocks noGrp="1"/>
          </p:cNvSpPr>
          <p:nvPr>
            <p:ph type="title"/>
          </p:nvPr>
        </p:nvSpPr>
        <p:spPr>
          <a:xfrm>
            <a:off x="576025" y="54787"/>
            <a:ext cx="10368440" cy="1080031"/>
          </a:xfrm>
        </p:spPr>
        <p:txBody>
          <a:bodyPr>
            <a:normAutofit/>
          </a:bodyPr>
          <a:lstStyle/>
          <a:p>
            <a:pPr algn="l"/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典型工作流程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55077" y="4187411"/>
            <a:ext cx="5297282" cy="27699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r>
              <a:rPr kumimoji="0" lang="en-US" altLang="zh-CN" sz="12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Calibri"/>
              </a:rPr>
              <a:t>1</a:t>
            </a:r>
            <a:r>
              <a:rPr kumimoji="0" lang="zh-CN" altLang="en-US" sz="12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Calibri"/>
              </a:rPr>
              <a:t>、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Instance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产生一个数据包并发送至虚拟网络接口 </a:t>
            </a:r>
            <a:r>
              <a:rPr lang="en-US" altLang="zh-CN" sz="1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vNIC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Instance eth0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kumimoji="0" lang="zh-CN" altLang="en-US" sz="1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Calibri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55077" y="4615320"/>
            <a:ext cx="3559627" cy="27699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、这个数据包传递到物理机的 </a:t>
            </a:r>
            <a:r>
              <a:rPr lang="en-US" altLang="zh-CN" sz="1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vNIC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接口（</a:t>
            </a:r>
            <a:r>
              <a:rPr lang="en-US" altLang="zh-CN" sz="1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vnet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kumimoji="0" lang="zh-CN" altLang="en-US" sz="1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Calibri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55077" y="5043229"/>
            <a:ext cx="3323985" cy="27699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、数据包从 </a:t>
            </a:r>
            <a:r>
              <a:rPr lang="en-US" altLang="zh-CN" sz="1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vnet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出来，到达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Bridge br100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</a:t>
            </a:r>
            <a:endParaRPr kumimoji="0" lang="zh-CN" altLang="en-US" sz="1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Calibri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055077" y="5471138"/>
            <a:ext cx="4628829" cy="27699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、数据包经过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Bridge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的处理，从物理节点上的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NIC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eth0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）发出</a:t>
            </a:r>
            <a:endParaRPr kumimoji="0" lang="zh-CN" altLang="en-US" sz="1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Calibri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055077" y="5899047"/>
            <a:ext cx="4447690" cy="27699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r>
              <a:rPr lang="en-US" altLang="zh-CN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、数据包从 </a:t>
            </a:r>
            <a:r>
              <a:rPr lang="en-US" altLang="zh-CN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eth0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出去后，按照宿主机的路由以及默认网关</a:t>
            </a: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操作</a:t>
            </a:r>
            <a:endParaRPr kumimoji="0" lang="zh-CN" altLang="en-US" sz="1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Calibri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57" y="940307"/>
            <a:ext cx="8801100" cy="323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17149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文本框 3"/>
          <p:cNvSpPr txBox="1"/>
          <p:nvPr/>
        </p:nvSpPr>
        <p:spPr>
          <a:xfrm>
            <a:off x="231708" y="1332280"/>
            <a:ext cx="1030515" cy="3177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19900" spc="300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defRPr>
            </a:lvl1pPr>
          </a:lstStyle>
          <a:p>
            <a:r>
              <a:rPr lang="en-US" dirty="0"/>
              <a:t>3</a:t>
            </a:r>
            <a:endParaRPr dirty="0"/>
          </a:p>
        </p:txBody>
      </p:sp>
      <p:sp>
        <p:nvSpPr>
          <p:cNvPr id="156" name="文本框 4"/>
          <p:cNvSpPr txBox="1"/>
          <p:nvPr/>
        </p:nvSpPr>
        <p:spPr>
          <a:xfrm>
            <a:off x="3016178" y="2559738"/>
            <a:ext cx="5914438" cy="830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4800" spc="3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defRPr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Open </a:t>
            </a:r>
            <a:r>
              <a:rPr lang="en-US" altLang="zh-CN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vSwitch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功能</a:t>
            </a:r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0191040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标题 1"/>
          <p:cNvSpPr>
            <a:spLocks noGrp="1"/>
          </p:cNvSpPr>
          <p:nvPr>
            <p:ph type="title"/>
          </p:nvPr>
        </p:nvSpPr>
        <p:spPr>
          <a:xfrm>
            <a:off x="576025" y="54787"/>
            <a:ext cx="10368440" cy="1080031"/>
          </a:xfrm>
        </p:spPr>
        <p:txBody>
          <a:bodyPr>
            <a:normAutofit/>
          </a:bodyPr>
          <a:lstStyle/>
          <a:p>
            <a:pPr algn="l"/>
            <a:r>
              <a:rPr lang="en-US" altLang="zh-CN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OVS </a:t>
            </a: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功能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4"/>
          <p:cNvSpPr txBox="1"/>
          <p:nvPr/>
        </p:nvSpPr>
        <p:spPr>
          <a:xfrm>
            <a:off x="917106" y="1134818"/>
            <a:ext cx="7992758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r>
              <a:rPr lang="en-US" altLang="zh-CN" sz="1600" dirty="0" smtClean="0"/>
              <a:t>1</a:t>
            </a:r>
            <a:r>
              <a:rPr lang="zh-CN" altLang="en-US" sz="1600" dirty="0" smtClean="0"/>
              <a:t>、适用于</a:t>
            </a:r>
            <a:r>
              <a:rPr lang="en-US" altLang="zh-CN" sz="1600" dirty="0" err="1"/>
              <a:t>Xen</a:t>
            </a:r>
            <a:r>
              <a:rPr lang="zh-CN" altLang="en-US" sz="1600" dirty="0"/>
              <a:t>，</a:t>
            </a:r>
            <a:r>
              <a:rPr lang="en-US" altLang="zh-CN" sz="1600" dirty="0"/>
              <a:t>KVM</a:t>
            </a:r>
            <a:r>
              <a:rPr lang="zh-CN" altLang="en-US" sz="1600" dirty="0"/>
              <a:t>，</a:t>
            </a:r>
            <a:r>
              <a:rPr lang="en-US" altLang="zh-CN" sz="1600" dirty="0" err="1"/>
              <a:t>VirtualBox</a:t>
            </a:r>
            <a:r>
              <a:rPr lang="zh-CN" altLang="en-US" sz="1600" dirty="0"/>
              <a:t>等</a:t>
            </a:r>
            <a:r>
              <a:rPr lang="en-US" altLang="zh-CN" sz="1600" dirty="0"/>
              <a:t>hypervisors</a:t>
            </a:r>
          </a:p>
        </p:txBody>
      </p:sp>
      <p:sp>
        <p:nvSpPr>
          <p:cNvPr id="6" name="文本框 4"/>
          <p:cNvSpPr txBox="1"/>
          <p:nvPr/>
        </p:nvSpPr>
        <p:spPr>
          <a:xfrm>
            <a:off x="917106" y="3383566"/>
            <a:ext cx="7992758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r>
              <a:rPr lang="en-US" altLang="zh-CN" sz="1600" dirty="0" smtClean="0"/>
              <a:t>5</a:t>
            </a:r>
            <a:r>
              <a:rPr lang="zh-CN" altLang="en-US" sz="1600" dirty="0" smtClean="0"/>
              <a:t>、</a:t>
            </a:r>
            <a:r>
              <a:rPr lang="en-US" altLang="zh-CN" sz="1600" dirty="0"/>
              <a:t>Port bonding</a:t>
            </a:r>
            <a:r>
              <a:rPr lang="zh-CN" altLang="en-US" sz="1600" dirty="0"/>
              <a:t>，</a:t>
            </a:r>
            <a:r>
              <a:rPr lang="en-US" altLang="zh-CN" sz="1600" dirty="0"/>
              <a:t>LACP</a:t>
            </a:r>
            <a:r>
              <a:rPr lang="zh-CN" altLang="en-US" sz="1600" dirty="0"/>
              <a:t>，</a:t>
            </a:r>
            <a:r>
              <a:rPr lang="en-US" altLang="zh-CN" sz="1600" dirty="0"/>
              <a:t>tunneling(</a:t>
            </a:r>
            <a:r>
              <a:rPr lang="en-US" altLang="zh-CN" sz="1600" dirty="0" err="1"/>
              <a:t>vxlan</a:t>
            </a:r>
            <a:r>
              <a:rPr lang="en-US" altLang="zh-CN" sz="1600" dirty="0"/>
              <a:t>/</a:t>
            </a:r>
            <a:r>
              <a:rPr lang="en-US" altLang="zh-CN" sz="1600" dirty="0" err="1"/>
              <a:t>gre</a:t>
            </a:r>
            <a:r>
              <a:rPr lang="en-US" altLang="zh-CN" sz="1600" dirty="0"/>
              <a:t>/</a:t>
            </a:r>
            <a:r>
              <a:rPr lang="en-US" altLang="zh-CN" sz="1600" dirty="0" err="1"/>
              <a:t>Ipsec</a:t>
            </a:r>
            <a:r>
              <a:rPr lang="en-US" altLang="zh-CN" sz="1600" dirty="0"/>
              <a:t>)</a:t>
            </a:r>
          </a:p>
        </p:txBody>
      </p:sp>
      <p:sp>
        <p:nvSpPr>
          <p:cNvPr id="7" name="文本框 4"/>
          <p:cNvSpPr txBox="1"/>
          <p:nvPr/>
        </p:nvSpPr>
        <p:spPr>
          <a:xfrm>
            <a:off x="917106" y="1697005"/>
            <a:ext cx="7992758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r>
              <a:rPr lang="en-US" altLang="zh-CN" sz="1600" dirty="0" smtClean="0"/>
              <a:t>2</a:t>
            </a:r>
            <a:r>
              <a:rPr lang="zh-CN" altLang="en-US" sz="1600" dirty="0"/>
              <a:t>、支持</a:t>
            </a:r>
            <a:r>
              <a:rPr lang="en-US" altLang="zh-CN" sz="1600" dirty="0" err="1"/>
              <a:t>NetFlow</a:t>
            </a:r>
            <a:r>
              <a:rPr lang="en-US" altLang="zh-CN" sz="1600" dirty="0"/>
              <a:t>, IPFIX, </a:t>
            </a:r>
            <a:r>
              <a:rPr lang="en-US" altLang="zh-CN" sz="1600" dirty="0" err="1"/>
              <a:t>sFlow</a:t>
            </a:r>
            <a:r>
              <a:rPr lang="en-US" altLang="zh-CN" sz="1600" dirty="0"/>
              <a:t>, SPAN/RSPAN</a:t>
            </a:r>
            <a:r>
              <a:rPr lang="zh-CN" altLang="en-US" sz="1600" dirty="0"/>
              <a:t>等流量监控协议</a:t>
            </a:r>
            <a:endParaRPr lang="en-US" altLang="zh-CN" sz="1600" dirty="0"/>
          </a:p>
        </p:txBody>
      </p:sp>
      <p:sp>
        <p:nvSpPr>
          <p:cNvPr id="8" name="文本框 4"/>
          <p:cNvSpPr txBox="1"/>
          <p:nvPr/>
        </p:nvSpPr>
        <p:spPr>
          <a:xfrm>
            <a:off x="917106" y="2259192"/>
            <a:ext cx="7992758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r>
              <a:rPr lang="en-US" altLang="zh-CN" sz="1600" dirty="0" smtClean="0"/>
              <a:t>3</a:t>
            </a:r>
            <a:r>
              <a:rPr lang="zh-CN" altLang="en-US" sz="1600" dirty="0"/>
              <a:t>、精细的</a:t>
            </a:r>
            <a:r>
              <a:rPr lang="en-US" altLang="zh-CN" sz="1600" dirty="0"/>
              <a:t>ACL</a:t>
            </a:r>
            <a:r>
              <a:rPr lang="zh-CN" altLang="en-US" sz="1600" dirty="0"/>
              <a:t>和</a:t>
            </a:r>
            <a:r>
              <a:rPr lang="en-US" altLang="zh-CN" sz="1600" dirty="0" err="1"/>
              <a:t>QoS</a:t>
            </a:r>
            <a:r>
              <a:rPr lang="zh-CN" altLang="en-US" sz="1600" dirty="0"/>
              <a:t>策略</a:t>
            </a:r>
            <a:endParaRPr lang="en-US" altLang="zh-CN" sz="1600" dirty="0"/>
          </a:p>
        </p:txBody>
      </p:sp>
      <p:sp>
        <p:nvSpPr>
          <p:cNvPr id="9" name="文本框 4"/>
          <p:cNvSpPr txBox="1"/>
          <p:nvPr/>
        </p:nvSpPr>
        <p:spPr>
          <a:xfrm>
            <a:off x="917106" y="2821379"/>
            <a:ext cx="7992758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r>
              <a:rPr lang="en-US" altLang="zh-CN" sz="1600" dirty="0"/>
              <a:t>4</a:t>
            </a:r>
            <a:r>
              <a:rPr lang="zh-CN" altLang="en-US" sz="1600" dirty="0"/>
              <a:t>、可以使用</a:t>
            </a:r>
            <a:r>
              <a:rPr lang="en-US" altLang="zh-CN" sz="1600" dirty="0" err="1"/>
              <a:t>OpenFlow</a:t>
            </a:r>
            <a:r>
              <a:rPr lang="zh-CN" altLang="en-US" sz="1600" dirty="0"/>
              <a:t>和</a:t>
            </a:r>
            <a:r>
              <a:rPr lang="en-US" altLang="zh-CN" sz="1600" dirty="0"/>
              <a:t>OVSDB</a:t>
            </a:r>
            <a:r>
              <a:rPr lang="zh-CN" altLang="en-US" sz="1600" dirty="0"/>
              <a:t>协议进行集中控制</a:t>
            </a:r>
            <a:endParaRPr lang="en-US" altLang="zh-CN" sz="1600" dirty="0"/>
          </a:p>
        </p:txBody>
      </p:sp>
      <p:sp>
        <p:nvSpPr>
          <p:cNvPr id="10" name="文本框 4"/>
          <p:cNvSpPr txBox="1"/>
          <p:nvPr/>
        </p:nvSpPr>
        <p:spPr>
          <a:xfrm>
            <a:off x="917106" y="3945753"/>
            <a:ext cx="7992758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r>
              <a:rPr lang="en-US" altLang="zh-CN" sz="1600" dirty="0"/>
              <a:t>6</a:t>
            </a:r>
            <a:r>
              <a:rPr lang="zh-CN" altLang="en-US" sz="1600" dirty="0"/>
              <a:t>、支持标准的</a:t>
            </a:r>
            <a:r>
              <a:rPr lang="en-US" altLang="zh-CN" sz="1600" dirty="0"/>
              <a:t>802.1Q VLAN</a:t>
            </a:r>
            <a:r>
              <a:rPr lang="zh-CN" altLang="en-US" sz="1600" dirty="0"/>
              <a:t>协议</a:t>
            </a:r>
            <a:endParaRPr lang="en-US" altLang="zh-CN" sz="1600" dirty="0"/>
          </a:p>
        </p:txBody>
      </p:sp>
      <p:sp>
        <p:nvSpPr>
          <p:cNvPr id="11" name="文本框 4"/>
          <p:cNvSpPr txBox="1"/>
          <p:nvPr/>
        </p:nvSpPr>
        <p:spPr>
          <a:xfrm>
            <a:off x="917106" y="4507940"/>
            <a:ext cx="7992758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r>
              <a:rPr lang="en-US" altLang="zh-CN" sz="1600" dirty="0"/>
              <a:t>7</a:t>
            </a:r>
            <a:r>
              <a:rPr lang="zh-CN" altLang="en-US" sz="1600" dirty="0"/>
              <a:t>、基于</a:t>
            </a:r>
            <a:r>
              <a:rPr lang="en-US" altLang="zh-CN" sz="1600" dirty="0"/>
              <a:t>VM interface</a:t>
            </a:r>
            <a:r>
              <a:rPr lang="zh-CN" altLang="en-US" sz="1600" dirty="0"/>
              <a:t>的流量管理策略</a:t>
            </a:r>
            <a:endParaRPr lang="en-US" altLang="zh-CN" sz="1600" dirty="0"/>
          </a:p>
        </p:txBody>
      </p:sp>
      <p:sp>
        <p:nvSpPr>
          <p:cNvPr id="14" name="文本框 4"/>
          <p:cNvSpPr txBox="1"/>
          <p:nvPr/>
        </p:nvSpPr>
        <p:spPr>
          <a:xfrm>
            <a:off x="917106" y="5070127"/>
            <a:ext cx="7992758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r>
              <a:rPr lang="en-US" altLang="zh-CN" sz="1600" dirty="0"/>
              <a:t>8</a:t>
            </a:r>
            <a:r>
              <a:rPr lang="zh-CN" altLang="en-US" sz="1600" dirty="0"/>
              <a:t>、支持组播功能</a:t>
            </a:r>
            <a:endParaRPr lang="en-US" altLang="zh-CN" sz="1600" dirty="0"/>
          </a:p>
        </p:txBody>
      </p:sp>
      <p:sp>
        <p:nvSpPr>
          <p:cNvPr id="17" name="文本框 4"/>
          <p:cNvSpPr txBox="1"/>
          <p:nvPr/>
        </p:nvSpPr>
        <p:spPr>
          <a:xfrm>
            <a:off x="917106" y="5632313"/>
            <a:ext cx="7992758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r>
              <a:rPr lang="en-US" altLang="zh-CN" sz="1600" dirty="0" smtClean="0"/>
              <a:t>9</a:t>
            </a:r>
            <a:r>
              <a:rPr lang="zh-CN" altLang="en-US" sz="1600" dirty="0" smtClean="0"/>
              <a:t>、</a:t>
            </a:r>
            <a:r>
              <a:rPr lang="en-US" altLang="zh-CN" sz="1600" dirty="0"/>
              <a:t>flow-caching engine(</a:t>
            </a:r>
            <a:r>
              <a:rPr lang="en-US" altLang="zh-CN" sz="1600" dirty="0" err="1"/>
              <a:t>datapath</a:t>
            </a:r>
            <a:r>
              <a:rPr lang="zh-CN" altLang="en-US" sz="1600" dirty="0"/>
              <a:t>模块</a:t>
            </a:r>
            <a:r>
              <a:rPr lang="en-US" altLang="zh-CN" sz="16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42939886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文本框 3"/>
          <p:cNvSpPr txBox="1"/>
          <p:nvPr/>
        </p:nvSpPr>
        <p:spPr>
          <a:xfrm>
            <a:off x="231708" y="1332280"/>
            <a:ext cx="1030515" cy="3177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19900" spc="300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defRPr>
            </a:lvl1pPr>
          </a:lstStyle>
          <a:p>
            <a:r>
              <a:rPr lang="en-US" dirty="0"/>
              <a:t>2</a:t>
            </a:r>
            <a:endParaRPr dirty="0"/>
          </a:p>
        </p:txBody>
      </p:sp>
      <p:sp>
        <p:nvSpPr>
          <p:cNvPr id="156" name="文本框 4"/>
          <p:cNvSpPr txBox="1"/>
          <p:nvPr/>
        </p:nvSpPr>
        <p:spPr>
          <a:xfrm>
            <a:off x="3016178" y="2559738"/>
            <a:ext cx="5914438" cy="830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4800" spc="3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defRPr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Open </a:t>
            </a:r>
            <a:r>
              <a:rPr lang="en-US" altLang="zh-CN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vSwitch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组件</a:t>
            </a:r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9433724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标题 1"/>
          <p:cNvSpPr>
            <a:spLocks noGrp="1"/>
          </p:cNvSpPr>
          <p:nvPr>
            <p:ph type="title"/>
          </p:nvPr>
        </p:nvSpPr>
        <p:spPr>
          <a:xfrm>
            <a:off x="576025" y="54787"/>
            <a:ext cx="10368440" cy="1080031"/>
          </a:xfrm>
        </p:spPr>
        <p:txBody>
          <a:bodyPr>
            <a:normAutofit/>
          </a:bodyPr>
          <a:lstStyle/>
          <a:p>
            <a:pPr algn="l"/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涉及组件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4"/>
          <p:cNvSpPr txBox="1"/>
          <p:nvPr/>
        </p:nvSpPr>
        <p:spPr>
          <a:xfrm>
            <a:off x="992884" y="1300393"/>
            <a:ext cx="7992758" cy="5232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>
              <a:lnSpc>
                <a:spcPct val="140000"/>
              </a:lnSpc>
              <a:defRPr sz="2400" spc="300">
                <a:latin typeface="思源黑体"/>
                <a:ea typeface="思源黑体"/>
                <a:cs typeface="思源黑体"/>
                <a:sym typeface="思源黑体"/>
              </a:defRPr>
            </a:pPr>
            <a:r>
              <a:rPr lang="en-US" altLang="zh-CN" sz="2000" b="1" spc="300" dirty="0" err="1">
                <a:latin typeface="微软雅黑" panose="020B0503020204020204" pitchFamily="34" charset="-122"/>
                <a:ea typeface="微软雅黑" panose="020B0503020204020204" pitchFamily="34" charset="-122"/>
                <a:cs typeface="思源黑体"/>
              </a:rPr>
              <a:t>ovs-vswitchd</a:t>
            </a:r>
            <a:endParaRPr lang="en-US" altLang="zh-CN" sz="2000" b="1" spc="300" dirty="0">
              <a:latin typeface="微软雅黑" panose="020B0503020204020204" pitchFamily="34" charset="-122"/>
              <a:ea typeface="微软雅黑" panose="020B0503020204020204" pitchFamily="34" charset="-122"/>
              <a:cs typeface="思源黑体"/>
            </a:endParaRPr>
          </a:p>
        </p:txBody>
      </p:sp>
      <p:sp>
        <p:nvSpPr>
          <p:cNvPr id="8" name="文本框 4"/>
          <p:cNvSpPr txBox="1"/>
          <p:nvPr/>
        </p:nvSpPr>
        <p:spPr>
          <a:xfrm>
            <a:off x="992884" y="2028124"/>
            <a:ext cx="7992758" cy="47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>
              <a:lnSpc>
                <a:spcPct val="140000"/>
              </a:lnSpc>
              <a:defRPr sz="2400" spc="300">
                <a:latin typeface="思源黑体"/>
                <a:ea typeface="思源黑体"/>
                <a:cs typeface="思源黑体"/>
                <a:sym typeface="思源黑体"/>
              </a:defRPr>
            </a:pPr>
            <a:r>
              <a:rPr lang="en-US" altLang="zh-CN" sz="2000" b="1" spc="300" dirty="0" err="1">
                <a:latin typeface="微软雅黑" panose="020B0503020204020204" pitchFamily="34" charset="-122"/>
                <a:ea typeface="微软雅黑" panose="020B0503020204020204" pitchFamily="34" charset="-122"/>
                <a:cs typeface="思源黑体"/>
              </a:rPr>
              <a:t>ovsdb</a:t>
            </a:r>
            <a:r>
              <a:rPr lang="en-US" altLang="zh-CN" sz="2000" b="1" spc="300" dirty="0">
                <a:latin typeface="微软雅黑" panose="020B0503020204020204" pitchFamily="34" charset="-122"/>
                <a:ea typeface="微软雅黑" panose="020B0503020204020204" pitchFamily="34" charset="-122"/>
                <a:cs typeface="思源黑体"/>
              </a:rPr>
              <a:t>-server</a:t>
            </a:r>
          </a:p>
        </p:txBody>
      </p:sp>
      <p:sp>
        <p:nvSpPr>
          <p:cNvPr id="9" name="文本框 4"/>
          <p:cNvSpPr txBox="1"/>
          <p:nvPr/>
        </p:nvSpPr>
        <p:spPr>
          <a:xfrm>
            <a:off x="992884" y="2709176"/>
            <a:ext cx="7992758" cy="47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>
              <a:lnSpc>
                <a:spcPct val="140000"/>
              </a:lnSpc>
              <a:defRPr sz="2400" spc="300">
                <a:latin typeface="思源黑体"/>
                <a:ea typeface="思源黑体"/>
                <a:cs typeface="思源黑体"/>
                <a:sym typeface="思源黑体"/>
              </a:defRPr>
            </a:pPr>
            <a:r>
              <a:rPr lang="en-US" altLang="zh-CN" sz="2000" b="1" spc="3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思源黑体"/>
              </a:rPr>
              <a:t>Controller</a:t>
            </a:r>
            <a:endParaRPr lang="en-US" altLang="zh-CN" sz="2000" b="1" spc="300" dirty="0">
              <a:latin typeface="微软雅黑" panose="020B0503020204020204" pitchFamily="34" charset="-122"/>
              <a:ea typeface="微软雅黑" panose="020B0503020204020204" pitchFamily="34" charset="-122"/>
              <a:cs typeface="思源黑体"/>
            </a:endParaRPr>
          </a:p>
        </p:txBody>
      </p:sp>
      <p:sp>
        <p:nvSpPr>
          <p:cNvPr id="10" name="文本框 4"/>
          <p:cNvSpPr txBox="1"/>
          <p:nvPr/>
        </p:nvSpPr>
        <p:spPr>
          <a:xfrm>
            <a:off x="992884" y="3390228"/>
            <a:ext cx="7992758" cy="47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>
              <a:lnSpc>
                <a:spcPct val="140000"/>
              </a:lnSpc>
              <a:defRPr sz="2400" spc="300">
                <a:latin typeface="思源黑体"/>
                <a:ea typeface="思源黑体"/>
                <a:cs typeface="思源黑体"/>
                <a:sym typeface="思源黑体"/>
              </a:defRPr>
            </a:pPr>
            <a:r>
              <a:rPr lang="en-US" altLang="zh-CN" sz="2000" b="1" spc="300" dirty="0" err="1" smtClean="0">
                <a:latin typeface="微软雅黑" panose="020B0503020204020204" pitchFamily="34" charset="-122"/>
                <a:ea typeface="微软雅黑" panose="020B0503020204020204" pitchFamily="34" charset="-122"/>
                <a:cs typeface="思源黑体"/>
              </a:rPr>
              <a:t>OpenFlow</a:t>
            </a:r>
            <a:endParaRPr lang="en-US" altLang="zh-CN" sz="2000" b="1" spc="300" dirty="0">
              <a:latin typeface="微软雅黑" panose="020B0503020204020204" pitchFamily="34" charset="-122"/>
              <a:ea typeface="微软雅黑" panose="020B0503020204020204" pitchFamily="34" charset="-122"/>
              <a:cs typeface="思源黑体"/>
            </a:endParaRPr>
          </a:p>
        </p:txBody>
      </p:sp>
      <p:sp>
        <p:nvSpPr>
          <p:cNvPr id="11" name="文本框 4"/>
          <p:cNvSpPr txBox="1"/>
          <p:nvPr/>
        </p:nvSpPr>
        <p:spPr>
          <a:xfrm>
            <a:off x="992884" y="4071279"/>
            <a:ext cx="7992758" cy="47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>
              <a:lnSpc>
                <a:spcPct val="140000"/>
              </a:lnSpc>
              <a:defRPr sz="2400" spc="300">
                <a:latin typeface="思源黑体"/>
                <a:ea typeface="思源黑体"/>
                <a:cs typeface="思源黑体"/>
                <a:sym typeface="思源黑体"/>
              </a:defRPr>
            </a:pPr>
            <a:r>
              <a:rPr lang="en-US" altLang="zh-CN" sz="2000" b="1" spc="300" dirty="0">
                <a:latin typeface="微软雅黑" panose="020B0503020204020204" pitchFamily="34" charset="-122"/>
                <a:ea typeface="微软雅黑" panose="020B0503020204020204" pitchFamily="34" charset="-122"/>
                <a:cs typeface="思源黑体"/>
              </a:rPr>
              <a:t>Kernel </a:t>
            </a:r>
            <a:r>
              <a:rPr lang="en-US" altLang="zh-CN" sz="2000" b="1" spc="300" dirty="0" err="1">
                <a:latin typeface="微软雅黑" panose="020B0503020204020204" pitchFamily="34" charset="-122"/>
                <a:ea typeface="微软雅黑" panose="020B0503020204020204" pitchFamily="34" charset="-122"/>
                <a:cs typeface="思源黑体"/>
              </a:rPr>
              <a:t>Datapath</a:t>
            </a:r>
            <a:endParaRPr lang="en-US" altLang="zh-CN" sz="2000" b="1" spc="300" dirty="0">
              <a:latin typeface="微软雅黑" panose="020B0503020204020204" pitchFamily="34" charset="-122"/>
              <a:ea typeface="微软雅黑" panose="020B0503020204020204" pitchFamily="34" charset="-122"/>
              <a:cs typeface="思源黑体"/>
            </a:endParaRPr>
          </a:p>
        </p:txBody>
      </p:sp>
    </p:spTree>
    <p:extLst>
      <p:ext uri="{BB962C8B-B14F-4D97-AF65-F5344CB8AC3E}">
        <p14:creationId xmlns:p14="http://schemas.microsoft.com/office/powerpoint/2010/main" val="20153206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标题 1"/>
          <p:cNvSpPr>
            <a:spLocks noGrp="1"/>
          </p:cNvSpPr>
          <p:nvPr>
            <p:ph type="title"/>
          </p:nvPr>
        </p:nvSpPr>
        <p:spPr>
          <a:xfrm>
            <a:off x="576025" y="54787"/>
            <a:ext cx="10368440" cy="1080031"/>
          </a:xfrm>
        </p:spPr>
        <p:txBody>
          <a:bodyPr>
            <a:normAutofit/>
          </a:bodyPr>
          <a:lstStyle/>
          <a:p>
            <a:pPr algn="l"/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涉及协议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4"/>
          <p:cNvSpPr txBox="1"/>
          <p:nvPr/>
        </p:nvSpPr>
        <p:spPr>
          <a:xfrm>
            <a:off x="992884" y="1300393"/>
            <a:ext cx="7992758" cy="47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>
              <a:lnSpc>
                <a:spcPct val="140000"/>
              </a:lnSpc>
              <a:defRPr sz="2400" spc="300">
                <a:latin typeface="思源黑体"/>
                <a:ea typeface="思源黑体"/>
                <a:cs typeface="思源黑体"/>
                <a:sym typeface="思源黑体"/>
              </a:defRPr>
            </a:pPr>
            <a:r>
              <a:rPr lang="en-US" altLang="zh-CN" sz="2000" b="1" spc="300" dirty="0" err="1">
                <a:latin typeface="微软雅黑" panose="020B0503020204020204" pitchFamily="34" charset="-122"/>
                <a:ea typeface="微软雅黑" panose="020B0503020204020204" pitchFamily="34" charset="-122"/>
                <a:cs typeface="思源黑体"/>
              </a:rPr>
              <a:t>Managemenet</a:t>
            </a:r>
            <a:r>
              <a:rPr lang="en-US" altLang="zh-CN" sz="2000" b="1" spc="300" dirty="0">
                <a:latin typeface="微软雅黑" panose="020B0503020204020204" pitchFamily="34" charset="-122"/>
                <a:ea typeface="微软雅黑" panose="020B0503020204020204" pitchFamily="34" charset="-122"/>
                <a:cs typeface="思源黑体"/>
              </a:rPr>
              <a:t> </a:t>
            </a:r>
            <a:r>
              <a:rPr lang="en-US" altLang="zh-CN" sz="2000" b="1" spc="3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思源黑体"/>
              </a:rPr>
              <a:t>Protocol</a:t>
            </a:r>
            <a:endParaRPr lang="en-US" altLang="zh-CN" sz="2000" b="1" spc="300" dirty="0">
              <a:latin typeface="微软雅黑" panose="020B0503020204020204" pitchFamily="34" charset="-122"/>
              <a:ea typeface="微软雅黑" panose="020B0503020204020204" pitchFamily="34" charset="-122"/>
              <a:cs typeface="思源黑体"/>
            </a:endParaRPr>
          </a:p>
        </p:txBody>
      </p:sp>
      <p:sp>
        <p:nvSpPr>
          <p:cNvPr id="8" name="文本框 4"/>
          <p:cNvSpPr txBox="1"/>
          <p:nvPr/>
        </p:nvSpPr>
        <p:spPr>
          <a:xfrm>
            <a:off x="992884" y="2147222"/>
            <a:ext cx="7992758" cy="47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>
              <a:lnSpc>
                <a:spcPct val="140000"/>
              </a:lnSpc>
              <a:defRPr sz="2400" spc="300">
                <a:latin typeface="思源黑体"/>
                <a:ea typeface="思源黑体"/>
                <a:cs typeface="思源黑体"/>
                <a:sym typeface="思源黑体"/>
              </a:defRPr>
            </a:pPr>
            <a:r>
              <a:rPr lang="en-US" altLang="zh-CN" sz="2000" b="1" spc="300" dirty="0" err="1" smtClean="0">
                <a:latin typeface="微软雅黑" panose="020B0503020204020204" pitchFamily="34" charset="-122"/>
                <a:ea typeface="微软雅黑" panose="020B0503020204020204" pitchFamily="34" charset="-122"/>
                <a:cs typeface="思源黑体"/>
              </a:rPr>
              <a:t>OpenFlow</a:t>
            </a:r>
            <a:endParaRPr lang="en-US" altLang="zh-CN" sz="2000" b="1" spc="300" dirty="0">
              <a:latin typeface="微软雅黑" panose="020B0503020204020204" pitchFamily="34" charset="-122"/>
              <a:ea typeface="微软雅黑" panose="020B0503020204020204" pitchFamily="34" charset="-122"/>
              <a:cs typeface="思源黑体"/>
            </a:endParaRPr>
          </a:p>
        </p:txBody>
      </p:sp>
      <p:sp>
        <p:nvSpPr>
          <p:cNvPr id="9" name="文本框 4"/>
          <p:cNvSpPr txBox="1"/>
          <p:nvPr/>
        </p:nvSpPr>
        <p:spPr>
          <a:xfrm>
            <a:off x="992884" y="3947133"/>
            <a:ext cx="7992758" cy="47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>
              <a:lnSpc>
                <a:spcPct val="140000"/>
              </a:lnSpc>
              <a:defRPr sz="2400" spc="300">
                <a:latin typeface="思源黑体"/>
                <a:ea typeface="思源黑体"/>
                <a:cs typeface="思源黑体"/>
                <a:sym typeface="思源黑体"/>
              </a:defRPr>
            </a:pPr>
            <a:r>
              <a:rPr lang="en-US" altLang="zh-CN" sz="2000" b="1" spc="300" dirty="0" err="1">
                <a:latin typeface="微软雅黑" panose="020B0503020204020204" pitchFamily="34" charset="-122"/>
                <a:ea typeface="微软雅黑" panose="020B0503020204020204" pitchFamily="34" charset="-122"/>
                <a:cs typeface="思源黑体"/>
              </a:rPr>
              <a:t>Netlink</a:t>
            </a:r>
            <a:endParaRPr lang="en-US" altLang="zh-CN" sz="2000" b="1" spc="300" dirty="0">
              <a:latin typeface="微软雅黑" panose="020B0503020204020204" pitchFamily="34" charset="-122"/>
              <a:ea typeface="微软雅黑" panose="020B0503020204020204" pitchFamily="34" charset="-122"/>
              <a:cs typeface="思源黑体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513389" y="2808395"/>
            <a:ext cx="5335754" cy="95410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网络通信协议，属于数据链路层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能够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控制网络交换器或路由器的转发平面（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forwarding plane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），</a:t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借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此改变网络数据包所走的网络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路径</a:t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软件定义网络（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Software-defined networking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）的引导器</a:t>
            </a:r>
            <a:endParaRPr kumimoji="0" lang="zh-CN" altLang="en-US" sz="1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Calibri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513389" y="4608307"/>
            <a:ext cx="6299158" cy="95410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是一组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Linux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核心接口（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Linux kernel interfaces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用于进程间通信，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Linux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内核与用户空间的进程间、用户进程间的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通讯</a:t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Netlink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由一个在用户空间的标准的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Socket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接口和内核模块 提供的内核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API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组成</a:t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使用了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AF_NETLINK Socket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家族</a:t>
            </a:r>
            <a:endParaRPr kumimoji="0" lang="zh-CN" altLang="en-US" sz="1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3650429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文本框 3"/>
          <p:cNvSpPr txBox="1"/>
          <p:nvPr/>
        </p:nvSpPr>
        <p:spPr>
          <a:xfrm>
            <a:off x="231708" y="1332280"/>
            <a:ext cx="1030515" cy="3177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19900" spc="300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defRPr>
            </a:lvl1pPr>
          </a:lstStyle>
          <a:p>
            <a:r>
              <a:rPr lang="en-US" dirty="0"/>
              <a:t>3</a:t>
            </a:r>
            <a:endParaRPr dirty="0"/>
          </a:p>
        </p:txBody>
      </p:sp>
      <p:sp>
        <p:nvSpPr>
          <p:cNvPr id="156" name="文本框 4"/>
          <p:cNvSpPr txBox="1"/>
          <p:nvPr/>
        </p:nvSpPr>
        <p:spPr>
          <a:xfrm>
            <a:off x="3016178" y="2559738"/>
            <a:ext cx="5914438" cy="830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4800" spc="3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defRPr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Open </a:t>
            </a:r>
            <a:r>
              <a:rPr lang="en-US" altLang="zh-CN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vSwitch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部署</a:t>
            </a:r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5098941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文本框 3"/>
          <p:cNvSpPr txBox="1"/>
          <p:nvPr/>
        </p:nvSpPr>
        <p:spPr>
          <a:xfrm>
            <a:off x="231708" y="1332280"/>
            <a:ext cx="1030515" cy="3177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19900" spc="300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defRPr>
            </a:lvl1pPr>
          </a:lstStyle>
          <a:p>
            <a:r>
              <a:rPr lang="en-US" dirty="0"/>
              <a:t>3</a:t>
            </a:r>
            <a:endParaRPr dirty="0"/>
          </a:p>
        </p:txBody>
      </p:sp>
      <p:sp>
        <p:nvSpPr>
          <p:cNvPr id="156" name="文本框 4"/>
          <p:cNvSpPr txBox="1"/>
          <p:nvPr/>
        </p:nvSpPr>
        <p:spPr>
          <a:xfrm>
            <a:off x="3016178" y="2559738"/>
            <a:ext cx="6568463" cy="830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4800" spc="3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defRPr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Open </a:t>
            </a:r>
            <a:r>
              <a:rPr lang="en-US" altLang="zh-CN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vSwitch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数据库</a:t>
            </a:r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2076689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标题 1"/>
          <p:cNvSpPr>
            <a:spLocks noGrp="1"/>
          </p:cNvSpPr>
          <p:nvPr>
            <p:ph type="title"/>
          </p:nvPr>
        </p:nvSpPr>
        <p:spPr>
          <a:xfrm>
            <a:off x="576025" y="54787"/>
            <a:ext cx="10368440" cy="1080031"/>
          </a:xfrm>
        </p:spPr>
        <p:txBody>
          <a:bodyPr>
            <a:normAutofit/>
          </a:bodyPr>
          <a:lstStyle/>
          <a:p>
            <a:pPr algn="l"/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表之间关系</a:t>
            </a:r>
            <a:r>
              <a:rPr lang="en-US" altLang="zh-CN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(1)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6037" y="1547812"/>
            <a:ext cx="8886825" cy="3381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66736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标题 1"/>
          <p:cNvSpPr>
            <a:spLocks noGrp="1"/>
          </p:cNvSpPr>
          <p:nvPr>
            <p:ph type="title"/>
          </p:nvPr>
        </p:nvSpPr>
        <p:spPr>
          <a:xfrm>
            <a:off x="576025" y="54787"/>
            <a:ext cx="10368440" cy="1080031"/>
          </a:xfrm>
        </p:spPr>
        <p:txBody>
          <a:bodyPr>
            <a:normAutofit/>
          </a:bodyPr>
          <a:lstStyle/>
          <a:p>
            <a:pPr algn="l"/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表之间关系</a:t>
            </a:r>
            <a:r>
              <a:rPr lang="en-US" altLang="zh-CN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(2)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390" y="812883"/>
            <a:ext cx="9182100" cy="5172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40946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文本框 3"/>
          <p:cNvSpPr txBox="1"/>
          <p:nvPr/>
        </p:nvSpPr>
        <p:spPr>
          <a:xfrm>
            <a:off x="231708" y="1332280"/>
            <a:ext cx="1030515" cy="3177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19900" spc="300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defRPr>
            </a:lvl1pPr>
          </a:lstStyle>
          <a:p>
            <a:r>
              <a:rPr lang="en-US" dirty="0"/>
              <a:t>4</a:t>
            </a:r>
            <a:endParaRPr dirty="0"/>
          </a:p>
        </p:txBody>
      </p:sp>
      <p:sp>
        <p:nvSpPr>
          <p:cNvPr id="156" name="文本框 4"/>
          <p:cNvSpPr txBox="1"/>
          <p:nvPr/>
        </p:nvSpPr>
        <p:spPr>
          <a:xfrm>
            <a:off x="3016178" y="2559738"/>
            <a:ext cx="5914438" cy="830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4800" spc="3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defRPr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Open </a:t>
            </a:r>
            <a:r>
              <a:rPr lang="en-US" altLang="zh-CN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vSwitch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1051485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文本框 3"/>
          <p:cNvSpPr txBox="1"/>
          <p:nvPr/>
        </p:nvSpPr>
        <p:spPr>
          <a:xfrm>
            <a:off x="231708" y="1332280"/>
            <a:ext cx="1030515" cy="3177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19900" spc="300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defRPr>
            </a:lvl1pPr>
          </a:lstStyle>
          <a:p>
            <a:r>
              <a:rPr lang="en-US" dirty="0"/>
              <a:t>5</a:t>
            </a:r>
            <a:endParaRPr dirty="0"/>
          </a:p>
        </p:txBody>
      </p:sp>
      <p:sp>
        <p:nvSpPr>
          <p:cNvPr id="156" name="文本框 4"/>
          <p:cNvSpPr txBox="1"/>
          <p:nvPr/>
        </p:nvSpPr>
        <p:spPr>
          <a:xfrm>
            <a:off x="3016178" y="2559738"/>
            <a:ext cx="5914438" cy="830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4800" spc="3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defRPr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Open </a:t>
            </a:r>
            <a:r>
              <a:rPr lang="en-US" altLang="zh-CN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vSwitch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运维</a:t>
            </a:r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6084298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文本框 3"/>
          <p:cNvSpPr txBox="1"/>
          <p:nvPr/>
        </p:nvSpPr>
        <p:spPr>
          <a:xfrm>
            <a:off x="231708" y="1332280"/>
            <a:ext cx="1030515" cy="31547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19900" spc="300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defRPr>
            </a:lvl1pPr>
          </a:lstStyle>
          <a:p>
            <a:r>
              <a:rPr lang="en-US" altLang="zh-CN" dirty="0"/>
              <a:t>4</a:t>
            </a:r>
            <a:endParaRPr dirty="0"/>
          </a:p>
        </p:txBody>
      </p:sp>
      <p:sp>
        <p:nvSpPr>
          <p:cNvPr id="156" name="文本框 4"/>
          <p:cNvSpPr txBox="1"/>
          <p:nvPr/>
        </p:nvSpPr>
        <p:spPr>
          <a:xfrm>
            <a:off x="3493256" y="2579616"/>
            <a:ext cx="1103826" cy="15696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4800" spc="3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defRPr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QA</a:t>
            </a:r>
          </a:p>
          <a:p>
            <a:pPr>
              <a:defRPr sz="4800" spc="3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defRPr>
            </a:pPr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6308841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1" name="图片 8" descr="图片 8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53013" y="-29029"/>
            <a:ext cx="11573501" cy="6532675"/>
          </a:xfrm>
          <a:prstGeom prst="rect">
            <a:avLst/>
          </a:prstGeom>
          <a:ln w="12700">
            <a:miter lim="400000"/>
          </a:ln>
        </p:spPr>
      </p:pic>
      <p:sp>
        <p:nvSpPr>
          <p:cNvPr id="1845" name="流程图: 手动输入 4"/>
          <p:cNvSpPr/>
          <p:nvPr/>
        </p:nvSpPr>
        <p:spPr>
          <a:xfrm rot="16200000" flipH="1">
            <a:off x="4358349" y="-681962"/>
            <a:ext cx="6480178" cy="78441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432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846" name="图片 5" descr="图片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-101600" y="-1851"/>
            <a:ext cx="11520489" cy="6541660"/>
          </a:xfrm>
          <a:prstGeom prst="rect">
            <a:avLst/>
          </a:prstGeom>
          <a:ln w="12700">
            <a:miter lim="400000"/>
          </a:ln>
        </p:spPr>
      </p:pic>
      <p:pic>
        <p:nvPicPr>
          <p:cNvPr id="1847" name="图片 6" descr="图片 6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-138274" y="-29029"/>
            <a:ext cx="11658763" cy="6557282"/>
          </a:xfrm>
          <a:prstGeom prst="rect">
            <a:avLst/>
          </a:prstGeom>
          <a:ln w="12700">
            <a:miter lim="400000"/>
          </a:ln>
        </p:spPr>
      </p:pic>
      <p:sp>
        <p:nvSpPr>
          <p:cNvPr id="1848" name="文本框 7"/>
          <p:cNvSpPr txBox="1"/>
          <p:nvPr/>
        </p:nvSpPr>
        <p:spPr>
          <a:xfrm>
            <a:off x="5146766" y="2204946"/>
            <a:ext cx="5857795" cy="7684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r">
              <a:lnSpc>
                <a:spcPct val="120000"/>
              </a:lnSpc>
              <a:defRPr sz="4000" spc="300">
                <a:solidFill>
                  <a:srgbClr val="E94609"/>
                </a:solidFill>
                <a:latin typeface="思源黑体"/>
                <a:ea typeface="思源黑体"/>
                <a:cs typeface="思源黑体"/>
                <a:sym typeface="思源黑体"/>
              </a:defRPr>
            </a:lvl1pPr>
          </a:lstStyle>
          <a:p>
            <a:r>
              <a:rPr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谢谢</a:t>
            </a:r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平安云内部培训PPT模版">
  <a:themeElements>
    <a:clrScheme name="Office 主题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主题">
      <a:majorFont>
        <a:latin typeface="Helvetica"/>
        <a:ea typeface="Helvetica"/>
        <a:cs typeface="Helvetica"/>
      </a:majorFont>
      <a:minorFont>
        <a:latin typeface="等线"/>
        <a:ea typeface="等线"/>
        <a:cs typeface="等线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57598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57598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主题">
  <a:themeElements>
    <a:clrScheme name="Office 主题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主题">
      <a:majorFont>
        <a:latin typeface="Helvetica"/>
        <a:ea typeface="Helvetica"/>
        <a:cs typeface="Helvetica"/>
      </a:majorFont>
      <a:minorFont>
        <a:latin typeface="等线"/>
        <a:ea typeface="等线"/>
        <a:cs typeface="等线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57598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57598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平安云内部培训PPT模版</Template>
  <TotalTime>17164</TotalTime>
  <Words>352</Words>
  <Application>Microsoft Office PowerPoint</Application>
  <PresentationFormat>自定义</PresentationFormat>
  <Paragraphs>67</Paragraphs>
  <Slides>22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0" baseType="lpstr">
      <vt:lpstr>等线</vt:lpstr>
      <vt:lpstr>思源黑体</vt:lpstr>
      <vt:lpstr>Microsoft YaHei</vt:lpstr>
      <vt:lpstr>Microsoft YaHei</vt:lpstr>
      <vt:lpstr>Arial</vt:lpstr>
      <vt:lpstr>Calibri</vt:lpstr>
      <vt:lpstr>Impact</vt:lpstr>
      <vt:lpstr>平安云内部培训PPT模版</vt:lpstr>
      <vt:lpstr>PowerPoint 演示文稿</vt:lpstr>
      <vt:lpstr>PowerPoint 演示文稿</vt:lpstr>
      <vt:lpstr>主流虚拟交换机</vt:lpstr>
      <vt:lpstr>主流控制器</vt:lpstr>
      <vt:lpstr>总体架构</vt:lpstr>
      <vt:lpstr>模块和组件</vt:lpstr>
      <vt:lpstr>内部结构</vt:lpstr>
      <vt:lpstr>工作原理</vt:lpstr>
      <vt:lpstr>典型工作流程</vt:lpstr>
      <vt:lpstr>PowerPoint 演示文稿</vt:lpstr>
      <vt:lpstr>OVS 功能</vt:lpstr>
      <vt:lpstr>PowerPoint 演示文稿</vt:lpstr>
      <vt:lpstr>涉及组件</vt:lpstr>
      <vt:lpstr>涉及协议</vt:lpstr>
      <vt:lpstr>PowerPoint 演示文稿</vt:lpstr>
      <vt:lpstr>PowerPoint 演示文稿</vt:lpstr>
      <vt:lpstr>表之间关系(1)</vt:lpstr>
      <vt:lpstr>表之间关系(2)</vt:lpstr>
      <vt:lpstr>PowerPoint 演示文稿</vt:lpstr>
      <vt:lpstr>PowerPoint 演示文稿</vt:lpstr>
      <vt:lpstr>PowerPoint 演示文稿</vt:lpstr>
      <vt:lpstr>PowerPoint 演示文稿</vt:lpstr>
    </vt:vector>
  </TitlesOfParts>
  <Company>中国平安保险(集团)股份有限公司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Localadmin</dc:creator>
  <cp:keywords>lgm</cp:keywords>
  <cp:lastModifiedBy>admin</cp:lastModifiedBy>
  <cp:revision>250</cp:revision>
  <dcterms:created xsi:type="dcterms:W3CDTF">2018-07-12T06:20:54Z</dcterms:created>
  <dcterms:modified xsi:type="dcterms:W3CDTF">2021-06-25T07:30:52Z</dcterms:modified>
</cp:coreProperties>
</file>