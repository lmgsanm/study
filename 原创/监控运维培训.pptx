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bookmarkIdSeed="4">
  <p:sldMasterIdLst>
    <p:sldMasterId id="2147483648" r:id="rId1"/>
  </p:sldMasterIdLst>
  <p:notesMasterIdLst>
    <p:notesMasterId r:id="rId27"/>
  </p:notesMasterIdLst>
  <p:sldIdLst>
    <p:sldId id="256" r:id="rId2"/>
    <p:sldId id="453" r:id="rId3"/>
    <p:sldId id="454" r:id="rId4"/>
    <p:sldId id="455" r:id="rId5"/>
    <p:sldId id="258" r:id="rId6"/>
    <p:sldId id="396" r:id="rId7"/>
    <p:sldId id="432" r:id="rId8"/>
    <p:sldId id="433" r:id="rId9"/>
    <p:sldId id="434" r:id="rId10"/>
    <p:sldId id="435" r:id="rId11"/>
    <p:sldId id="440" r:id="rId12"/>
    <p:sldId id="438" r:id="rId13"/>
    <p:sldId id="441" r:id="rId14"/>
    <p:sldId id="442" r:id="rId15"/>
    <p:sldId id="443" r:id="rId16"/>
    <p:sldId id="395" r:id="rId17"/>
    <p:sldId id="409" r:id="rId18"/>
    <p:sldId id="448" r:id="rId19"/>
    <p:sldId id="449" r:id="rId20"/>
    <p:sldId id="450" r:id="rId21"/>
    <p:sldId id="444" r:id="rId22"/>
    <p:sldId id="452" r:id="rId23"/>
    <p:sldId id="446" r:id="rId24"/>
    <p:sldId id="447" r:id="rId25"/>
    <p:sldId id="295" r:id="rId26"/>
  </p:sldIdLst>
  <p:sldSz cx="11518900" cy="6477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75980" rtl="0" fontAlgn="auto" latinLnBrk="0" hangingPunct="0">
      <a:lnSpc>
        <a:spcPct val="100000"/>
      </a:lnSpc>
      <a:spcBef>
        <a:spcPts val="0"/>
      </a:spcBef>
      <a:spcAft>
        <a:spcPts val="0"/>
      </a:spcAft>
      <a:buClrTx/>
      <a:buSzTx/>
      <a:buFontTx/>
      <a:buNone/>
      <a:tabLst/>
      <a:defRPr kumimoji="0" sz="2200" b="0" i="0" u="none" strike="noStrike" cap="none" spc="0" normalizeH="0" baseline="0">
        <a:ln>
          <a:noFill/>
        </a:ln>
        <a:solidFill>
          <a:srgbClr val="000000"/>
        </a:solidFill>
        <a:effectLst/>
        <a:uFillTx/>
        <a:latin typeface="Calibri"/>
        <a:ea typeface="Calibri"/>
        <a:cs typeface="Calibri"/>
        <a:sym typeface="Calibri"/>
      </a:defRPr>
    </a:lvl1pPr>
    <a:lvl2pPr marL="0" marR="0" indent="575980" algn="l" defTabSz="575980" rtl="0" fontAlgn="auto" latinLnBrk="0" hangingPunct="0">
      <a:lnSpc>
        <a:spcPct val="100000"/>
      </a:lnSpc>
      <a:spcBef>
        <a:spcPts val="0"/>
      </a:spcBef>
      <a:spcAft>
        <a:spcPts val="0"/>
      </a:spcAft>
      <a:buClrTx/>
      <a:buSzTx/>
      <a:buFontTx/>
      <a:buNone/>
      <a:tabLst/>
      <a:defRPr kumimoji="0" sz="2200" b="0" i="0" u="none" strike="noStrike" cap="none" spc="0" normalizeH="0" baseline="0">
        <a:ln>
          <a:noFill/>
        </a:ln>
        <a:solidFill>
          <a:srgbClr val="000000"/>
        </a:solidFill>
        <a:effectLst/>
        <a:uFillTx/>
        <a:latin typeface="Calibri"/>
        <a:ea typeface="Calibri"/>
        <a:cs typeface="Calibri"/>
        <a:sym typeface="Calibri"/>
      </a:defRPr>
    </a:lvl2pPr>
    <a:lvl3pPr marL="0" marR="0" indent="1151960" algn="l" defTabSz="575980" rtl="0" fontAlgn="auto" latinLnBrk="0" hangingPunct="0">
      <a:lnSpc>
        <a:spcPct val="100000"/>
      </a:lnSpc>
      <a:spcBef>
        <a:spcPts val="0"/>
      </a:spcBef>
      <a:spcAft>
        <a:spcPts val="0"/>
      </a:spcAft>
      <a:buClrTx/>
      <a:buSzTx/>
      <a:buFontTx/>
      <a:buNone/>
      <a:tabLst/>
      <a:defRPr kumimoji="0" sz="2200" b="0" i="0" u="none" strike="noStrike" cap="none" spc="0" normalizeH="0" baseline="0">
        <a:ln>
          <a:noFill/>
        </a:ln>
        <a:solidFill>
          <a:srgbClr val="000000"/>
        </a:solidFill>
        <a:effectLst/>
        <a:uFillTx/>
        <a:latin typeface="Calibri"/>
        <a:ea typeface="Calibri"/>
        <a:cs typeface="Calibri"/>
        <a:sym typeface="Calibri"/>
      </a:defRPr>
    </a:lvl3pPr>
    <a:lvl4pPr marL="0" marR="0" indent="1727942" algn="l" defTabSz="575980" rtl="0" fontAlgn="auto" latinLnBrk="0" hangingPunct="0">
      <a:lnSpc>
        <a:spcPct val="100000"/>
      </a:lnSpc>
      <a:spcBef>
        <a:spcPts val="0"/>
      </a:spcBef>
      <a:spcAft>
        <a:spcPts val="0"/>
      </a:spcAft>
      <a:buClrTx/>
      <a:buSzTx/>
      <a:buFontTx/>
      <a:buNone/>
      <a:tabLst/>
      <a:defRPr kumimoji="0" sz="2200" b="0" i="0" u="none" strike="noStrike" cap="none" spc="0" normalizeH="0" baseline="0">
        <a:ln>
          <a:noFill/>
        </a:ln>
        <a:solidFill>
          <a:srgbClr val="000000"/>
        </a:solidFill>
        <a:effectLst/>
        <a:uFillTx/>
        <a:latin typeface="Calibri"/>
        <a:ea typeface="Calibri"/>
        <a:cs typeface="Calibri"/>
        <a:sym typeface="Calibri"/>
      </a:defRPr>
    </a:lvl4pPr>
    <a:lvl5pPr marL="0" marR="0" indent="2303921" algn="l" defTabSz="575980" rtl="0" fontAlgn="auto" latinLnBrk="0" hangingPunct="0">
      <a:lnSpc>
        <a:spcPct val="100000"/>
      </a:lnSpc>
      <a:spcBef>
        <a:spcPts val="0"/>
      </a:spcBef>
      <a:spcAft>
        <a:spcPts val="0"/>
      </a:spcAft>
      <a:buClrTx/>
      <a:buSzTx/>
      <a:buFontTx/>
      <a:buNone/>
      <a:tabLst/>
      <a:defRPr kumimoji="0" sz="2200" b="0" i="0" u="none" strike="noStrike" cap="none" spc="0" normalizeH="0" baseline="0">
        <a:ln>
          <a:noFill/>
        </a:ln>
        <a:solidFill>
          <a:srgbClr val="000000"/>
        </a:solidFill>
        <a:effectLst/>
        <a:uFillTx/>
        <a:latin typeface="Calibri"/>
        <a:ea typeface="Calibri"/>
        <a:cs typeface="Calibri"/>
        <a:sym typeface="Calibri"/>
      </a:defRPr>
    </a:lvl5pPr>
    <a:lvl6pPr marL="0" marR="0" indent="2879903" algn="l" defTabSz="575980" rtl="0" fontAlgn="auto" latinLnBrk="0" hangingPunct="0">
      <a:lnSpc>
        <a:spcPct val="100000"/>
      </a:lnSpc>
      <a:spcBef>
        <a:spcPts val="0"/>
      </a:spcBef>
      <a:spcAft>
        <a:spcPts val="0"/>
      </a:spcAft>
      <a:buClrTx/>
      <a:buSzTx/>
      <a:buFontTx/>
      <a:buNone/>
      <a:tabLst/>
      <a:defRPr kumimoji="0" sz="2200" b="0" i="0" u="none" strike="noStrike" cap="none" spc="0" normalizeH="0" baseline="0">
        <a:ln>
          <a:noFill/>
        </a:ln>
        <a:solidFill>
          <a:srgbClr val="000000"/>
        </a:solidFill>
        <a:effectLst/>
        <a:uFillTx/>
        <a:latin typeface="Calibri"/>
        <a:ea typeface="Calibri"/>
        <a:cs typeface="Calibri"/>
        <a:sym typeface="Calibri"/>
      </a:defRPr>
    </a:lvl6pPr>
    <a:lvl7pPr marL="0" marR="0" indent="3455882" algn="l" defTabSz="575980" rtl="0" fontAlgn="auto" latinLnBrk="0" hangingPunct="0">
      <a:lnSpc>
        <a:spcPct val="100000"/>
      </a:lnSpc>
      <a:spcBef>
        <a:spcPts val="0"/>
      </a:spcBef>
      <a:spcAft>
        <a:spcPts val="0"/>
      </a:spcAft>
      <a:buClrTx/>
      <a:buSzTx/>
      <a:buFontTx/>
      <a:buNone/>
      <a:tabLst/>
      <a:defRPr kumimoji="0" sz="2200" b="0" i="0" u="none" strike="noStrike" cap="none" spc="0" normalizeH="0" baseline="0">
        <a:ln>
          <a:noFill/>
        </a:ln>
        <a:solidFill>
          <a:srgbClr val="000000"/>
        </a:solidFill>
        <a:effectLst/>
        <a:uFillTx/>
        <a:latin typeface="Calibri"/>
        <a:ea typeface="Calibri"/>
        <a:cs typeface="Calibri"/>
        <a:sym typeface="Calibri"/>
      </a:defRPr>
    </a:lvl7pPr>
    <a:lvl8pPr marL="0" marR="0" indent="4031863" algn="l" defTabSz="575980" rtl="0" fontAlgn="auto" latinLnBrk="0" hangingPunct="0">
      <a:lnSpc>
        <a:spcPct val="100000"/>
      </a:lnSpc>
      <a:spcBef>
        <a:spcPts val="0"/>
      </a:spcBef>
      <a:spcAft>
        <a:spcPts val="0"/>
      </a:spcAft>
      <a:buClrTx/>
      <a:buSzTx/>
      <a:buFontTx/>
      <a:buNone/>
      <a:tabLst/>
      <a:defRPr kumimoji="0" sz="2200" b="0" i="0" u="none" strike="noStrike" cap="none" spc="0" normalizeH="0" baseline="0">
        <a:ln>
          <a:noFill/>
        </a:ln>
        <a:solidFill>
          <a:srgbClr val="000000"/>
        </a:solidFill>
        <a:effectLst/>
        <a:uFillTx/>
        <a:latin typeface="Calibri"/>
        <a:ea typeface="Calibri"/>
        <a:cs typeface="Calibri"/>
        <a:sym typeface="Calibri"/>
      </a:defRPr>
    </a:lvl8pPr>
    <a:lvl9pPr marL="0" marR="0" indent="4607843" algn="l" defTabSz="575980" rtl="0" fontAlgn="auto" latinLnBrk="0" hangingPunct="0">
      <a:lnSpc>
        <a:spcPct val="100000"/>
      </a:lnSpc>
      <a:spcBef>
        <a:spcPts val="0"/>
      </a:spcBef>
      <a:spcAft>
        <a:spcPts val="0"/>
      </a:spcAft>
      <a:buClrTx/>
      <a:buSzTx/>
      <a:buFontTx/>
      <a:buNone/>
      <a:tabLst/>
      <a:defRPr kumimoji="0" sz="2200" b="0" i="0" u="none" strike="noStrike" cap="none" spc="0" normalizeH="0" baseline="0">
        <a:ln>
          <a:noFill/>
        </a:ln>
        <a:solidFill>
          <a:srgbClr val="000000"/>
        </a:solidFill>
        <a:effectLst/>
        <a:uFillTx/>
        <a:latin typeface="Calibri"/>
        <a:ea typeface="Calibri"/>
        <a:cs typeface="Calibri"/>
        <a:sym typeface="Calibri"/>
      </a:defRPr>
    </a:lvl9pPr>
  </p:defaultTextStyle>
  <p:extLst>
    <p:ext uri="{EFAFB233-063F-42B5-8137-9DF3F51BA10A}">
      <p15:sldGuideLst xmlns:p15="http://schemas.microsoft.com/office/powerpoint/2012/main">
        <p15:guide id="1" orient="horz" pos="2040">
          <p15:clr>
            <a:srgbClr val="A4A3A4"/>
          </p15:clr>
        </p15:guide>
        <p15:guide id="2" pos="3628">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梁桂明(平安科技计算产品团队监控智能服务组)" initials="梁桂明(平安科技计算产品团队监控智能服务组)" lastIdx="1" clrIdx="0">
    <p:extLst>
      <p:ext uri="{19B8F6BF-5375-455C-9EA6-DF929625EA0E}">
        <p15:presenceInfo xmlns:p15="http://schemas.microsoft.com/office/powerpoint/2012/main" userId="S-1-5-21-1392117938-847598349-1136263860-257667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4709"/>
    <a:srgbClr val="229113"/>
    <a:srgbClr val="0000CC"/>
    <a:srgbClr val="333031"/>
    <a:srgbClr val="D75328"/>
    <a:srgbClr val="DD4B23"/>
    <a:srgbClr val="ABE7F3"/>
    <a:srgbClr val="7983DD"/>
    <a:srgbClr val="F587E8"/>
    <a:srgbClr val="EA460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D7E7"/>
          </a:solidFill>
        </a:fill>
      </a:tcStyle>
    </a:wholeTbl>
    <a:band2H>
      <a:tcTxStyle/>
      <a:tcStyle>
        <a:tcBdr/>
        <a:fill>
          <a:solidFill>
            <a:srgbClr val="E8ECF4"/>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a:tcStyle>
        <a:tcBdr/>
        <a:fill>
          <a:solidFill>
            <a:srgbClr val="EFF3E9"/>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a:tcStyle>
        <a:tcBdr/>
        <a:fill>
          <a:solidFill>
            <a:srgbClr val="FDEEE8"/>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
          <a:latin typeface="Calibri"/>
          <a:ea typeface="Calibri"/>
          <a:cs typeface="Calibri"/>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
          <a:latin typeface="Calibri"/>
          <a:ea typeface="Calibri"/>
          <a:cs typeface="Calibri"/>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
          <a:latin typeface="Calibri"/>
          <a:ea typeface="Calibri"/>
          <a:cs typeface="Calibri"/>
        </a:font>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
          <a:latin typeface="Calibri"/>
          <a:ea typeface="Calibri"/>
          <a:cs typeface="Calibri"/>
        </a:font>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E25E649-3F16-4E02-A733-19D2CDBF48F0}" styleName="中度样式 3 - 强调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3C2FFA5D-87B4-456A-9821-1D502468CF0F}" styleName="主题样式 1 - 强调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7E9639D4-E3E2-4D34-9284-5A2195B3D0D7}" styleName="浅色样式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8EC20E35-A176-4012-BC5E-935CFFF8708E}" styleName="中度样式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458" autoAdjust="0"/>
    <p:restoredTop sz="92244" autoAdjust="0"/>
  </p:normalViewPr>
  <p:slideViewPr>
    <p:cSldViewPr snapToGrid="0">
      <p:cViewPr varScale="1">
        <p:scale>
          <a:sx n="60" d="100"/>
          <a:sy n="60" d="100"/>
        </p:scale>
        <p:origin x="84" y="318"/>
      </p:cViewPr>
      <p:guideLst>
        <p:guide orient="horz" pos="2040"/>
        <p:guide pos="362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5" name="Shape 135"/>
          <p:cNvSpPr>
            <a:spLocks noGrp="1" noRot="1" noChangeAspect="1"/>
          </p:cNvSpPr>
          <p:nvPr>
            <p:ph type="sldImg"/>
          </p:nvPr>
        </p:nvSpPr>
        <p:spPr>
          <a:xfrm>
            <a:off x="1143000" y="685800"/>
            <a:ext cx="4572000" cy="3429000"/>
          </a:xfrm>
          <a:prstGeom prst="rect">
            <a:avLst/>
          </a:prstGeom>
        </p:spPr>
        <p:txBody>
          <a:bodyPr/>
          <a:lstStyle/>
          <a:p>
            <a:endParaRPr/>
          </a:p>
        </p:txBody>
      </p:sp>
      <p:sp>
        <p:nvSpPr>
          <p:cNvPr id="136" name="Shape 136"/>
          <p:cNvSpPr>
            <a:spLocks noGrp="1"/>
          </p:cNvSpPr>
          <p:nvPr>
            <p:ph type="body" sz="quarter" idx="1"/>
          </p:nvPr>
        </p:nvSpPr>
        <p:spPr>
          <a:xfrm>
            <a:off x="914400" y="4343400"/>
            <a:ext cx="5029200" cy="4114800"/>
          </a:xfrm>
          <a:prstGeom prst="rect">
            <a:avLst/>
          </a:prstGeom>
        </p:spPr>
        <p:txBody>
          <a:bodyPr/>
          <a:lstStyle/>
          <a:p>
            <a:endParaRPr/>
          </a:p>
        </p:txBody>
      </p:sp>
    </p:spTree>
    <p:extLst>
      <p:ext uri="{BB962C8B-B14F-4D97-AF65-F5344CB8AC3E}">
        <p14:creationId xmlns:p14="http://schemas.microsoft.com/office/powerpoint/2010/main" val="3987062434"/>
      </p:ext>
    </p:extLst>
  </p:cSld>
  <p:clrMap bg1="lt1" tx1="dk1" bg2="lt2" tx2="dk2" accent1="accent1" accent2="accent2" accent3="accent3" accent4="accent4" accent5="accent5" accent6="accent6" hlink="hlink" folHlink="folHlink"/>
  <p:notesStyle>
    <a:lvl1pPr latinLnBrk="0">
      <a:defRPr sz="1200">
        <a:latin typeface="+mn-lt"/>
        <a:ea typeface="+mn-ea"/>
        <a:cs typeface="+mn-cs"/>
        <a:sym typeface="等线"/>
      </a:defRPr>
    </a:lvl1pPr>
    <a:lvl2pPr indent="228600" latinLnBrk="0">
      <a:defRPr sz="1200">
        <a:latin typeface="+mn-lt"/>
        <a:ea typeface="+mn-ea"/>
        <a:cs typeface="+mn-cs"/>
        <a:sym typeface="等线"/>
      </a:defRPr>
    </a:lvl2pPr>
    <a:lvl3pPr indent="457200" latinLnBrk="0">
      <a:defRPr sz="1200">
        <a:latin typeface="+mn-lt"/>
        <a:ea typeface="+mn-ea"/>
        <a:cs typeface="+mn-cs"/>
        <a:sym typeface="等线"/>
      </a:defRPr>
    </a:lvl3pPr>
    <a:lvl4pPr indent="685800" latinLnBrk="0">
      <a:defRPr sz="1200">
        <a:latin typeface="+mn-lt"/>
        <a:ea typeface="+mn-ea"/>
        <a:cs typeface="+mn-cs"/>
        <a:sym typeface="等线"/>
      </a:defRPr>
    </a:lvl4pPr>
    <a:lvl5pPr indent="914400" latinLnBrk="0">
      <a:defRPr sz="1200">
        <a:latin typeface="+mn-lt"/>
        <a:ea typeface="+mn-ea"/>
        <a:cs typeface="+mn-cs"/>
        <a:sym typeface="等线"/>
      </a:defRPr>
    </a:lvl5pPr>
    <a:lvl6pPr indent="1143000" latinLnBrk="0">
      <a:defRPr sz="1200">
        <a:latin typeface="+mn-lt"/>
        <a:ea typeface="+mn-ea"/>
        <a:cs typeface="+mn-cs"/>
        <a:sym typeface="等线"/>
      </a:defRPr>
    </a:lvl6pPr>
    <a:lvl7pPr indent="1371600" latinLnBrk="0">
      <a:defRPr sz="1200">
        <a:latin typeface="+mn-lt"/>
        <a:ea typeface="+mn-ea"/>
        <a:cs typeface="+mn-cs"/>
        <a:sym typeface="等线"/>
      </a:defRPr>
    </a:lvl7pPr>
    <a:lvl8pPr indent="1600200" latinLnBrk="0">
      <a:defRPr sz="1200">
        <a:latin typeface="+mn-lt"/>
        <a:ea typeface="+mn-ea"/>
        <a:cs typeface="+mn-cs"/>
        <a:sym typeface="等线"/>
      </a:defRPr>
    </a:lvl8pPr>
    <a:lvl9pPr indent="1828800" latinLnBrk="0">
      <a:defRPr sz="1200">
        <a:latin typeface="+mn-lt"/>
        <a:ea typeface="+mn-ea"/>
        <a:cs typeface="+mn-cs"/>
        <a:sym typeface="等线"/>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7473509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0614362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3536565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5061181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2443710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2729350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2567105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0737427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889693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cSld name="标题幻灯片">
    <p:spTree>
      <p:nvGrpSpPr>
        <p:cNvPr id="1" name=""/>
        <p:cNvGrpSpPr/>
        <p:nvPr/>
      </p:nvGrpSpPr>
      <p:grpSpPr>
        <a:xfrm>
          <a:off x="0" y="0"/>
          <a:ext cx="0" cy="0"/>
          <a:chOff x="0" y="0"/>
          <a:chExt cx="0" cy="0"/>
        </a:xfrm>
      </p:grpSpPr>
      <p:sp>
        <p:nvSpPr>
          <p:cNvPr id="12" name="标题文本"/>
          <p:cNvSpPr txBox="1">
            <a:spLocks noGrp="1"/>
          </p:cNvSpPr>
          <p:nvPr>
            <p:ph type="title"/>
          </p:nvPr>
        </p:nvSpPr>
        <p:spPr>
          <a:xfrm>
            <a:off x="864036" y="2013055"/>
            <a:ext cx="9792416" cy="1389039"/>
          </a:xfrm>
          <a:prstGeom prst="rect">
            <a:avLst/>
          </a:prstGeom>
        </p:spPr>
        <p:txBody>
          <a:bodyPr/>
          <a:lstStyle/>
          <a:p>
            <a:r>
              <a:rPr lang="zh-CN" altLang="en-US"/>
              <a:t>单击此处编辑母版标题样式</a:t>
            </a:r>
            <a:endParaRPr/>
          </a:p>
        </p:txBody>
      </p:sp>
      <p:sp>
        <p:nvSpPr>
          <p:cNvPr id="13" name="正文级别 1…"/>
          <p:cNvSpPr txBox="1">
            <a:spLocks noGrp="1"/>
          </p:cNvSpPr>
          <p:nvPr>
            <p:ph type="body" sz="quarter" idx="1"/>
          </p:nvPr>
        </p:nvSpPr>
        <p:spPr>
          <a:xfrm>
            <a:off x="1728073" y="3672099"/>
            <a:ext cx="8064342" cy="1656046"/>
          </a:xfrm>
          <a:prstGeom prst="rect">
            <a:avLst/>
          </a:prstGeom>
        </p:spPr>
        <p:txBody>
          <a:bodyPr/>
          <a:lstStyle>
            <a:lvl1pPr marL="0" indent="0" algn="ctr">
              <a:buSzTx/>
              <a:buFontTx/>
              <a:buNone/>
              <a:defRPr>
                <a:solidFill>
                  <a:srgbClr val="888888"/>
                </a:solidFill>
              </a:defRPr>
            </a:lvl1pPr>
            <a:lvl2pPr marL="0" indent="457200" algn="ctr">
              <a:buSzTx/>
              <a:buFontTx/>
              <a:buNone/>
              <a:defRPr>
                <a:solidFill>
                  <a:srgbClr val="888888"/>
                </a:solidFill>
              </a:defRPr>
            </a:lvl2pPr>
            <a:lvl3pPr marL="0" indent="914400" algn="ctr">
              <a:buSzTx/>
              <a:buFontTx/>
              <a:buNone/>
              <a:defRPr>
                <a:solidFill>
                  <a:srgbClr val="888888"/>
                </a:solidFill>
              </a:defRPr>
            </a:lvl3pPr>
            <a:lvl4pPr marL="0" indent="1371600" algn="ctr">
              <a:buSzTx/>
              <a:buFontTx/>
              <a:buNone/>
              <a:defRPr>
                <a:solidFill>
                  <a:srgbClr val="888888"/>
                </a:solidFill>
              </a:defRPr>
            </a:lvl4pPr>
            <a:lvl5pPr marL="0" indent="1828800" algn="ctr">
              <a:buSzTx/>
              <a:buFontTx/>
              <a:buNone/>
              <a:defRPr>
                <a:solidFill>
                  <a:srgbClr val="888888"/>
                </a:solidFill>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a:p>
        </p:txBody>
      </p:sp>
      <p:sp>
        <p:nvSpPr>
          <p:cNvPr id="14" name="幻灯片编号"/>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x">
  <p:cSld name="节标题">
    <p:spTree>
      <p:nvGrpSpPr>
        <p:cNvPr id="1" name=""/>
        <p:cNvGrpSpPr/>
        <p:nvPr/>
      </p:nvGrpSpPr>
      <p:grpSpPr>
        <a:xfrm>
          <a:off x="0" y="0"/>
          <a:ext cx="0" cy="0"/>
          <a:chOff x="0" y="0"/>
          <a:chExt cx="0" cy="0"/>
        </a:xfrm>
      </p:grpSpPr>
      <p:sp>
        <p:nvSpPr>
          <p:cNvPr id="30" name="标题文本"/>
          <p:cNvSpPr txBox="1">
            <a:spLocks noGrp="1"/>
          </p:cNvSpPr>
          <p:nvPr>
            <p:ph type="title"/>
          </p:nvPr>
        </p:nvSpPr>
        <p:spPr>
          <a:xfrm>
            <a:off x="910039" y="4164114"/>
            <a:ext cx="9792415" cy="1287035"/>
          </a:xfrm>
          <a:prstGeom prst="rect">
            <a:avLst/>
          </a:prstGeom>
        </p:spPr>
        <p:txBody>
          <a:bodyPr anchor="t"/>
          <a:lstStyle>
            <a:lvl1pPr algn="l">
              <a:defRPr sz="4000" b="1" cap="all"/>
            </a:lvl1pPr>
          </a:lstStyle>
          <a:p>
            <a:r>
              <a:rPr lang="zh-CN" altLang="en-US"/>
              <a:t>单击此处编辑母版标题样式</a:t>
            </a:r>
            <a:endParaRPr/>
          </a:p>
        </p:txBody>
      </p:sp>
      <p:sp>
        <p:nvSpPr>
          <p:cNvPr id="31" name="正文级别 1…"/>
          <p:cNvSpPr txBox="1">
            <a:spLocks noGrp="1"/>
          </p:cNvSpPr>
          <p:nvPr>
            <p:ph type="body" sz="quarter" idx="1"/>
          </p:nvPr>
        </p:nvSpPr>
        <p:spPr>
          <a:xfrm>
            <a:off x="910039" y="2746574"/>
            <a:ext cx="9792415" cy="1417539"/>
          </a:xfrm>
          <a:prstGeom prst="rect">
            <a:avLst/>
          </a:prstGeom>
        </p:spPr>
        <p:txBody>
          <a:bodyPr anchor="b"/>
          <a:lstStyle>
            <a:lvl1pPr marL="0" indent="0">
              <a:spcBef>
                <a:spcPts val="400"/>
              </a:spcBef>
              <a:buSzTx/>
              <a:buFontTx/>
              <a:buNone/>
              <a:defRPr sz="2000">
                <a:solidFill>
                  <a:srgbClr val="888888"/>
                </a:solidFill>
              </a:defRPr>
            </a:lvl1pPr>
            <a:lvl2pPr marL="0" indent="457200">
              <a:spcBef>
                <a:spcPts val="400"/>
              </a:spcBef>
              <a:buSzTx/>
              <a:buFontTx/>
              <a:buNone/>
              <a:defRPr sz="2000">
                <a:solidFill>
                  <a:srgbClr val="888888"/>
                </a:solidFill>
              </a:defRPr>
            </a:lvl2pPr>
            <a:lvl3pPr marL="0" indent="914400">
              <a:spcBef>
                <a:spcPts val="400"/>
              </a:spcBef>
              <a:buSzTx/>
              <a:buFontTx/>
              <a:buNone/>
              <a:defRPr sz="2000">
                <a:solidFill>
                  <a:srgbClr val="888888"/>
                </a:solidFill>
              </a:defRPr>
            </a:lvl3pPr>
            <a:lvl4pPr marL="0" indent="1371600">
              <a:spcBef>
                <a:spcPts val="400"/>
              </a:spcBef>
              <a:buSzTx/>
              <a:buFontTx/>
              <a:buNone/>
              <a:defRPr sz="2000">
                <a:solidFill>
                  <a:srgbClr val="888888"/>
                </a:solidFill>
              </a:defRPr>
            </a:lvl4pPr>
            <a:lvl5pPr marL="0" indent="1828800">
              <a:spcBef>
                <a:spcPts val="400"/>
              </a:spcBef>
              <a:buSzTx/>
              <a:buFontTx/>
              <a:buNone/>
              <a:defRPr sz="2000">
                <a:solidFill>
                  <a:srgbClr val="888888"/>
                </a:solidFill>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a:p>
        </p:txBody>
      </p:sp>
      <p:pic>
        <p:nvPicPr>
          <p:cNvPr id="32" name="图片 6" descr="图片 6"/>
          <p:cNvPicPr>
            <a:picLocks noChangeAspect="1"/>
          </p:cNvPicPr>
          <p:nvPr/>
        </p:nvPicPr>
        <p:blipFill>
          <a:blip r:embed="rId2">
            <a:extLst/>
          </a:blip>
          <a:stretch>
            <a:fillRect/>
          </a:stretch>
        </p:blipFill>
        <p:spPr>
          <a:xfrm>
            <a:off x="0" y="1"/>
            <a:ext cx="11520489" cy="6479414"/>
          </a:xfrm>
          <a:prstGeom prst="rect">
            <a:avLst/>
          </a:prstGeom>
          <a:ln w="12700">
            <a:miter lim="400000"/>
          </a:ln>
        </p:spPr>
      </p:pic>
      <p:sp>
        <p:nvSpPr>
          <p:cNvPr id="33" name="幻灯片编号"/>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x">
  <p:cSld name="两项内容">
    <p:spTree>
      <p:nvGrpSpPr>
        <p:cNvPr id="1" name=""/>
        <p:cNvGrpSpPr/>
        <p:nvPr/>
      </p:nvGrpSpPr>
      <p:grpSpPr>
        <a:xfrm>
          <a:off x="0" y="0"/>
          <a:ext cx="0" cy="0"/>
          <a:chOff x="0" y="0"/>
          <a:chExt cx="0" cy="0"/>
        </a:xfrm>
      </p:grpSpPr>
      <p:sp>
        <p:nvSpPr>
          <p:cNvPr id="40" name="标题文本"/>
          <p:cNvSpPr txBox="1">
            <a:spLocks noGrp="1"/>
          </p:cNvSpPr>
          <p:nvPr>
            <p:ph type="title"/>
          </p:nvPr>
        </p:nvSpPr>
        <p:spPr>
          <a:prstGeom prst="rect">
            <a:avLst/>
          </a:prstGeom>
        </p:spPr>
        <p:txBody>
          <a:bodyPr/>
          <a:lstStyle/>
          <a:p>
            <a:r>
              <a:rPr lang="zh-CN" altLang="en-US"/>
              <a:t>单击此处编辑母版标题样式</a:t>
            </a:r>
            <a:endParaRPr/>
          </a:p>
        </p:txBody>
      </p:sp>
      <p:sp>
        <p:nvSpPr>
          <p:cNvPr id="41" name="正文级别 1…"/>
          <p:cNvSpPr txBox="1">
            <a:spLocks noGrp="1"/>
          </p:cNvSpPr>
          <p:nvPr>
            <p:ph type="body" sz="half" idx="1"/>
          </p:nvPr>
        </p:nvSpPr>
        <p:spPr>
          <a:xfrm>
            <a:off x="576023" y="1134030"/>
            <a:ext cx="5088218" cy="3207087"/>
          </a:xfrm>
          <a:prstGeom prst="rect">
            <a:avLst/>
          </a:prstGeom>
        </p:spPr>
        <p:txBody>
          <a:bodyPr/>
          <a:lstStyle>
            <a:lvl1pPr>
              <a:spcBef>
                <a:spcPts val="600"/>
              </a:spcBef>
              <a:defRPr sz="2800"/>
            </a:lvl1pPr>
            <a:lvl2pPr marL="790575" indent="-333375">
              <a:spcBef>
                <a:spcPts val="600"/>
              </a:spcBef>
              <a:defRPr sz="2800"/>
            </a:lvl2pPr>
            <a:lvl3pPr marL="1234439" indent="-320039">
              <a:spcBef>
                <a:spcPts val="600"/>
              </a:spcBef>
              <a:defRPr sz="2800"/>
            </a:lvl3pPr>
            <a:lvl4pPr marL="1727200" indent="-355600">
              <a:spcBef>
                <a:spcPts val="600"/>
              </a:spcBef>
              <a:defRPr sz="2800"/>
            </a:lvl4pPr>
            <a:lvl5pPr marL="2184400" indent="-355600">
              <a:spcBef>
                <a:spcPts val="600"/>
              </a:spcBef>
              <a:defRPr sz="280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a:p>
        </p:txBody>
      </p:sp>
      <p:pic>
        <p:nvPicPr>
          <p:cNvPr id="42" name="图片 7" descr="图片 7"/>
          <p:cNvPicPr>
            <a:picLocks noChangeAspect="1"/>
          </p:cNvPicPr>
          <p:nvPr/>
        </p:nvPicPr>
        <p:blipFill>
          <a:blip r:embed="rId2">
            <a:extLst/>
          </a:blip>
          <a:stretch>
            <a:fillRect/>
          </a:stretch>
        </p:blipFill>
        <p:spPr>
          <a:xfrm>
            <a:off x="0" y="1"/>
            <a:ext cx="11520489" cy="6479414"/>
          </a:xfrm>
          <a:prstGeom prst="rect">
            <a:avLst/>
          </a:prstGeom>
          <a:ln w="12700">
            <a:miter lim="400000"/>
          </a:ln>
        </p:spPr>
      </p:pic>
      <p:pic>
        <p:nvPicPr>
          <p:cNvPr id="43" name="图片 8" descr="图片 8"/>
          <p:cNvPicPr>
            <a:picLocks noChangeAspect="1"/>
          </p:cNvPicPr>
          <p:nvPr/>
        </p:nvPicPr>
        <p:blipFill>
          <a:blip r:embed="rId3">
            <a:extLst/>
          </a:blip>
          <a:stretch>
            <a:fillRect/>
          </a:stretch>
        </p:blipFill>
        <p:spPr>
          <a:xfrm>
            <a:off x="1025430" y="0"/>
            <a:ext cx="973734" cy="112170"/>
          </a:xfrm>
          <a:prstGeom prst="rect">
            <a:avLst/>
          </a:prstGeom>
          <a:ln w="12700">
            <a:miter lim="400000"/>
          </a:ln>
        </p:spPr>
      </p:pic>
      <p:sp>
        <p:nvSpPr>
          <p:cNvPr id="44" name="幻灯片编号"/>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x">
  <p:cSld name="比较">
    <p:spTree>
      <p:nvGrpSpPr>
        <p:cNvPr id="1" name=""/>
        <p:cNvGrpSpPr/>
        <p:nvPr/>
      </p:nvGrpSpPr>
      <p:grpSpPr>
        <a:xfrm>
          <a:off x="0" y="0"/>
          <a:ext cx="0" cy="0"/>
          <a:chOff x="0" y="0"/>
          <a:chExt cx="0" cy="0"/>
        </a:xfrm>
      </p:grpSpPr>
      <p:sp>
        <p:nvSpPr>
          <p:cNvPr id="61" name="标题文本"/>
          <p:cNvSpPr txBox="1">
            <a:spLocks noGrp="1"/>
          </p:cNvSpPr>
          <p:nvPr>
            <p:ph type="title"/>
          </p:nvPr>
        </p:nvSpPr>
        <p:spPr>
          <a:prstGeom prst="rect">
            <a:avLst/>
          </a:prstGeom>
        </p:spPr>
        <p:txBody>
          <a:bodyPr/>
          <a:lstStyle/>
          <a:p>
            <a:r>
              <a:rPr lang="zh-CN" altLang="en-US"/>
              <a:t>单击此处编辑母版标题样式</a:t>
            </a:r>
            <a:endParaRPr/>
          </a:p>
        </p:txBody>
      </p:sp>
      <p:sp>
        <p:nvSpPr>
          <p:cNvPr id="62" name="正文级别 1…"/>
          <p:cNvSpPr txBox="1">
            <a:spLocks noGrp="1"/>
          </p:cNvSpPr>
          <p:nvPr>
            <p:ph type="body" sz="quarter" idx="1"/>
          </p:nvPr>
        </p:nvSpPr>
        <p:spPr>
          <a:xfrm>
            <a:off x="576025" y="1450540"/>
            <a:ext cx="5090217" cy="604517"/>
          </a:xfrm>
          <a:prstGeom prst="rect">
            <a:avLst/>
          </a:prstGeom>
        </p:spPr>
        <p:txBody>
          <a:bodyPr anchor="b"/>
          <a:lstStyle>
            <a:lvl1pPr marL="0" indent="0">
              <a:spcBef>
                <a:spcPts val="500"/>
              </a:spcBef>
              <a:buSzTx/>
              <a:buFontTx/>
              <a:buNone/>
              <a:defRPr sz="2400" b="1"/>
            </a:lvl1pPr>
            <a:lvl2pPr marL="0" indent="457200">
              <a:spcBef>
                <a:spcPts val="500"/>
              </a:spcBef>
              <a:buSzTx/>
              <a:buFontTx/>
              <a:buNone/>
              <a:defRPr sz="2400" b="1"/>
            </a:lvl2pPr>
            <a:lvl3pPr marL="0" indent="914400">
              <a:spcBef>
                <a:spcPts val="500"/>
              </a:spcBef>
              <a:buSzTx/>
              <a:buFontTx/>
              <a:buNone/>
              <a:defRPr sz="2400" b="1"/>
            </a:lvl3pPr>
            <a:lvl4pPr marL="0" indent="1371600">
              <a:spcBef>
                <a:spcPts val="500"/>
              </a:spcBef>
              <a:buSzTx/>
              <a:buFontTx/>
              <a:buNone/>
              <a:defRPr sz="2400" b="1"/>
            </a:lvl4pPr>
            <a:lvl5pPr marL="0" indent="1828800">
              <a:spcBef>
                <a:spcPts val="500"/>
              </a:spcBef>
              <a:buSzTx/>
              <a:buFontTx/>
              <a:buNone/>
              <a:defRPr sz="2400" b="1"/>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a:p>
        </p:txBody>
      </p:sp>
      <p:sp>
        <p:nvSpPr>
          <p:cNvPr id="63" name="文本占位符 4"/>
          <p:cNvSpPr>
            <a:spLocks noGrp="1"/>
          </p:cNvSpPr>
          <p:nvPr>
            <p:ph type="body" sz="quarter" idx="13"/>
          </p:nvPr>
        </p:nvSpPr>
        <p:spPr>
          <a:xfrm>
            <a:off x="5852250" y="1450540"/>
            <a:ext cx="5092217" cy="604517"/>
          </a:xfrm>
          <a:prstGeom prst="rect">
            <a:avLst/>
          </a:prstGeom>
        </p:spPr>
        <p:txBody>
          <a:bodyPr anchor="b"/>
          <a:lstStyle/>
          <a:p>
            <a:pPr marL="0" lvl="0" indent="0">
              <a:spcBef>
                <a:spcPts val="500"/>
              </a:spcBef>
              <a:buSzTx/>
              <a:buFontTx/>
              <a:buNone/>
              <a:defRPr sz="2400" b="1"/>
            </a:pPr>
            <a:r>
              <a:rPr lang="zh-CN" altLang="en-US"/>
              <a:t>单击此处编辑母版文本样式</a:t>
            </a:r>
          </a:p>
        </p:txBody>
      </p:sp>
      <p:sp>
        <p:nvSpPr>
          <p:cNvPr id="64" name="幻灯片编号"/>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x">
  <p:cSld name="仅标题">
    <p:spTree>
      <p:nvGrpSpPr>
        <p:cNvPr id="1" name=""/>
        <p:cNvGrpSpPr/>
        <p:nvPr/>
      </p:nvGrpSpPr>
      <p:grpSpPr>
        <a:xfrm>
          <a:off x="0" y="0"/>
          <a:ext cx="0" cy="0"/>
          <a:chOff x="0" y="0"/>
          <a:chExt cx="0" cy="0"/>
        </a:xfrm>
      </p:grpSpPr>
      <p:sp>
        <p:nvSpPr>
          <p:cNvPr id="71" name="标题文本"/>
          <p:cNvSpPr txBox="1">
            <a:spLocks noGrp="1"/>
          </p:cNvSpPr>
          <p:nvPr>
            <p:ph type="title"/>
          </p:nvPr>
        </p:nvSpPr>
        <p:spPr>
          <a:prstGeom prst="rect">
            <a:avLst/>
          </a:prstGeom>
        </p:spPr>
        <p:txBody>
          <a:bodyPr/>
          <a:lstStyle/>
          <a:p>
            <a:r>
              <a:rPr lang="zh-CN" altLang="en-US"/>
              <a:t>单击此处编辑母版标题样式</a:t>
            </a:r>
            <a:endParaRPr/>
          </a:p>
        </p:txBody>
      </p:sp>
      <p:sp>
        <p:nvSpPr>
          <p:cNvPr id="72" name="幻灯片编号"/>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x">
  <p:cSld name="空白">
    <p:spTree>
      <p:nvGrpSpPr>
        <p:cNvPr id="1" name=""/>
        <p:cNvGrpSpPr/>
        <p:nvPr/>
      </p:nvGrpSpPr>
      <p:grpSpPr>
        <a:xfrm>
          <a:off x="0" y="0"/>
          <a:ext cx="0" cy="0"/>
          <a:chOff x="0" y="0"/>
          <a:chExt cx="0" cy="0"/>
        </a:xfrm>
      </p:grpSpPr>
      <p:sp>
        <p:nvSpPr>
          <p:cNvPr id="79" name="幻灯片编号"/>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x">
  <p:cSld name="内容与标题">
    <p:spTree>
      <p:nvGrpSpPr>
        <p:cNvPr id="1" name=""/>
        <p:cNvGrpSpPr/>
        <p:nvPr/>
      </p:nvGrpSpPr>
      <p:grpSpPr>
        <a:xfrm>
          <a:off x="0" y="0"/>
          <a:ext cx="0" cy="0"/>
          <a:chOff x="0" y="0"/>
          <a:chExt cx="0" cy="0"/>
        </a:xfrm>
      </p:grpSpPr>
      <p:sp>
        <p:nvSpPr>
          <p:cNvPr id="86" name="标题文本"/>
          <p:cNvSpPr txBox="1">
            <a:spLocks noGrp="1"/>
          </p:cNvSpPr>
          <p:nvPr>
            <p:ph type="title"/>
          </p:nvPr>
        </p:nvSpPr>
        <p:spPr>
          <a:xfrm>
            <a:off x="576025" y="258006"/>
            <a:ext cx="3790162" cy="1098030"/>
          </a:xfrm>
          <a:prstGeom prst="rect">
            <a:avLst/>
          </a:prstGeom>
        </p:spPr>
        <p:txBody>
          <a:bodyPr anchor="b"/>
          <a:lstStyle>
            <a:lvl1pPr algn="l">
              <a:defRPr sz="2000" b="1"/>
            </a:lvl1pPr>
          </a:lstStyle>
          <a:p>
            <a:r>
              <a:rPr lang="zh-CN" altLang="en-US"/>
              <a:t>单击此处编辑母版标题样式</a:t>
            </a:r>
            <a:endParaRPr/>
          </a:p>
        </p:txBody>
      </p:sp>
      <p:sp>
        <p:nvSpPr>
          <p:cNvPr id="87" name="正文级别 1…"/>
          <p:cNvSpPr txBox="1">
            <a:spLocks noGrp="1"/>
          </p:cNvSpPr>
          <p:nvPr>
            <p:ph type="body" idx="1"/>
          </p:nvPr>
        </p:nvSpPr>
        <p:spPr>
          <a:xfrm>
            <a:off x="4504190" y="258007"/>
            <a:ext cx="6440275" cy="5530652"/>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a:p>
        </p:txBody>
      </p:sp>
      <p:sp>
        <p:nvSpPr>
          <p:cNvPr id="88" name="文本占位符 3"/>
          <p:cNvSpPr>
            <a:spLocks noGrp="1"/>
          </p:cNvSpPr>
          <p:nvPr>
            <p:ph type="body" sz="half" idx="13"/>
          </p:nvPr>
        </p:nvSpPr>
        <p:spPr>
          <a:xfrm>
            <a:off x="576026" y="1356037"/>
            <a:ext cx="3790161" cy="4432622"/>
          </a:xfrm>
          <a:prstGeom prst="rect">
            <a:avLst/>
          </a:prstGeom>
        </p:spPr>
        <p:txBody>
          <a:bodyPr/>
          <a:lstStyle/>
          <a:p>
            <a:pPr marL="0" lvl="0" indent="0">
              <a:spcBef>
                <a:spcPts val="300"/>
              </a:spcBef>
              <a:buSzTx/>
              <a:buFontTx/>
              <a:buNone/>
              <a:defRPr sz="1400"/>
            </a:pPr>
            <a:r>
              <a:rPr lang="zh-CN" altLang="en-US"/>
              <a:t>单击此处编辑母版文本样式</a:t>
            </a:r>
          </a:p>
        </p:txBody>
      </p:sp>
      <p:sp>
        <p:nvSpPr>
          <p:cNvPr id="89" name="幻灯片编号"/>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x">
  <p:cSld name="图片与标题">
    <p:spTree>
      <p:nvGrpSpPr>
        <p:cNvPr id="1" name=""/>
        <p:cNvGrpSpPr/>
        <p:nvPr/>
      </p:nvGrpSpPr>
      <p:grpSpPr>
        <a:xfrm>
          <a:off x="0" y="0"/>
          <a:ext cx="0" cy="0"/>
          <a:chOff x="0" y="0"/>
          <a:chExt cx="0" cy="0"/>
        </a:xfrm>
      </p:grpSpPr>
      <p:sp>
        <p:nvSpPr>
          <p:cNvPr id="96" name="标题文本"/>
          <p:cNvSpPr txBox="1">
            <a:spLocks noGrp="1"/>
          </p:cNvSpPr>
          <p:nvPr>
            <p:ph type="title"/>
          </p:nvPr>
        </p:nvSpPr>
        <p:spPr>
          <a:xfrm>
            <a:off x="2258096" y="4536121"/>
            <a:ext cx="6912293" cy="535517"/>
          </a:xfrm>
          <a:prstGeom prst="rect">
            <a:avLst/>
          </a:prstGeom>
        </p:spPr>
        <p:txBody>
          <a:bodyPr anchor="b"/>
          <a:lstStyle>
            <a:lvl1pPr algn="l">
              <a:defRPr sz="2000" b="1"/>
            </a:lvl1pPr>
          </a:lstStyle>
          <a:p>
            <a:r>
              <a:rPr lang="zh-CN" altLang="en-US"/>
              <a:t>单击此处编辑母版标题样式</a:t>
            </a:r>
            <a:endParaRPr/>
          </a:p>
        </p:txBody>
      </p:sp>
      <p:sp>
        <p:nvSpPr>
          <p:cNvPr id="97" name="图片占位符 2"/>
          <p:cNvSpPr>
            <a:spLocks noGrp="1"/>
          </p:cNvSpPr>
          <p:nvPr>
            <p:ph type="pic" sz="half" idx="13"/>
          </p:nvPr>
        </p:nvSpPr>
        <p:spPr>
          <a:xfrm>
            <a:off x="2258096" y="579014"/>
            <a:ext cx="6912293" cy="3888106"/>
          </a:xfrm>
          <a:prstGeom prst="rect">
            <a:avLst/>
          </a:prstGeom>
        </p:spPr>
        <p:txBody>
          <a:bodyPr lIns="91439" rIns="91439">
            <a:noAutofit/>
          </a:bodyPr>
          <a:lstStyle/>
          <a:p>
            <a:r>
              <a:rPr lang="zh-CN" altLang="en-US"/>
              <a:t>单击图标添加图片</a:t>
            </a:r>
            <a:endParaRPr/>
          </a:p>
        </p:txBody>
      </p:sp>
      <p:sp>
        <p:nvSpPr>
          <p:cNvPr id="98" name="正文级别 1…"/>
          <p:cNvSpPr txBox="1">
            <a:spLocks noGrp="1"/>
          </p:cNvSpPr>
          <p:nvPr>
            <p:ph type="body" sz="quarter" idx="1"/>
          </p:nvPr>
        </p:nvSpPr>
        <p:spPr>
          <a:xfrm>
            <a:off x="2258096" y="5071636"/>
            <a:ext cx="6912293" cy="760522"/>
          </a:xfrm>
          <a:prstGeom prst="rect">
            <a:avLst/>
          </a:prstGeom>
        </p:spPr>
        <p:txBody>
          <a:bodyPr/>
          <a:lstStyle>
            <a:lvl1pPr marL="0" indent="0">
              <a:spcBef>
                <a:spcPts val="300"/>
              </a:spcBef>
              <a:buSzTx/>
              <a:buFontTx/>
              <a:buNone/>
              <a:defRPr sz="1400"/>
            </a:lvl1pPr>
            <a:lvl2pPr marL="0" indent="457200">
              <a:spcBef>
                <a:spcPts val="300"/>
              </a:spcBef>
              <a:buSzTx/>
              <a:buFontTx/>
              <a:buNone/>
              <a:defRPr sz="1400"/>
            </a:lvl2pPr>
            <a:lvl3pPr marL="0" indent="914400">
              <a:spcBef>
                <a:spcPts val="300"/>
              </a:spcBef>
              <a:buSzTx/>
              <a:buFontTx/>
              <a:buNone/>
              <a:defRPr sz="1400"/>
            </a:lvl3pPr>
            <a:lvl4pPr marL="0" indent="1371600">
              <a:spcBef>
                <a:spcPts val="300"/>
              </a:spcBef>
              <a:buSzTx/>
              <a:buFontTx/>
              <a:buNone/>
              <a:defRPr sz="1400"/>
            </a:lvl4pPr>
            <a:lvl5pPr marL="0" indent="1828800">
              <a:spcBef>
                <a:spcPts val="300"/>
              </a:spcBef>
              <a:buSzTx/>
              <a:buFontTx/>
              <a:buNone/>
              <a:defRPr sz="140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a:p>
        </p:txBody>
      </p:sp>
      <p:sp>
        <p:nvSpPr>
          <p:cNvPr id="99" name="幻灯片编号"/>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tx">
  <p:cSld name="标题和竖排文本">
    <p:spTree>
      <p:nvGrpSpPr>
        <p:cNvPr id="1" name=""/>
        <p:cNvGrpSpPr/>
        <p:nvPr/>
      </p:nvGrpSpPr>
      <p:grpSpPr>
        <a:xfrm>
          <a:off x="0" y="0"/>
          <a:ext cx="0" cy="0"/>
          <a:chOff x="0" y="0"/>
          <a:chExt cx="0" cy="0"/>
        </a:xfrm>
      </p:grpSpPr>
      <p:sp>
        <p:nvSpPr>
          <p:cNvPr id="106" name="标题文本"/>
          <p:cNvSpPr txBox="1">
            <a:spLocks noGrp="1"/>
          </p:cNvSpPr>
          <p:nvPr>
            <p:ph type="title"/>
          </p:nvPr>
        </p:nvSpPr>
        <p:spPr>
          <a:prstGeom prst="rect">
            <a:avLst/>
          </a:prstGeom>
        </p:spPr>
        <p:txBody>
          <a:bodyPr/>
          <a:lstStyle/>
          <a:p>
            <a:r>
              <a:rPr lang="zh-CN" altLang="en-US"/>
              <a:t>单击此处编辑母版标题样式</a:t>
            </a:r>
            <a:endParaRPr/>
          </a:p>
        </p:txBody>
      </p:sp>
      <p:sp>
        <p:nvSpPr>
          <p:cNvPr id="107" name="正文级别 1…"/>
          <p:cNvSpPr txBox="1">
            <a:spLocks noGrp="1"/>
          </p:cNvSpPr>
          <p:nvPr>
            <p:ph type="body" idx="1"/>
          </p:nvPr>
        </p:nvSpPr>
        <p:spPr>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a:p>
        </p:txBody>
      </p:sp>
      <p:sp>
        <p:nvSpPr>
          <p:cNvPr id="108" name="幻灯片编号"/>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tx">
  <p:cSld name="竖排标题和文本">
    <p:spTree>
      <p:nvGrpSpPr>
        <p:cNvPr id="1" name=""/>
        <p:cNvGrpSpPr/>
        <p:nvPr/>
      </p:nvGrpSpPr>
      <p:grpSpPr>
        <a:xfrm>
          <a:off x="0" y="0"/>
          <a:ext cx="0" cy="0"/>
          <a:chOff x="0" y="0"/>
          <a:chExt cx="0" cy="0"/>
        </a:xfrm>
      </p:grpSpPr>
      <p:sp>
        <p:nvSpPr>
          <p:cNvPr id="115" name="标题文本"/>
          <p:cNvSpPr txBox="1">
            <a:spLocks noGrp="1"/>
          </p:cNvSpPr>
          <p:nvPr>
            <p:ph type="title"/>
          </p:nvPr>
        </p:nvSpPr>
        <p:spPr>
          <a:xfrm>
            <a:off x="8352353" y="195005"/>
            <a:ext cx="2592111" cy="4146113"/>
          </a:xfrm>
          <a:prstGeom prst="rect">
            <a:avLst/>
          </a:prstGeom>
        </p:spPr>
        <p:txBody>
          <a:bodyPr/>
          <a:lstStyle/>
          <a:p>
            <a:r>
              <a:rPr lang="zh-CN" altLang="en-US"/>
              <a:t>单击此处编辑母版标题样式</a:t>
            </a:r>
            <a:endParaRPr/>
          </a:p>
        </p:txBody>
      </p:sp>
      <p:sp>
        <p:nvSpPr>
          <p:cNvPr id="116" name="正文级别 1…"/>
          <p:cNvSpPr txBox="1">
            <a:spLocks noGrp="1"/>
          </p:cNvSpPr>
          <p:nvPr>
            <p:ph type="body" idx="1"/>
          </p:nvPr>
        </p:nvSpPr>
        <p:spPr>
          <a:xfrm>
            <a:off x="576025" y="195005"/>
            <a:ext cx="7584321" cy="414611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a:p>
        </p:txBody>
      </p:sp>
      <p:sp>
        <p:nvSpPr>
          <p:cNvPr id="117" name="幻灯片编号"/>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tx">
  <p:cSld name="只有标题">
    <p:spTree>
      <p:nvGrpSpPr>
        <p:cNvPr id="1" name=""/>
        <p:cNvGrpSpPr/>
        <p:nvPr/>
      </p:nvGrpSpPr>
      <p:grpSpPr>
        <a:xfrm>
          <a:off x="0" y="0"/>
          <a:ext cx="0" cy="0"/>
          <a:chOff x="0" y="0"/>
          <a:chExt cx="0" cy="0"/>
        </a:xfrm>
      </p:grpSpPr>
      <p:sp>
        <p:nvSpPr>
          <p:cNvPr id="124" name="矩形 4"/>
          <p:cNvSpPr/>
          <p:nvPr/>
        </p:nvSpPr>
        <p:spPr>
          <a:xfrm>
            <a:off x="418582" y="0"/>
            <a:ext cx="167206" cy="654019"/>
          </a:xfrm>
          <a:prstGeom prst="rect">
            <a:avLst/>
          </a:prstGeom>
          <a:solidFill>
            <a:srgbClr val="FF5D0B"/>
          </a:solidFill>
          <a:ln w="12700">
            <a:miter lim="400000"/>
          </a:ln>
        </p:spPr>
        <p:txBody>
          <a:bodyPr lIns="45719" rIns="45719" anchor="ctr"/>
          <a:lstStyle/>
          <a:p>
            <a:pPr algn="ctr">
              <a:defRPr sz="2100">
                <a:solidFill>
                  <a:srgbClr val="FFFFFF"/>
                </a:solidFill>
              </a:defRPr>
            </a:pPr>
            <a:endParaRPr/>
          </a:p>
        </p:txBody>
      </p:sp>
      <p:pic>
        <p:nvPicPr>
          <p:cNvPr id="125" name="图片 5" descr="图片 5"/>
          <p:cNvPicPr>
            <a:picLocks noChangeAspect="1"/>
          </p:cNvPicPr>
          <p:nvPr/>
        </p:nvPicPr>
        <p:blipFill>
          <a:blip r:embed="rId2">
            <a:extLst/>
          </a:blip>
          <a:stretch>
            <a:fillRect/>
          </a:stretch>
        </p:blipFill>
        <p:spPr>
          <a:xfrm>
            <a:off x="8031666" y="261531"/>
            <a:ext cx="3072131" cy="293981"/>
          </a:xfrm>
          <a:prstGeom prst="rect">
            <a:avLst/>
          </a:prstGeom>
          <a:ln w="12700">
            <a:miter lim="400000"/>
          </a:ln>
        </p:spPr>
      </p:pic>
      <p:sp>
        <p:nvSpPr>
          <p:cNvPr id="126" name="正文级别 1…"/>
          <p:cNvSpPr txBox="1">
            <a:spLocks noGrp="1"/>
          </p:cNvSpPr>
          <p:nvPr>
            <p:ph type="body" sz="quarter" idx="1"/>
          </p:nvPr>
        </p:nvSpPr>
        <p:spPr>
          <a:xfrm>
            <a:off x="4260839" y="712595"/>
            <a:ext cx="2998809" cy="342986"/>
          </a:xfrm>
          <a:prstGeom prst="rect">
            <a:avLst/>
          </a:prstGeom>
        </p:spPr>
        <p:txBody>
          <a:bodyPr/>
          <a:lstStyle>
            <a:lvl1pPr marL="0" indent="0" algn="ctr" defTabSz="864017">
              <a:lnSpc>
                <a:spcPct val="90000"/>
              </a:lnSpc>
              <a:spcBef>
                <a:spcPts val="900"/>
              </a:spcBef>
              <a:buSzTx/>
              <a:buFontTx/>
              <a:buNone/>
              <a:defRPr sz="2200">
                <a:solidFill>
                  <a:srgbClr val="595959"/>
                </a:solidFill>
                <a:latin typeface="Microsoft YaHei"/>
                <a:ea typeface="Microsoft YaHei"/>
                <a:cs typeface="Microsoft YaHei"/>
                <a:sym typeface="Microsoft YaHei"/>
              </a:defRPr>
            </a:lvl1pPr>
            <a:lvl2pPr marL="681717" indent="-224517" algn="ctr" defTabSz="864017">
              <a:lnSpc>
                <a:spcPct val="90000"/>
              </a:lnSpc>
              <a:spcBef>
                <a:spcPts val="900"/>
              </a:spcBef>
              <a:buFontTx/>
              <a:defRPr sz="2200">
                <a:solidFill>
                  <a:srgbClr val="595959"/>
                </a:solidFill>
                <a:latin typeface="Microsoft YaHei"/>
                <a:ea typeface="Microsoft YaHei"/>
                <a:cs typeface="Microsoft YaHei"/>
                <a:sym typeface="Microsoft YaHei"/>
              </a:defRPr>
            </a:lvl2pPr>
            <a:lvl3pPr marL="1123950" indent="-209550" algn="ctr" defTabSz="864017">
              <a:lnSpc>
                <a:spcPct val="90000"/>
              </a:lnSpc>
              <a:spcBef>
                <a:spcPts val="900"/>
              </a:spcBef>
              <a:buFontTx/>
              <a:defRPr sz="2200">
                <a:solidFill>
                  <a:srgbClr val="595959"/>
                </a:solidFill>
                <a:latin typeface="Microsoft YaHei"/>
                <a:ea typeface="Microsoft YaHei"/>
                <a:cs typeface="Microsoft YaHei"/>
                <a:sym typeface="Microsoft YaHei"/>
              </a:defRPr>
            </a:lvl3pPr>
            <a:lvl4pPr marL="1623060" indent="-251460" algn="ctr" defTabSz="864017">
              <a:lnSpc>
                <a:spcPct val="90000"/>
              </a:lnSpc>
              <a:spcBef>
                <a:spcPts val="900"/>
              </a:spcBef>
              <a:buFontTx/>
              <a:defRPr sz="2200">
                <a:solidFill>
                  <a:srgbClr val="595959"/>
                </a:solidFill>
                <a:latin typeface="Microsoft YaHei"/>
                <a:ea typeface="Microsoft YaHei"/>
                <a:cs typeface="Microsoft YaHei"/>
                <a:sym typeface="Microsoft YaHei"/>
              </a:defRPr>
            </a:lvl4pPr>
            <a:lvl5pPr marL="2080260" indent="-251460" algn="ctr" defTabSz="864017">
              <a:lnSpc>
                <a:spcPct val="90000"/>
              </a:lnSpc>
              <a:spcBef>
                <a:spcPts val="900"/>
              </a:spcBef>
              <a:buFontTx/>
              <a:defRPr sz="2200">
                <a:solidFill>
                  <a:srgbClr val="595959"/>
                </a:solidFill>
                <a:latin typeface="Microsoft YaHei"/>
                <a:ea typeface="Microsoft YaHei"/>
                <a:cs typeface="Microsoft YaHei"/>
                <a:sym typeface="Microsoft YaHei"/>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a:p>
        </p:txBody>
      </p:sp>
      <p:sp>
        <p:nvSpPr>
          <p:cNvPr id="127" name="标题文本"/>
          <p:cNvSpPr txBox="1">
            <a:spLocks noGrp="1"/>
          </p:cNvSpPr>
          <p:nvPr>
            <p:ph type="title"/>
          </p:nvPr>
        </p:nvSpPr>
        <p:spPr>
          <a:xfrm>
            <a:off x="792034" y="206813"/>
            <a:ext cx="3278307" cy="447206"/>
          </a:xfrm>
          <a:prstGeom prst="rect">
            <a:avLst/>
          </a:prstGeom>
        </p:spPr>
        <p:txBody>
          <a:bodyPr/>
          <a:lstStyle>
            <a:lvl1pPr>
              <a:defRPr sz="2600">
                <a:latin typeface="Microsoft YaHei"/>
                <a:ea typeface="Microsoft YaHei"/>
                <a:cs typeface="Microsoft YaHei"/>
                <a:sym typeface="Microsoft YaHei"/>
              </a:defRPr>
            </a:lvl1pPr>
          </a:lstStyle>
          <a:p>
            <a:r>
              <a:rPr lang="zh-CN" altLang="en-US"/>
              <a:t>单击此处编辑母版标题样式</a:t>
            </a:r>
            <a:endParaRPr/>
          </a:p>
        </p:txBody>
      </p:sp>
      <p:sp>
        <p:nvSpPr>
          <p:cNvPr id="128" name="文本占位符 39"/>
          <p:cNvSpPr>
            <a:spLocks noGrp="1"/>
          </p:cNvSpPr>
          <p:nvPr>
            <p:ph type="body" sz="quarter" idx="13"/>
          </p:nvPr>
        </p:nvSpPr>
        <p:spPr>
          <a:xfrm>
            <a:off x="792034" y="712595"/>
            <a:ext cx="2931125" cy="342986"/>
          </a:xfrm>
          <a:prstGeom prst="rect">
            <a:avLst/>
          </a:prstGeom>
        </p:spPr>
        <p:txBody>
          <a:bodyPr/>
          <a:lstStyle/>
          <a:p>
            <a:pPr marL="0" lvl="0" indent="0">
              <a:spcBef>
                <a:spcPts val="500"/>
              </a:spcBef>
              <a:buSzTx/>
              <a:buFontTx/>
              <a:buNone/>
              <a:defRPr sz="2200">
                <a:solidFill>
                  <a:srgbClr val="595959"/>
                </a:solidFill>
                <a:latin typeface="Microsoft YaHei"/>
                <a:ea typeface="Microsoft YaHei"/>
                <a:cs typeface="Microsoft YaHei"/>
                <a:sym typeface="Microsoft YaHei"/>
              </a:defRPr>
            </a:pPr>
            <a:r>
              <a:rPr lang="zh-CN" altLang="en-US"/>
              <a:t>单击此处编辑母版文本样式</a:t>
            </a:r>
          </a:p>
        </p:txBody>
      </p:sp>
      <p:sp>
        <p:nvSpPr>
          <p:cNvPr id="129" name="幻灯片编号"/>
          <p:cNvSpPr txBox="1">
            <a:spLocks noGrp="1"/>
          </p:cNvSpPr>
          <p:nvPr>
            <p:ph type="sldNum" sz="quarter" idx="2"/>
          </p:nvPr>
        </p:nvSpPr>
        <p:spPr>
          <a:xfrm>
            <a:off x="10464473" y="6044047"/>
            <a:ext cx="263983" cy="269241"/>
          </a:xfrm>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标题文本"/>
          <p:cNvSpPr txBox="1">
            <a:spLocks noGrp="1"/>
          </p:cNvSpPr>
          <p:nvPr>
            <p:ph type="title"/>
          </p:nvPr>
        </p:nvSpPr>
        <p:spPr>
          <a:xfrm>
            <a:off x="576025" y="259507"/>
            <a:ext cx="10368440" cy="1080031"/>
          </a:xfrm>
          <a:prstGeom prst="rect">
            <a:avLst/>
          </a:prstGeom>
          <a:ln w="12700">
            <a:miter lim="400000"/>
          </a:ln>
          <a:extLst>
            <a:ext uri="{C572A759-6A51-4108-AA02-DFA0A04FC94B}">
              <ma14:wrappingTextBoxFlag xmlns:ma14="http://schemas.microsoft.com/office/mac/drawingml/2011/main" xmlns="" val="1"/>
            </a:ext>
          </a:extLst>
        </p:spPr>
        <p:txBody>
          <a:bodyPr lIns="45719" rIns="45719" anchor="ctr">
            <a:normAutofit/>
          </a:bodyPr>
          <a:lstStyle/>
          <a:p>
            <a:r>
              <a:t>标题文本</a:t>
            </a:r>
          </a:p>
        </p:txBody>
      </p:sp>
      <p:sp>
        <p:nvSpPr>
          <p:cNvPr id="3" name="正文级别 1…"/>
          <p:cNvSpPr txBox="1">
            <a:spLocks noGrp="1"/>
          </p:cNvSpPr>
          <p:nvPr>
            <p:ph type="body" idx="1"/>
          </p:nvPr>
        </p:nvSpPr>
        <p:spPr>
          <a:xfrm>
            <a:off x="576025" y="1512042"/>
            <a:ext cx="10368440" cy="4276617"/>
          </a:xfrm>
          <a:prstGeom prst="rect">
            <a:avLst/>
          </a:prstGeom>
          <a:ln w="12700">
            <a:miter lim="400000"/>
          </a:ln>
          <a:extLst>
            <a:ext uri="{C572A759-6A51-4108-AA02-DFA0A04FC94B}">
              <ma14:wrappingTextBoxFlag xmlns:ma14="http://schemas.microsoft.com/office/mac/drawingml/2011/main" xmlns="" val="1"/>
            </a:ext>
          </a:extLst>
        </p:spPr>
        <p:txBody>
          <a:bodyPr lIns="45719" rIns="45719">
            <a:normAutofit/>
          </a:bodyPr>
          <a:lstStyle/>
          <a:p>
            <a:r>
              <a:t>正文级别 1</a:t>
            </a:r>
          </a:p>
          <a:p>
            <a:pPr lvl="1"/>
            <a:r>
              <a:t>正文级别 2</a:t>
            </a:r>
          </a:p>
          <a:p>
            <a:pPr lvl="2"/>
            <a:r>
              <a:t>正文级别 3</a:t>
            </a:r>
          </a:p>
          <a:p>
            <a:pPr lvl="3"/>
            <a:r>
              <a:t>正文级别 4</a:t>
            </a:r>
          </a:p>
          <a:p>
            <a:pPr lvl="4"/>
            <a:r>
              <a:t>正文级别 5</a:t>
            </a:r>
          </a:p>
        </p:txBody>
      </p:sp>
      <p:pic>
        <p:nvPicPr>
          <p:cNvPr id="4" name="图片 6" descr="图片 6"/>
          <p:cNvPicPr>
            <a:picLocks noChangeAspect="1"/>
          </p:cNvPicPr>
          <p:nvPr/>
        </p:nvPicPr>
        <p:blipFill>
          <a:blip r:embed="rId13">
            <a:extLst/>
          </a:blip>
          <a:stretch>
            <a:fillRect/>
          </a:stretch>
        </p:blipFill>
        <p:spPr>
          <a:xfrm>
            <a:off x="0" y="1"/>
            <a:ext cx="11520489" cy="6479414"/>
          </a:xfrm>
          <a:prstGeom prst="rect">
            <a:avLst/>
          </a:prstGeom>
          <a:ln w="12700">
            <a:miter lim="400000"/>
          </a:ln>
        </p:spPr>
      </p:pic>
      <p:sp>
        <p:nvSpPr>
          <p:cNvPr id="5" name="幻灯片编号"/>
          <p:cNvSpPr txBox="1">
            <a:spLocks noGrp="1"/>
          </p:cNvSpPr>
          <p:nvPr>
            <p:ph type="sldNum" sz="quarter" idx="2"/>
          </p:nvPr>
        </p:nvSpPr>
        <p:spPr>
          <a:xfrm>
            <a:off x="10680483" y="6044047"/>
            <a:ext cx="263982" cy="269241"/>
          </a:xfrm>
          <a:prstGeom prst="rect">
            <a:avLst/>
          </a:prstGeom>
          <a:ln w="12700">
            <a:miter lim="400000"/>
          </a:ln>
        </p:spPr>
        <p:txBody>
          <a:bodyPr wrap="none" lIns="45719" rIns="45719" anchor="ctr">
            <a:spAutoFit/>
          </a:bodyPr>
          <a:lstStyle>
            <a:lvl1pPr algn="r">
              <a:defRPr sz="1200">
                <a:solidFill>
                  <a:srgbClr val="888888"/>
                </a:solidFill>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1" r:id="rId2"/>
    <p:sldLayoutId id="2147483652"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transition spd="med"/>
  <p:txStyles>
    <p:titleStyle>
      <a:lvl1pPr marL="0" marR="0" indent="0" algn="ctr" defTabSz="457200" rtl="0" eaLnBrk="1" latinLnBrk="0" hangingPunct="1">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Calibri"/>
          <a:ea typeface="Calibri"/>
          <a:cs typeface="Calibri"/>
          <a:sym typeface="Calibri"/>
        </a:defRPr>
      </a:lvl1pPr>
      <a:lvl2pPr marL="0" marR="0" indent="0" algn="ctr" defTabSz="457200" rtl="0" eaLnBrk="1" latinLnBrk="0" hangingPunct="1">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Calibri"/>
          <a:ea typeface="Calibri"/>
          <a:cs typeface="Calibri"/>
          <a:sym typeface="Calibri"/>
        </a:defRPr>
      </a:lvl2pPr>
      <a:lvl3pPr marL="0" marR="0" indent="0" algn="ctr" defTabSz="457200" rtl="0" eaLnBrk="1" latinLnBrk="0" hangingPunct="1">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Calibri"/>
          <a:ea typeface="Calibri"/>
          <a:cs typeface="Calibri"/>
          <a:sym typeface="Calibri"/>
        </a:defRPr>
      </a:lvl3pPr>
      <a:lvl4pPr marL="0" marR="0" indent="0" algn="ctr" defTabSz="457200" rtl="0" eaLnBrk="1" latinLnBrk="0" hangingPunct="1">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Calibri"/>
          <a:ea typeface="Calibri"/>
          <a:cs typeface="Calibri"/>
          <a:sym typeface="Calibri"/>
        </a:defRPr>
      </a:lvl4pPr>
      <a:lvl5pPr marL="0" marR="0" indent="0" algn="ctr" defTabSz="457200" rtl="0" eaLnBrk="1" latinLnBrk="0" hangingPunct="1">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Calibri"/>
          <a:ea typeface="Calibri"/>
          <a:cs typeface="Calibri"/>
          <a:sym typeface="Calibri"/>
        </a:defRPr>
      </a:lvl5pPr>
      <a:lvl6pPr marL="0" marR="0" indent="0" algn="ctr" defTabSz="457200" rtl="0" eaLnBrk="1" latinLnBrk="0" hangingPunct="1">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Calibri"/>
          <a:ea typeface="Calibri"/>
          <a:cs typeface="Calibri"/>
          <a:sym typeface="Calibri"/>
        </a:defRPr>
      </a:lvl6pPr>
      <a:lvl7pPr marL="0" marR="0" indent="0" algn="ctr" defTabSz="457200" rtl="0" eaLnBrk="1" latinLnBrk="0" hangingPunct="1">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Calibri"/>
          <a:ea typeface="Calibri"/>
          <a:cs typeface="Calibri"/>
          <a:sym typeface="Calibri"/>
        </a:defRPr>
      </a:lvl7pPr>
      <a:lvl8pPr marL="0" marR="0" indent="0" algn="ctr" defTabSz="457200" rtl="0" eaLnBrk="1" latinLnBrk="0" hangingPunct="1">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Calibri"/>
          <a:ea typeface="Calibri"/>
          <a:cs typeface="Calibri"/>
          <a:sym typeface="Calibri"/>
        </a:defRPr>
      </a:lvl8pPr>
      <a:lvl9pPr marL="0" marR="0" indent="0" algn="ctr" defTabSz="457200" rtl="0" eaLnBrk="1" latinLnBrk="0" hangingPunct="1">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Calibri"/>
          <a:ea typeface="Calibri"/>
          <a:cs typeface="Calibri"/>
          <a:sym typeface="Calibri"/>
        </a:defRPr>
      </a:lvl9pPr>
    </p:titleStyle>
    <p:bodyStyle>
      <a:lvl1pPr marL="342900" marR="0" indent="-342900" algn="l" defTabSz="457200" rtl="0" eaLnBrk="1" latinLnBrk="0" hangingPunct="1">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Calibri"/>
          <a:ea typeface="Calibri"/>
          <a:cs typeface="Calibri"/>
          <a:sym typeface="Calibri"/>
        </a:defRPr>
      </a:lvl1pPr>
      <a:lvl2pPr marL="783771" marR="0" indent="-326571" algn="l" defTabSz="457200" rtl="0" eaLnBrk="1" latinLnBrk="0" hangingPunct="1">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Calibri"/>
          <a:ea typeface="Calibri"/>
          <a:cs typeface="Calibri"/>
          <a:sym typeface="Calibri"/>
        </a:defRPr>
      </a:lvl2pPr>
      <a:lvl3pPr marL="1219200" marR="0" indent="-304800" algn="l" defTabSz="457200" rtl="0" eaLnBrk="1" latinLnBrk="0" hangingPunct="1">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Calibri"/>
          <a:ea typeface="Calibri"/>
          <a:cs typeface="Calibri"/>
          <a:sym typeface="Calibri"/>
        </a:defRPr>
      </a:lvl3pPr>
      <a:lvl4pPr marL="1737360" marR="0" indent="-365760" algn="l" defTabSz="457200" rtl="0" eaLnBrk="1" latinLnBrk="0" hangingPunct="1">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Calibri"/>
          <a:ea typeface="Calibri"/>
          <a:cs typeface="Calibri"/>
          <a:sym typeface="Calibri"/>
        </a:defRPr>
      </a:lvl4pPr>
      <a:lvl5pPr marL="2194560" marR="0" indent="-365760" algn="l" defTabSz="457200" rtl="0" eaLnBrk="1" latinLnBrk="0" hangingPunct="1">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Calibri"/>
          <a:ea typeface="Calibri"/>
          <a:cs typeface="Calibri"/>
          <a:sym typeface="Calibri"/>
        </a:defRPr>
      </a:lvl5pPr>
      <a:lvl6pPr marL="2651760" marR="0" indent="-365760" algn="l" defTabSz="457200" rtl="0" eaLnBrk="1" latinLnBrk="0" hangingPunct="1">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Calibri"/>
          <a:ea typeface="Calibri"/>
          <a:cs typeface="Calibri"/>
          <a:sym typeface="Calibri"/>
        </a:defRPr>
      </a:lvl6pPr>
      <a:lvl7pPr marL="3108960" marR="0" indent="-365760" algn="l" defTabSz="457200" rtl="0" eaLnBrk="1" latinLnBrk="0" hangingPunct="1">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Calibri"/>
          <a:ea typeface="Calibri"/>
          <a:cs typeface="Calibri"/>
          <a:sym typeface="Calibri"/>
        </a:defRPr>
      </a:lvl7pPr>
      <a:lvl8pPr marL="3566159" marR="0" indent="-365759" algn="l" defTabSz="457200" rtl="0" eaLnBrk="1" latinLnBrk="0" hangingPunct="1">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Calibri"/>
          <a:ea typeface="Calibri"/>
          <a:cs typeface="Calibri"/>
          <a:sym typeface="Calibri"/>
        </a:defRPr>
      </a:lvl8pPr>
      <a:lvl9pPr marL="4023359" marR="0" indent="-365759" algn="l" defTabSz="457200" rtl="0" eaLnBrk="1" latinLnBrk="0" hangingPunct="1">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Calibri"/>
          <a:ea typeface="Calibri"/>
          <a:cs typeface="Calibri"/>
          <a:sym typeface="Calibri"/>
        </a:defRPr>
      </a:lvl9pPr>
    </p:bodyStyle>
    <p:otherStyle>
      <a:lvl1pPr marL="0" marR="0" indent="0" algn="r" defTabSz="575980" rtl="0" eaLnBrk="1" latinLnBrk="0" hangingPunct="1">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1pPr>
      <a:lvl2pPr marL="0" marR="0" indent="575980" algn="r" defTabSz="575980" rtl="0" eaLnBrk="1" latinLnBrk="0" hangingPunct="1">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2pPr>
      <a:lvl3pPr marL="0" marR="0" indent="1151960" algn="r" defTabSz="575980" rtl="0" eaLnBrk="1" latinLnBrk="0" hangingPunct="1">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3pPr>
      <a:lvl4pPr marL="0" marR="0" indent="1727942" algn="r" defTabSz="575980" rtl="0" eaLnBrk="1" latinLnBrk="0" hangingPunct="1">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4pPr>
      <a:lvl5pPr marL="0" marR="0" indent="2303921" algn="r" defTabSz="575980" rtl="0" eaLnBrk="1" latinLnBrk="0" hangingPunct="1">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5pPr>
      <a:lvl6pPr marL="0" marR="0" indent="2879903" algn="r" defTabSz="575980" rtl="0" eaLnBrk="1" latinLnBrk="0" hangingPunct="1">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6pPr>
      <a:lvl7pPr marL="0" marR="0" indent="3455882" algn="r" defTabSz="575980" rtl="0" eaLnBrk="1" latinLnBrk="0" hangingPunct="1">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7pPr>
      <a:lvl8pPr marL="0" marR="0" indent="4031863" algn="r" defTabSz="575980" rtl="0" eaLnBrk="1" latinLnBrk="0" hangingPunct="1">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8pPr>
      <a:lvl9pPr marL="0" marR="0" indent="4607843" algn="r" defTabSz="575980" rtl="0" eaLnBrk="1" latinLnBrk="0" hangingPunct="1">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Layout" Target="../slideLayouts/slideLayout1.xml"/><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 name="流程图: 手动输入 4"/>
          <p:cNvSpPr/>
          <p:nvPr/>
        </p:nvSpPr>
        <p:spPr>
          <a:xfrm rot="16200000" flipH="1">
            <a:off x="4358349" y="-681962"/>
            <a:ext cx="6480178" cy="7844102"/>
          </a:xfrm>
          <a:custGeom>
            <a:avLst/>
            <a:gdLst/>
            <a:ahLst/>
            <a:cxnLst>
              <a:cxn ang="0">
                <a:pos x="wd2" y="hd2"/>
              </a:cxn>
              <a:cxn ang="5400000">
                <a:pos x="wd2" y="hd2"/>
              </a:cxn>
              <a:cxn ang="10800000">
                <a:pos x="wd2" y="hd2"/>
              </a:cxn>
              <a:cxn ang="16200000">
                <a:pos x="wd2" y="hd2"/>
              </a:cxn>
            </a:cxnLst>
            <a:rect l="0" t="0" r="r" b="b"/>
            <a:pathLst>
              <a:path w="21600" h="21600" extrusionOk="0">
                <a:moveTo>
                  <a:pt x="0" y="4320"/>
                </a:moveTo>
                <a:lnTo>
                  <a:pt x="21600" y="0"/>
                </a:lnTo>
                <a:lnTo>
                  <a:pt x="21600" y="21600"/>
                </a:lnTo>
                <a:lnTo>
                  <a:pt x="0" y="21600"/>
                </a:lnTo>
                <a:close/>
              </a:path>
            </a:pathLst>
          </a:custGeom>
          <a:solidFill>
            <a:srgbClr val="FFFFFF"/>
          </a:solidFill>
          <a:ln w="12700">
            <a:miter lim="400000"/>
          </a:ln>
          <a:effectLst>
            <a:outerShdw blurRad="38100" dist="23000" dir="5400000" rotWithShape="0">
              <a:srgbClr val="000000">
                <a:alpha val="35000"/>
              </a:srgbClr>
            </a:outerShdw>
          </a:effectLst>
        </p:spPr>
        <p:txBody>
          <a:bodyPr lIns="45719" rIns="45719" anchor="ctr"/>
          <a:lstStyle/>
          <a:p>
            <a:pPr algn="ctr">
              <a:defRPr>
                <a:solidFill>
                  <a:srgbClr val="FFFFFF"/>
                </a:solidFill>
              </a:defRPr>
            </a:pPr>
            <a:endParaRPr/>
          </a:p>
        </p:txBody>
      </p:sp>
      <p:pic>
        <p:nvPicPr>
          <p:cNvPr id="139" name="图片 5" descr="图片 5"/>
          <p:cNvPicPr>
            <a:picLocks noChangeAspect="1"/>
          </p:cNvPicPr>
          <p:nvPr/>
        </p:nvPicPr>
        <p:blipFill>
          <a:blip r:embed="rId3">
            <a:extLst/>
          </a:blip>
          <a:stretch>
            <a:fillRect/>
          </a:stretch>
        </p:blipFill>
        <p:spPr>
          <a:xfrm>
            <a:off x="-101600" y="-1851"/>
            <a:ext cx="11520489" cy="6541660"/>
          </a:xfrm>
          <a:prstGeom prst="rect">
            <a:avLst/>
          </a:prstGeom>
          <a:ln w="12700">
            <a:miter lim="400000"/>
          </a:ln>
        </p:spPr>
      </p:pic>
      <p:pic>
        <p:nvPicPr>
          <p:cNvPr id="140" name="图片 6" descr="图片 6"/>
          <p:cNvPicPr>
            <a:picLocks noChangeAspect="1"/>
          </p:cNvPicPr>
          <p:nvPr/>
        </p:nvPicPr>
        <p:blipFill>
          <a:blip r:embed="rId4">
            <a:extLst/>
          </a:blip>
          <a:stretch>
            <a:fillRect/>
          </a:stretch>
        </p:blipFill>
        <p:spPr>
          <a:xfrm>
            <a:off x="-138274" y="-29029"/>
            <a:ext cx="11658763" cy="6557282"/>
          </a:xfrm>
          <a:prstGeom prst="rect">
            <a:avLst/>
          </a:prstGeom>
          <a:ln w="12700">
            <a:miter lim="400000"/>
          </a:ln>
        </p:spPr>
      </p:pic>
      <p:pic>
        <p:nvPicPr>
          <p:cNvPr id="143" name="图片 9" descr="图片 9"/>
          <p:cNvPicPr>
            <a:picLocks noChangeAspect="1"/>
          </p:cNvPicPr>
          <p:nvPr/>
        </p:nvPicPr>
        <p:blipFill>
          <a:blip r:embed="rId5">
            <a:extLst/>
          </a:blip>
          <a:stretch>
            <a:fillRect/>
          </a:stretch>
        </p:blipFill>
        <p:spPr>
          <a:xfrm>
            <a:off x="-9856" y="-6999"/>
            <a:ext cx="11508085" cy="6495751"/>
          </a:xfrm>
          <a:prstGeom prst="rect">
            <a:avLst/>
          </a:prstGeom>
          <a:ln w="12700">
            <a:miter lim="400000"/>
          </a:ln>
        </p:spPr>
      </p:pic>
      <p:sp>
        <p:nvSpPr>
          <p:cNvPr id="141" name="文本框 7"/>
          <p:cNvSpPr txBox="1"/>
          <p:nvPr/>
        </p:nvSpPr>
        <p:spPr>
          <a:xfrm>
            <a:off x="5467886" y="2824589"/>
            <a:ext cx="5245986" cy="830997"/>
          </a:xfrm>
          <a:prstGeom prst="rect">
            <a:avLst/>
          </a:prstGeom>
          <a:ln w="12700">
            <a:miter lim="400000"/>
          </a:ln>
          <a:extLst>
            <a:ext uri="{C572A759-6A51-4108-AA02-DFA0A04FC94B}">
              <ma14:wrappingTextBoxFlag xmlns:ma14="http://schemas.microsoft.com/office/mac/drawingml/2011/main" xmlns="" val="1"/>
            </a:ext>
          </a:extLst>
        </p:spPr>
        <p:txBody>
          <a:bodyPr wrap="none" lIns="45719" rIns="45719">
            <a:spAutoFit/>
          </a:bodyPr>
          <a:lstStyle/>
          <a:p>
            <a:pPr algn="r">
              <a:lnSpc>
                <a:spcPct val="120000"/>
              </a:lnSpc>
              <a:defRPr sz="4000" spc="300">
                <a:latin typeface="思源黑体"/>
                <a:ea typeface="思源黑体"/>
                <a:cs typeface="思源黑体"/>
                <a:sym typeface="思源黑体"/>
              </a:defRPr>
            </a:pPr>
            <a:r>
              <a:rPr lang="zh-CN" altLang="en-US" sz="4000" b="1" spc="300" dirty="0" smtClean="0">
                <a:latin typeface="微软雅黑" panose="020B0503020204020204" pitchFamily="34" charset="-122"/>
                <a:ea typeface="微软雅黑" panose="020B0503020204020204" pitchFamily="34" charset="-122"/>
                <a:cs typeface="思源黑体"/>
                <a:sym typeface="思源黑体"/>
              </a:rPr>
              <a:t>碧桂园监控系统运维</a:t>
            </a:r>
            <a:endParaRPr lang="en-US" altLang="zh-CN" sz="4000" b="1" spc="300" dirty="0">
              <a:latin typeface="微软雅黑" panose="020B0503020204020204" pitchFamily="34" charset="-122"/>
              <a:ea typeface="微软雅黑" panose="020B0503020204020204" pitchFamily="34" charset="-122"/>
              <a:cs typeface="思源黑体"/>
              <a:sym typeface="思源黑体"/>
            </a:endParaRPr>
          </a:p>
        </p:txBody>
      </p:sp>
      <p:sp>
        <p:nvSpPr>
          <p:cNvPr id="2" name="TextBox 1"/>
          <p:cNvSpPr txBox="1"/>
          <p:nvPr/>
        </p:nvSpPr>
        <p:spPr>
          <a:xfrm>
            <a:off x="4940487" y="6032552"/>
            <a:ext cx="6341922" cy="33855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r" defTabSz="575980" rtl="0" fontAlgn="auto" latinLnBrk="0" hangingPunct="0">
              <a:lnSpc>
                <a:spcPct val="100000"/>
              </a:lnSpc>
              <a:spcBef>
                <a:spcPts val="0"/>
              </a:spcBef>
              <a:spcAft>
                <a:spcPts val="0"/>
              </a:spcAft>
              <a:buClrTx/>
              <a:buSzTx/>
              <a:buFontTx/>
              <a:buNone/>
              <a:tabLst/>
            </a:pPr>
            <a:r>
              <a:rPr kumimoji="0" lang="zh-CN" altLang="en-US" sz="1600" b="0" i="0" u="none" strike="noStrike" cap="none" spc="0" normalizeH="0" baseline="0" dirty="0">
                <a:ln>
                  <a:noFill/>
                </a:ln>
                <a:solidFill>
                  <a:schemeClr val="bg2"/>
                </a:solidFill>
                <a:effectLst/>
                <a:uFillTx/>
                <a:latin typeface="微软雅黑" panose="020B0503020204020204" pitchFamily="34" charset="-122"/>
                <a:ea typeface="微软雅黑" panose="020B0503020204020204" pitchFamily="34" charset="-122"/>
                <a:sym typeface="Calibri"/>
              </a:rPr>
              <a:t>平安科技（深圳）有限公司  版权所有  未经授权不得使用和传播</a:t>
            </a:r>
          </a:p>
        </p:txBody>
      </p:sp>
    </p:spTree>
  </p:cSld>
  <p:clrMapOvr>
    <a:masterClrMapping/>
  </p:clrMapOvr>
  <p:transition spd="med"/>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 name="文本框 3"/>
          <p:cNvSpPr txBox="1"/>
          <p:nvPr/>
        </p:nvSpPr>
        <p:spPr>
          <a:xfrm>
            <a:off x="231708" y="1332280"/>
            <a:ext cx="1030515" cy="31775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defRPr sz="19900" spc="300">
                <a:solidFill>
                  <a:srgbClr val="FFFFFF"/>
                </a:solidFill>
                <a:latin typeface="Impact"/>
                <a:ea typeface="Impact"/>
                <a:cs typeface="Impact"/>
                <a:sym typeface="Impact"/>
              </a:defRPr>
            </a:lvl1pPr>
          </a:lstStyle>
          <a:p>
            <a:r>
              <a:rPr dirty="0"/>
              <a:t>1</a:t>
            </a:r>
          </a:p>
        </p:txBody>
      </p:sp>
      <p:sp>
        <p:nvSpPr>
          <p:cNvPr id="156" name="文本框 4"/>
          <p:cNvSpPr txBox="1"/>
          <p:nvPr/>
        </p:nvSpPr>
        <p:spPr>
          <a:xfrm>
            <a:off x="3016178" y="2559738"/>
            <a:ext cx="6632583" cy="830997"/>
          </a:xfrm>
          <a:prstGeom prst="rect">
            <a:avLst/>
          </a:prstGeom>
          <a:ln w="12700">
            <a:miter lim="400000"/>
          </a:ln>
          <a:extLst>
            <a:ext uri="{C572A759-6A51-4108-AA02-DFA0A04FC94B}">
              <ma14:wrappingTextBoxFlag xmlns:ma14="http://schemas.microsoft.com/office/mac/drawingml/2011/main" xmlns="" val="1"/>
            </a:ext>
          </a:extLst>
        </p:spPr>
        <p:txBody>
          <a:bodyPr wrap="none" lIns="45719" rIns="45719">
            <a:spAutoFit/>
          </a:bodyPr>
          <a:lstStyle/>
          <a:p>
            <a:pPr>
              <a:defRPr sz="4800" spc="300">
                <a:solidFill>
                  <a:srgbClr val="FFFFFF"/>
                </a:solidFill>
                <a:latin typeface="思源黑体"/>
                <a:ea typeface="思源黑体"/>
                <a:cs typeface="思源黑体"/>
                <a:sym typeface="思源黑体"/>
              </a:defRPr>
            </a:pPr>
            <a:r>
              <a:rPr lang="zh-CN" altLang="en-US" dirty="0" smtClean="0">
                <a:latin typeface="微软雅黑" panose="020B0503020204020204" pitchFamily="34" charset="-122"/>
                <a:ea typeface="微软雅黑" panose="020B0503020204020204" pitchFamily="34" charset="-122"/>
              </a:rPr>
              <a:t>碧桂园私有云监控方案</a:t>
            </a:r>
            <a:endParaRPr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500735219"/>
      </p:ext>
    </p:extLst>
  </p:cSld>
  <p:clrMapOvr>
    <a:masterClrMapping/>
  </p:clrMapOvr>
  <p:transition spd="med"/>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标题 1"/>
          <p:cNvSpPr>
            <a:spLocks noGrp="1"/>
          </p:cNvSpPr>
          <p:nvPr>
            <p:ph type="title"/>
          </p:nvPr>
        </p:nvSpPr>
        <p:spPr>
          <a:xfrm>
            <a:off x="576025" y="54787"/>
            <a:ext cx="10368440" cy="1080031"/>
          </a:xfrm>
        </p:spPr>
        <p:txBody>
          <a:bodyPr>
            <a:normAutofit/>
          </a:bodyPr>
          <a:lstStyle/>
          <a:p>
            <a:pPr algn="l"/>
            <a:r>
              <a:rPr lang="zh-CN" altLang="en-US" sz="2800" b="1" dirty="0" smtClean="0">
                <a:latin typeface="微软雅黑" panose="020B0503020204020204" pitchFamily="34" charset="-122"/>
                <a:ea typeface="微软雅黑" panose="020B0503020204020204" pitchFamily="34" charset="-122"/>
              </a:rPr>
              <a:t>监控方案</a:t>
            </a:r>
            <a:endParaRPr lang="zh-CN" altLang="en-US" sz="2800" b="1" dirty="0">
              <a:latin typeface="微软雅黑" panose="020B0503020204020204" pitchFamily="34" charset="-122"/>
              <a:ea typeface="微软雅黑" panose="020B0503020204020204" pitchFamily="34" charset="-122"/>
            </a:endParaRPr>
          </a:p>
        </p:txBody>
      </p:sp>
      <p:sp>
        <p:nvSpPr>
          <p:cNvPr id="3" name="文本框 4"/>
          <p:cNvSpPr txBox="1"/>
          <p:nvPr/>
        </p:nvSpPr>
        <p:spPr>
          <a:xfrm>
            <a:off x="782231" y="1569335"/>
            <a:ext cx="7992758" cy="867930"/>
          </a:xfrm>
          <a:prstGeom prst="rect">
            <a:avLst/>
          </a:prstGeom>
          <a:ln w="12700">
            <a:miter lim="400000"/>
          </a:ln>
          <a:extLst>
            <a:ext uri="{C572A759-6A51-4108-AA02-DFA0A04FC94B}">
              <ma14:wrappingTextBoxFlag xmlns="" xmlns:ma14="http://schemas.microsoft.com/office/mac/drawingml/2011/main" val="1"/>
            </a:ext>
          </a:extLst>
        </p:spPr>
        <p:txBody>
          <a:bodyPr wrap="square" lIns="45719" rIns="45719">
            <a:spAutoFit/>
          </a:bodyPr>
          <a:lstStyle/>
          <a:p>
            <a:pPr algn="ctr">
              <a:lnSpc>
                <a:spcPct val="140000"/>
              </a:lnSpc>
              <a:defRPr sz="2400" spc="300">
                <a:latin typeface="思源黑体"/>
                <a:ea typeface="思源黑体"/>
                <a:cs typeface="思源黑体"/>
                <a:sym typeface="思源黑体"/>
              </a:defRPr>
            </a:pPr>
            <a:r>
              <a:rPr lang="en-US" altLang="zh-CN" sz="3600" b="1" spc="300" dirty="0" err="1" smtClean="0">
                <a:latin typeface="微软雅黑" panose="020B0503020204020204" pitchFamily="34" charset="-122"/>
                <a:ea typeface="微软雅黑" panose="020B0503020204020204" pitchFamily="34" charset="-122"/>
                <a:cs typeface="思源黑体"/>
              </a:rPr>
              <a:t>Promethues</a:t>
            </a:r>
            <a:endParaRPr lang="en-US" altLang="zh-CN" sz="3600" b="1" spc="300" dirty="0">
              <a:latin typeface="微软雅黑" panose="020B0503020204020204" pitchFamily="34" charset="-122"/>
              <a:ea typeface="微软雅黑" panose="020B0503020204020204" pitchFamily="34" charset="-122"/>
              <a:cs typeface="思源黑体"/>
            </a:endParaRPr>
          </a:p>
        </p:txBody>
      </p:sp>
    </p:spTree>
    <p:extLst>
      <p:ext uri="{BB962C8B-B14F-4D97-AF65-F5344CB8AC3E}">
        <p14:creationId xmlns:p14="http://schemas.microsoft.com/office/powerpoint/2010/main" val="3672225458"/>
      </p:ext>
    </p:extLst>
  </p:cSld>
  <p:clrMapOvr>
    <a:masterClrMapping/>
  </p:clrMapOvr>
  <p:transition spd="med"/>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标题 1"/>
          <p:cNvSpPr>
            <a:spLocks noGrp="1"/>
          </p:cNvSpPr>
          <p:nvPr>
            <p:ph type="title"/>
          </p:nvPr>
        </p:nvSpPr>
        <p:spPr>
          <a:xfrm>
            <a:off x="576025" y="54787"/>
            <a:ext cx="10368440" cy="1080031"/>
          </a:xfrm>
        </p:spPr>
        <p:txBody>
          <a:bodyPr>
            <a:normAutofit/>
          </a:bodyPr>
          <a:lstStyle/>
          <a:p>
            <a:pPr algn="l"/>
            <a:r>
              <a:rPr lang="zh-CN" altLang="en-US" sz="2800" b="1" dirty="0" smtClean="0">
                <a:latin typeface="微软雅黑" panose="020B0503020204020204" pitchFamily="34" charset="-122"/>
                <a:ea typeface="微软雅黑" panose="020B0503020204020204" pitchFamily="34" charset="-122"/>
              </a:rPr>
              <a:t>监控方案</a:t>
            </a:r>
            <a:endParaRPr lang="zh-CN" altLang="en-US" sz="2800" b="1" dirty="0">
              <a:latin typeface="微软雅黑" panose="020B0503020204020204" pitchFamily="34" charset="-122"/>
              <a:ea typeface="微软雅黑" panose="020B0503020204020204" pitchFamily="34" charset="-122"/>
            </a:endParaRPr>
          </a:p>
        </p:txBody>
      </p:sp>
      <p:sp>
        <p:nvSpPr>
          <p:cNvPr id="3" name="文本框 4"/>
          <p:cNvSpPr txBox="1"/>
          <p:nvPr/>
        </p:nvSpPr>
        <p:spPr>
          <a:xfrm>
            <a:off x="728443" y="1260052"/>
            <a:ext cx="7992758" cy="783869"/>
          </a:xfrm>
          <a:prstGeom prst="rect">
            <a:avLst/>
          </a:prstGeom>
          <a:ln w="12700">
            <a:miter lim="400000"/>
          </a:ln>
          <a:extLst>
            <a:ext uri="{C572A759-6A51-4108-AA02-DFA0A04FC94B}">
              <ma14:wrappingTextBoxFlag xmlns="" xmlns:ma14="http://schemas.microsoft.com/office/mac/drawingml/2011/main" val="1"/>
            </a:ext>
          </a:extLst>
        </p:spPr>
        <p:txBody>
          <a:bodyPr wrap="square" lIns="45719" rIns="45719">
            <a:spAutoFit/>
          </a:bodyPr>
          <a:lstStyle/>
          <a:p>
            <a:pPr algn="ctr">
              <a:lnSpc>
                <a:spcPct val="140000"/>
              </a:lnSpc>
              <a:defRPr sz="2400" spc="300">
                <a:latin typeface="思源黑体"/>
                <a:ea typeface="思源黑体"/>
                <a:cs typeface="思源黑体"/>
                <a:sym typeface="思源黑体"/>
              </a:defRPr>
            </a:pPr>
            <a:r>
              <a:rPr lang="zh-CN" altLang="en-US" sz="3600" b="1" spc="300" dirty="0" smtClean="0">
                <a:latin typeface="微软雅黑" panose="020B0503020204020204" pitchFamily="34" charset="-122"/>
                <a:ea typeface="微软雅黑" panose="020B0503020204020204" pitchFamily="34" charset="-122"/>
                <a:cs typeface="思源黑体"/>
              </a:rPr>
              <a:t>为什么选择</a:t>
            </a:r>
            <a:r>
              <a:rPr lang="en-US" altLang="zh-CN" sz="3600" b="1" spc="300" dirty="0" err="1" smtClean="0">
                <a:latin typeface="微软雅黑" panose="020B0503020204020204" pitchFamily="34" charset="-122"/>
                <a:ea typeface="微软雅黑" panose="020B0503020204020204" pitchFamily="34" charset="-122"/>
                <a:cs typeface="思源黑体"/>
              </a:rPr>
              <a:t>promethues</a:t>
            </a:r>
            <a:endParaRPr lang="en-US" altLang="zh-CN" sz="3600" b="1" spc="300" dirty="0">
              <a:latin typeface="微软雅黑" panose="020B0503020204020204" pitchFamily="34" charset="-122"/>
              <a:ea typeface="微软雅黑" panose="020B0503020204020204" pitchFamily="34" charset="-122"/>
              <a:cs typeface="思源黑体"/>
            </a:endParaRPr>
          </a:p>
        </p:txBody>
      </p:sp>
      <p:sp>
        <p:nvSpPr>
          <p:cNvPr id="4" name="文本框 4"/>
          <p:cNvSpPr txBox="1"/>
          <p:nvPr/>
        </p:nvSpPr>
        <p:spPr>
          <a:xfrm>
            <a:off x="728443" y="2286511"/>
            <a:ext cx="2552639" cy="609398"/>
          </a:xfrm>
          <a:prstGeom prst="rect">
            <a:avLst/>
          </a:prstGeom>
          <a:ln w="12700">
            <a:miter lim="400000"/>
          </a:ln>
          <a:extLst>
            <a:ext uri="{C572A759-6A51-4108-AA02-DFA0A04FC94B}">
              <ma14:wrappingTextBoxFlag xmlns="" xmlns:ma14="http://schemas.microsoft.com/office/mac/drawingml/2011/main" val="1"/>
            </a:ext>
          </a:extLst>
        </p:spPr>
        <p:txBody>
          <a:bodyPr wrap="square" lIns="45719" rIns="45719">
            <a:spAutoFit/>
          </a:bodyPr>
          <a:lstStyle/>
          <a:p>
            <a:pPr>
              <a:lnSpc>
                <a:spcPct val="140000"/>
              </a:lnSpc>
              <a:defRPr sz="2400" spc="300">
                <a:latin typeface="思源黑体"/>
                <a:ea typeface="思源黑体"/>
                <a:cs typeface="思源黑体"/>
                <a:sym typeface="思源黑体"/>
              </a:defRPr>
            </a:pPr>
            <a:r>
              <a:rPr lang="en-US" altLang="zh-CN" sz="2400" b="1" spc="300" dirty="0" err="1" smtClean="0">
                <a:latin typeface="微软雅黑" panose="020B0503020204020204" pitchFamily="34" charset="-122"/>
                <a:ea typeface="微软雅黑" panose="020B0503020204020204" pitchFamily="34" charset="-122"/>
                <a:cs typeface="思源黑体"/>
              </a:rPr>
              <a:t>promethues</a:t>
            </a:r>
            <a:endParaRPr lang="en-US" altLang="zh-CN" sz="2400" b="1" spc="300" dirty="0">
              <a:latin typeface="微软雅黑" panose="020B0503020204020204" pitchFamily="34" charset="-122"/>
              <a:ea typeface="微软雅黑" panose="020B0503020204020204" pitchFamily="34" charset="-122"/>
              <a:cs typeface="思源黑体"/>
            </a:endParaRPr>
          </a:p>
        </p:txBody>
      </p:sp>
      <p:sp>
        <p:nvSpPr>
          <p:cNvPr id="5" name="文本框 4"/>
          <p:cNvSpPr txBox="1"/>
          <p:nvPr/>
        </p:nvSpPr>
        <p:spPr>
          <a:xfrm>
            <a:off x="728443" y="3138499"/>
            <a:ext cx="2552639" cy="609398"/>
          </a:xfrm>
          <a:prstGeom prst="rect">
            <a:avLst/>
          </a:prstGeom>
          <a:ln w="12700">
            <a:miter lim="400000"/>
          </a:ln>
          <a:extLst>
            <a:ext uri="{C572A759-6A51-4108-AA02-DFA0A04FC94B}">
              <ma14:wrappingTextBoxFlag xmlns="" xmlns:ma14="http://schemas.microsoft.com/office/mac/drawingml/2011/main" val="1"/>
            </a:ext>
          </a:extLst>
        </p:spPr>
        <p:txBody>
          <a:bodyPr wrap="square" lIns="45719" rIns="45719">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a:lnSpc>
                <a:spcPct val="140000"/>
              </a:lnSpc>
              <a:defRPr sz="2400" b="1" spc="300">
                <a:latin typeface="微软雅黑" panose="020B0503020204020204" pitchFamily="34" charset="-122"/>
                <a:ea typeface="微软雅黑" panose="020B0503020204020204" pitchFamily="34" charset="-122"/>
                <a:cs typeface="思源黑体"/>
              </a:defRPr>
            </a:lvl1pPr>
          </a:lstStyle>
          <a:p>
            <a:r>
              <a:rPr lang="en-US" altLang="zh-CN" dirty="0" smtClean="0">
                <a:sym typeface="思源黑体"/>
              </a:rPr>
              <a:t>open-falcon</a:t>
            </a:r>
            <a:endParaRPr lang="en-US" altLang="zh-CN" dirty="0"/>
          </a:p>
        </p:txBody>
      </p:sp>
      <p:sp>
        <p:nvSpPr>
          <p:cNvPr id="6" name="文本框 5"/>
          <p:cNvSpPr txBox="1"/>
          <p:nvPr/>
        </p:nvSpPr>
        <p:spPr>
          <a:xfrm>
            <a:off x="728443" y="3990487"/>
            <a:ext cx="2552639" cy="609398"/>
          </a:xfrm>
          <a:prstGeom prst="rect">
            <a:avLst/>
          </a:prstGeom>
          <a:ln w="12700">
            <a:miter lim="400000"/>
          </a:ln>
          <a:extLst>
            <a:ext uri="{C572A759-6A51-4108-AA02-DFA0A04FC94B}">
              <ma14:wrappingTextBoxFlag xmlns="" xmlns:ma14="http://schemas.microsoft.com/office/mac/drawingml/2011/main" val="1"/>
            </a:ext>
          </a:extLst>
        </p:spPr>
        <p:txBody>
          <a:bodyPr wrap="square" lIns="45719" rIns="45719">
            <a:spAutoFit/>
          </a:bodyPr>
          <a:lstStyle/>
          <a:p>
            <a:pPr>
              <a:lnSpc>
                <a:spcPct val="140000"/>
              </a:lnSpc>
              <a:defRPr sz="2400" spc="300">
                <a:latin typeface="思源黑体"/>
                <a:ea typeface="思源黑体"/>
                <a:cs typeface="思源黑体"/>
                <a:sym typeface="思源黑体"/>
              </a:defRPr>
            </a:pPr>
            <a:r>
              <a:rPr lang="en-US" altLang="zh-CN" sz="2400" b="1" spc="300" dirty="0" err="1" smtClean="0">
                <a:latin typeface="微软雅黑" panose="020B0503020204020204" pitchFamily="34" charset="-122"/>
                <a:ea typeface="微软雅黑" panose="020B0503020204020204" pitchFamily="34" charset="-122"/>
                <a:cs typeface="思源黑体"/>
              </a:rPr>
              <a:t>zabbix</a:t>
            </a:r>
            <a:endParaRPr lang="en-US" altLang="zh-CN" sz="2400" b="1" spc="300" dirty="0">
              <a:latin typeface="微软雅黑" panose="020B0503020204020204" pitchFamily="34" charset="-122"/>
              <a:ea typeface="微软雅黑" panose="020B0503020204020204" pitchFamily="34" charset="-122"/>
              <a:cs typeface="思源黑体"/>
            </a:endParaRPr>
          </a:p>
        </p:txBody>
      </p:sp>
      <p:sp>
        <p:nvSpPr>
          <p:cNvPr id="7" name="文本框 4"/>
          <p:cNvSpPr txBox="1"/>
          <p:nvPr/>
        </p:nvSpPr>
        <p:spPr>
          <a:xfrm>
            <a:off x="3543362" y="2298805"/>
            <a:ext cx="2359898" cy="553357"/>
          </a:xfrm>
          <a:prstGeom prst="rect">
            <a:avLst/>
          </a:prstGeom>
          <a:ln w="12700">
            <a:miter lim="400000"/>
          </a:ln>
          <a:extLst>
            <a:ext uri="{C572A759-6A51-4108-AA02-DFA0A04FC94B}">
              <ma14:wrappingTextBoxFlag xmlns="" xmlns:ma14="http://schemas.microsoft.com/office/mac/drawingml/2011/main" val="1"/>
            </a:ext>
          </a:extLst>
        </p:spPr>
        <p:txBody>
          <a:bodyPr wrap="square" lIns="45719" rIns="45719">
            <a:spAutoFit/>
          </a:bodyPr>
          <a:lstStyle/>
          <a:p>
            <a:pPr>
              <a:lnSpc>
                <a:spcPct val="140000"/>
              </a:lnSpc>
              <a:defRPr sz="2400" spc="300">
                <a:latin typeface="思源黑体"/>
                <a:ea typeface="思源黑体"/>
                <a:cs typeface="思源黑体"/>
                <a:sym typeface="思源黑体"/>
              </a:defRPr>
            </a:pPr>
            <a:endParaRPr lang="en-US" altLang="zh-CN" sz="2400" spc="300" dirty="0">
              <a:latin typeface="微软雅黑" panose="020B0503020204020204" pitchFamily="34" charset="-122"/>
              <a:ea typeface="微软雅黑" panose="020B0503020204020204" pitchFamily="34" charset="-122"/>
              <a:cs typeface="思源黑体"/>
            </a:endParaRPr>
          </a:p>
        </p:txBody>
      </p:sp>
      <p:sp>
        <p:nvSpPr>
          <p:cNvPr id="2" name="矩形 1"/>
          <p:cNvSpPr/>
          <p:nvPr/>
        </p:nvSpPr>
        <p:spPr>
          <a:xfrm>
            <a:off x="4066720" y="2375766"/>
            <a:ext cx="1836539" cy="430887"/>
          </a:xfrm>
          <a:prstGeom prst="rect">
            <a:avLst/>
          </a:prstGeom>
        </p:spPr>
        <p:txBody>
          <a:bodyPr wrap="square">
            <a:spAutoFit/>
          </a:bodyPr>
          <a:lstStyle/>
          <a:p>
            <a:r>
              <a:rPr lang="zh-CN" altLang="en-US" dirty="0" smtClean="0"/>
              <a:t>社区活跃</a:t>
            </a:r>
            <a:endParaRPr lang="zh-CN" altLang="en-US" dirty="0"/>
          </a:p>
        </p:txBody>
      </p:sp>
      <p:sp>
        <p:nvSpPr>
          <p:cNvPr id="10" name="矩形 9"/>
          <p:cNvSpPr/>
          <p:nvPr/>
        </p:nvSpPr>
        <p:spPr>
          <a:xfrm>
            <a:off x="5903259" y="2370873"/>
            <a:ext cx="1836539" cy="430887"/>
          </a:xfrm>
          <a:prstGeom prst="rect">
            <a:avLst/>
          </a:prstGeom>
        </p:spPr>
        <p:txBody>
          <a:bodyPr wrap="square">
            <a:spAutoFit/>
          </a:bodyPr>
          <a:lstStyle/>
          <a:p>
            <a:r>
              <a:rPr lang="zh-CN" altLang="en-US" dirty="0" smtClean="0"/>
              <a:t>云原生</a:t>
            </a:r>
            <a:endParaRPr lang="zh-CN" altLang="en-US" dirty="0"/>
          </a:p>
        </p:txBody>
      </p:sp>
      <p:sp>
        <p:nvSpPr>
          <p:cNvPr id="11" name="矩形 10"/>
          <p:cNvSpPr/>
          <p:nvPr/>
        </p:nvSpPr>
        <p:spPr>
          <a:xfrm>
            <a:off x="7588624" y="2298805"/>
            <a:ext cx="1836539" cy="430887"/>
          </a:xfrm>
          <a:prstGeom prst="rect">
            <a:avLst/>
          </a:prstGeom>
        </p:spPr>
        <p:txBody>
          <a:bodyPr wrap="square">
            <a:spAutoFit/>
          </a:bodyPr>
          <a:lstStyle/>
          <a:p>
            <a:r>
              <a:rPr lang="zh-CN" altLang="en-US" dirty="0" smtClean="0"/>
              <a:t>水平扩展</a:t>
            </a:r>
            <a:endParaRPr lang="zh-CN" altLang="en-US" dirty="0"/>
          </a:p>
        </p:txBody>
      </p:sp>
      <p:sp>
        <p:nvSpPr>
          <p:cNvPr id="12" name="矩形 11"/>
          <p:cNvSpPr/>
          <p:nvPr/>
        </p:nvSpPr>
        <p:spPr>
          <a:xfrm>
            <a:off x="5791008" y="3227754"/>
            <a:ext cx="1836539" cy="430887"/>
          </a:xfrm>
          <a:prstGeom prst="rect">
            <a:avLst/>
          </a:prstGeom>
        </p:spPr>
        <p:txBody>
          <a:bodyPr wrap="square">
            <a:spAutoFit/>
          </a:bodyPr>
          <a:lstStyle/>
          <a:p>
            <a:r>
              <a:rPr lang="zh-CN" altLang="en-US" dirty="0" smtClean="0"/>
              <a:t>传统监控</a:t>
            </a:r>
            <a:endParaRPr lang="zh-CN" altLang="en-US" dirty="0"/>
          </a:p>
        </p:txBody>
      </p:sp>
      <p:sp>
        <p:nvSpPr>
          <p:cNvPr id="13" name="矩形 12"/>
          <p:cNvSpPr/>
          <p:nvPr/>
        </p:nvSpPr>
        <p:spPr>
          <a:xfrm>
            <a:off x="5791008" y="3990487"/>
            <a:ext cx="1836539" cy="430887"/>
          </a:xfrm>
          <a:prstGeom prst="rect">
            <a:avLst/>
          </a:prstGeom>
        </p:spPr>
        <p:txBody>
          <a:bodyPr wrap="square">
            <a:spAutoFit/>
          </a:bodyPr>
          <a:lstStyle/>
          <a:p>
            <a:r>
              <a:rPr lang="zh-CN" altLang="en-US" dirty="0" smtClean="0"/>
              <a:t>传统监控</a:t>
            </a:r>
            <a:endParaRPr lang="zh-CN" altLang="en-US" dirty="0"/>
          </a:p>
        </p:txBody>
      </p:sp>
      <p:sp>
        <p:nvSpPr>
          <p:cNvPr id="14" name="矩形 13"/>
          <p:cNvSpPr/>
          <p:nvPr/>
        </p:nvSpPr>
        <p:spPr>
          <a:xfrm>
            <a:off x="7588623" y="3128360"/>
            <a:ext cx="1836539" cy="430887"/>
          </a:xfrm>
          <a:prstGeom prst="rect">
            <a:avLst/>
          </a:prstGeom>
        </p:spPr>
        <p:txBody>
          <a:bodyPr wrap="square">
            <a:spAutoFit/>
          </a:bodyPr>
          <a:lstStyle/>
          <a:p>
            <a:r>
              <a:rPr lang="zh-CN" altLang="en-US" dirty="0" smtClean="0"/>
              <a:t>水平扩展</a:t>
            </a:r>
            <a:endParaRPr lang="zh-CN" altLang="en-US" dirty="0"/>
          </a:p>
        </p:txBody>
      </p:sp>
      <p:sp>
        <p:nvSpPr>
          <p:cNvPr id="15" name="矩形 14"/>
          <p:cNvSpPr/>
          <p:nvPr/>
        </p:nvSpPr>
        <p:spPr>
          <a:xfrm>
            <a:off x="7588623" y="3934839"/>
            <a:ext cx="1836539" cy="430887"/>
          </a:xfrm>
          <a:prstGeom prst="rect">
            <a:avLst/>
          </a:prstGeom>
        </p:spPr>
        <p:txBody>
          <a:bodyPr wrap="square">
            <a:spAutoFit/>
          </a:bodyPr>
          <a:lstStyle/>
          <a:p>
            <a:r>
              <a:rPr lang="zh-CN" altLang="en-US" dirty="0" smtClean="0"/>
              <a:t>垂直扩展</a:t>
            </a:r>
            <a:endParaRPr lang="zh-CN" altLang="en-US" dirty="0"/>
          </a:p>
        </p:txBody>
      </p:sp>
      <p:sp>
        <p:nvSpPr>
          <p:cNvPr id="16" name="矩形 15"/>
          <p:cNvSpPr/>
          <p:nvPr/>
        </p:nvSpPr>
        <p:spPr>
          <a:xfrm>
            <a:off x="3954469" y="3101114"/>
            <a:ext cx="1836539" cy="430887"/>
          </a:xfrm>
          <a:prstGeom prst="rect">
            <a:avLst/>
          </a:prstGeom>
        </p:spPr>
        <p:txBody>
          <a:bodyPr wrap="square">
            <a:spAutoFit/>
          </a:bodyPr>
          <a:lstStyle/>
          <a:p>
            <a:r>
              <a:rPr lang="zh-CN" altLang="en-US" dirty="0" smtClean="0"/>
              <a:t>社区不活跃</a:t>
            </a:r>
            <a:endParaRPr lang="zh-CN" altLang="en-US" dirty="0"/>
          </a:p>
        </p:txBody>
      </p:sp>
      <p:sp>
        <p:nvSpPr>
          <p:cNvPr id="17" name="矩形 16"/>
          <p:cNvSpPr/>
          <p:nvPr/>
        </p:nvSpPr>
        <p:spPr>
          <a:xfrm>
            <a:off x="3805041" y="4079742"/>
            <a:ext cx="1836539" cy="430887"/>
          </a:xfrm>
          <a:prstGeom prst="rect">
            <a:avLst/>
          </a:prstGeom>
        </p:spPr>
        <p:txBody>
          <a:bodyPr wrap="square">
            <a:spAutoFit/>
          </a:bodyPr>
          <a:lstStyle/>
          <a:p>
            <a:r>
              <a:rPr lang="zh-CN" altLang="en-US" dirty="0" smtClean="0"/>
              <a:t>社区活跃</a:t>
            </a:r>
            <a:endParaRPr lang="zh-CN" altLang="en-US" dirty="0"/>
          </a:p>
        </p:txBody>
      </p:sp>
    </p:spTree>
    <p:extLst>
      <p:ext uri="{BB962C8B-B14F-4D97-AF65-F5344CB8AC3E}">
        <p14:creationId xmlns:p14="http://schemas.microsoft.com/office/powerpoint/2010/main" val="2768261272"/>
      </p:ext>
    </p:extLst>
  </p:cSld>
  <p:clrMapOvr>
    <a:masterClrMapping/>
  </p:clrMapOvr>
  <p:transition spd="med"/>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 name="文本框 3"/>
          <p:cNvSpPr txBox="1"/>
          <p:nvPr/>
        </p:nvSpPr>
        <p:spPr>
          <a:xfrm>
            <a:off x="231708" y="1332280"/>
            <a:ext cx="1030515" cy="31775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defRPr sz="19900" spc="300">
                <a:solidFill>
                  <a:srgbClr val="FFFFFF"/>
                </a:solidFill>
                <a:latin typeface="Impact"/>
                <a:ea typeface="Impact"/>
                <a:cs typeface="Impact"/>
                <a:sym typeface="Impact"/>
              </a:defRPr>
            </a:lvl1pPr>
          </a:lstStyle>
          <a:p>
            <a:r>
              <a:rPr dirty="0"/>
              <a:t>1</a:t>
            </a:r>
          </a:p>
        </p:txBody>
      </p:sp>
      <p:sp>
        <p:nvSpPr>
          <p:cNvPr id="156" name="文本框 4"/>
          <p:cNvSpPr txBox="1"/>
          <p:nvPr/>
        </p:nvSpPr>
        <p:spPr>
          <a:xfrm>
            <a:off x="3016178" y="2559738"/>
            <a:ext cx="7953457" cy="1569660"/>
          </a:xfrm>
          <a:prstGeom prst="rect">
            <a:avLst/>
          </a:prstGeom>
          <a:ln w="12700">
            <a:miter lim="400000"/>
          </a:ln>
          <a:extLst>
            <a:ext uri="{C572A759-6A51-4108-AA02-DFA0A04FC94B}">
              <ma14:wrappingTextBoxFlag xmlns:ma14="http://schemas.microsoft.com/office/mac/drawingml/2011/main" xmlns="" val="1"/>
            </a:ext>
          </a:extLst>
        </p:spPr>
        <p:txBody>
          <a:bodyPr wrap="none" lIns="45719" rIns="45719">
            <a:spAutoFit/>
          </a:bodyPr>
          <a:lstStyle/>
          <a:p>
            <a:pPr>
              <a:defRPr sz="4800" spc="300">
                <a:solidFill>
                  <a:srgbClr val="FFFFFF"/>
                </a:solidFill>
                <a:latin typeface="思源黑体"/>
                <a:ea typeface="思源黑体"/>
                <a:cs typeface="思源黑体"/>
                <a:sym typeface="思源黑体"/>
              </a:defRPr>
            </a:pPr>
            <a:r>
              <a:rPr lang="en-US" altLang="zh-CN" dirty="0">
                <a:latin typeface="微软雅黑" panose="020B0503020204020204" pitchFamily="34" charset="-122"/>
                <a:ea typeface="微软雅黑" panose="020B0503020204020204" pitchFamily="34" charset="-122"/>
              </a:rPr>
              <a:t>Prometheus</a:t>
            </a:r>
            <a:r>
              <a:rPr lang="zh-CN" altLang="en-US" dirty="0">
                <a:latin typeface="微软雅黑" panose="020B0503020204020204" pitchFamily="34" charset="-122"/>
                <a:ea typeface="微软雅黑" panose="020B0503020204020204" pitchFamily="34" charset="-122"/>
              </a:rPr>
              <a:t>方案功能概览</a:t>
            </a:r>
            <a:endParaRPr lang="en-US" altLang="zh-CN" dirty="0">
              <a:latin typeface="微软雅黑" panose="020B0503020204020204" pitchFamily="34" charset="-122"/>
              <a:ea typeface="微软雅黑" panose="020B0503020204020204" pitchFamily="34" charset="-122"/>
            </a:endParaRPr>
          </a:p>
          <a:p>
            <a:pPr>
              <a:defRPr sz="4800" spc="300">
                <a:solidFill>
                  <a:srgbClr val="FFFFFF"/>
                </a:solidFill>
                <a:latin typeface="思源黑体"/>
                <a:ea typeface="思源黑体"/>
                <a:cs typeface="思源黑体"/>
                <a:sym typeface="思源黑体"/>
              </a:defRPr>
            </a:pPr>
            <a:endParaRPr dirty="0">
              <a:latin typeface="微软雅黑" panose="020B0503020204020204" pitchFamily="34" charset="-122"/>
              <a:ea typeface="微软雅黑" panose="020B0503020204020204" pitchFamily="34" charset="-122"/>
            </a:endParaRPr>
          </a:p>
        </p:txBody>
      </p:sp>
    </p:spTree>
  </p:cSld>
  <p:clrMapOvr>
    <a:masterClrMapping/>
  </p:clrMapOvr>
  <p:transition spd="med"/>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标题 1"/>
          <p:cNvSpPr>
            <a:spLocks noGrp="1"/>
          </p:cNvSpPr>
          <p:nvPr>
            <p:ph type="title"/>
          </p:nvPr>
        </p:nvSpPr>
        <p:spPr>
          <a:xfrm>
            <a:off x="576025" y="54787"/>
            <a:ext cx="10368440" cy="1080031"/>
          </a:xfrm>
        </p:spPr>
        <p:txBody>
          <a:bodyPr>
            <a:normAutofit/>
          </a:bodyPr>
          <a:lstStyle/>
          <a:p>
            <a:pPr algn="l"/>
            <a:r>
              <a:rPr lang="zh-CN" altLang="en-US" sz="2800" b="1" dirty="0">
                <a:latin typeface="微软雅黑" panose="020B0503020204020204" pitchFamily="34" charset="-122"/>
                <a:ea typeface="微软雅黑" panose="020B0503020204020204" pitchFamily="34" charset="-122"/>
              </a:rPr>
              <a:t>私有云监控</a:t>
            </a:r>
          </a:p>
        </p:txBody>
      </p:sp>
      <p:sp>
        <p:nvSpPr>
          <p:cNvPr id="3" name="文本框 4"/>
          <p:cNvSpPr txBox="1"/>
          <p:nvPr/>
        </p:nvSpPr>
        <p:spPr>
          <a:xfrm>
            <a:off x="1763866" y="1582782"/>
            <a:ext cx="7992758" cy="3033395"/>
          </a:xfrm>
          <a:prstGeom prst="rect">
            <a:avLst/>
          </a:prstGeom>
          <a:ln w="12700">
            <a:miter lim="400000"/>
          </a:ln>
          <a:extLst>
            <a:ext uri="{C572A759-6A51-4108-AA02-DFA0A04FC94B}">
              <ma14:wrappingTextBoxFlag xmlns="" xmlns:ma14="http://schemas.microsoft.com/office/mac/drawingml/2011/main" val="1"/>
            </a:ext>
          </a:extLst>
        </p:spPr>
        <p:txBody>
          <a:bodyPr wrap="square" lIns="45719" rIns="45719">
            <a:spAutoFit/>
          </a:bodyPr>
          <a:lstStyle/>
          <a:p>
            <a:pPr algn="ctr">
              <a:lnSpc>
                <a:spcPct val="140000"/>
              </a:lnSpc>
              <a:defRPr sz="2400" spc="300">
                <a:latin typeface="思源黑体"/>
                <a:ea typeface="思源黑体"/>
                <a:cs typeface="思源黑体"/>
                <a:sym typeface="思源黑体"/>
              </a:defRPr>
            </a:pPr>
            <a:r>
              <a:rPr lang="en-US" altLang="zh-CN" sz="2400" dirty="0">
                <a:latin typeface="微软雅黑" panose="020B0503020204020204" pitchFamily="34" charset="-122"/>
                <a:ea typeface="微软雅黑" panose="020B0503020204020204" pitchFamily="34" charset="-122"/>
              </a:rPr>
              <a:t>Prometheus</a:t>
            </a:r>
            <a:r>
              <a:rPr lang="zh-CN" altLang="en-US" sz="2400" dirty="0">
                <a:latin typeface="微软雅黑" panose="020B0503020204020204" pitchFamily="34" charset="-122"/>
                <a:ea typeface="微软雅黑" panose="020B0503020204020204" pitchFamily="34" charset="-122"/>
              </a:rPr>
              <a:t>方案概述</a:t>
            </a:r>
            <a:endParaRPr lang="en-US" altLang="zh-CN" sz="2400" dirty="0">
              <a:latin typeface="微软雅黑" panose="020B0503020204020204" pitchFamily="34" charset="-122"/>
              <a:ea typeface="微软雅黑" panose="020B0503020204020204" pitchFamily="34" charset="-122"/>
            </a:endParaRPr>
          </a:p>
          <a:p>
            <a:pPr>
              <a:lnSpc>
                <a:spcPct val="140000"/>
              </a:lnSpc>
              <a:defRPr sz="2400" spc="300">
                <a:latin typeface="思源黑体"/>
                <a:ea typeface="思源黑体"/>
                <a:cs typeface="思源黑体"/>
                <a:sym typeface="思源黑体"/>
              </a:defRPr>
            </a:pPr>
            <a:endParaRPr lang="en-US" altLang="zh-CN" sz="1800" dirty="0">
              <a:latin typeface="微软雅黑" panose="020B0503020204020204" pitchFamily="34" charset="-122"/>
              <a:ea typeface="微软雅黑" panose="020B0503020204020204" pitchFamily="34" charset="-122"/>
            </a:endParaRPr>
          </a:p>
          <a:p>
            <a:pPr>
              <a:lnSpc>
                <a:spcPct val="140000"/>
              </a:lnSpc>
              <a:defRPr sz="2400" spc="300">
                <a:latin typeface="思源黑体"/>
                <a:ea typeface="思源黑体"/>
                <a:cs typeface="思源黑体"/>
                <a:sym typeface="思源黑体"/>
              </a:defRPr>
            </a:pPr>
            <a:r>
              <a:rPr lang="zh-CN" altLang="en-US" sz="1600" dirty="0">
                <a:sym typeface="思源黑体"/>
              </a:rPr>
              <a:t>私有云监控</a:t>
            </a:r>
            <a:r>
              <a:rPr lang="en-US" altLang="zh-CN" sz="1600" dirty="0">
                <a:sym typeface="思源黑体"/>
              </a:rPr>
              <a:t>(</a:t>
            </a:r>
            <a:r>
              <a:rPr lang="en-US" altLang="zh-CN" sz="1600" dirty="0" err="1">
                <a:sym typeface="思源黑体"/>
              </a:rPr>
              <a:t>prometheus</a:t>
            </a:r>
            <a:r>
              <a:rPr lang="zh-CN" altLang="en-US" sz="1600" dirty="0">
                <a:sym typeface="思源黑体"/>
              </a:rPr>
              <a:t>方案</a:t>
            </a:r>
            <a:r>
              <a:rPr lang="en-US" altLang="zh-CN" sz="1600" dirty="0">
                <a:sym typeface="思源黑体"/>
              </a:rPr>
              <a:t>)</a:t>
            </a:r>
            <a:r>
              <a:rPr lang="zh-CN" altLang="en-US" sz="1600" dirty="0">
                <a:sym typeface="思源黑体"/>
              </a:rPr>
              <a:t>定位是私有云企业的运维用户，监控采用了开源的</a:t>
            </a:r>
            <a:r>
              <a:rPr lang="en-US" altLang="zh-CN" sz="1600" dirty="0" err="1">
                <a:sym typeface="思源黑体"/>
              </a:rPr>
              <a:t>prometheus</a:t>
            </a:r>
            <a:r>
              <a:rPr lang="zh-CN" altLang="en-US" sz="1600" dirty="0">
                <a:sym typeface="思源黑体"/>
              </a:rPr>
              <a:t>组件。在不改动开源组件的情况下，通过写配置生成告警规则的配置。</a:t>
            </a:r>
            <a:r>
              <a:rPr lang="en-US" altLang="zh-CN" sz="1600" dirty="0">
                <a:sym typeface="思源黑体"/>
              </a:rPr>
              <a:t>server</a:t>
            </a:r>
            <a:r>
              <a:rPr lang="zh-CN" altLang="en-US" sz="1600" dirty="0">
                <a:sym typeface="思源黑体"/>
              </a:rPr>
              <a:t>通过主动拉取</a:t>
            </a:r>
            <a:r>
              <a:rPr lang="en-US" altLang="zh-CN" sz="1600" dirty="0">
                <a:sym typeface="思源黑体"/>
              </a:rPr>
              <a:t>client</a:t>
            </a:r>
            <a:r>
              <a:rPr lang="zh-CN" altLang="en-US" sz="1600" dirty="0">
                <a:sym typeface="思源黑体"/>
              </a:rPr>
              <a:t>数据，根据告警规则判断，实现告警功能。</a:t>
            </a:r>
            <a:endParaRPr lang="en-US" altLang="zh-CN" sz="1600" dirty="0">
              <a:sym typeface="思源黑体"/>
            </a:endParaRPr>
          </a:p>
          <a:p>
            <a:pPr>
              <a:lnSpc>
                <a:spcPct val="140000"/>
              </a:lnSpc>
              <a:defRPr sz="2400" spc="300">
                <a:latin typeface="思源黑体"/>
                <a:ea typeface="思源黑体"/>
                <a:cs typeface="思源黑体"/>
                <a:sym typeface="思源黑体"/>
              </a:defRPr>
            </a:pPr>
            <a:r>
              <a:rPr lang="zh-CN" altLang="en-US" sz="1600" spc="300" dirty="0">
                <a:latin typeface="思源黑体"/>
                <a:ea typeface="思源黑体"/>
                <a:cs typeface="思源黑体"/>
              </a:rPr>
              <a:t>模块较少</a:t>
            </a:r>
            <a:r>
              <a:rPr lang="en-US" altLang="zh-CN" sz="1600" spc="300" dirty="0">
                <a:latin typeface="思源黑体"/>
                <a:ea typeface="思源黑体"/>
                <a:cs typeface="思源黑体"/>
              </a:rPr>
              <a:t>,</a:t>
            </a:r>
            <a:r>
              <a:rPr lang="zh-CN" altLang="en-US" sz="1600" spc="300" dirty="0">
                <a:latin typeface="思源黑体"/>
                <a:ea typeface="思源黑体"/>
                <a:cs typeface="思源黑体"/>
              </a:rPr>
              <a:t>方便运维，社区力量强</a:t>
            </a:r>
            <a:endParaRPr lang="en-US" altLang="zh-CN" sz="1600" spc="300" dirty="0">
              <a:latin typeface="思源黑体"/>
              <a:ea typeface="思源黑体"/>
              <a:cs typeface="思源黑体"/>
            </a:endParaRPr>
          </a:p>
          <a:p>
            <a:pPr>
              <a:lnSpc>
                <a:spcPct val="140000"/>
              </a:lnSpc>
              <a:defRPr sz="2400" spc="300">
                <a:latin typeface="思源黑体"/>
                <a:ea typeface="思源黑体"/>
                <a:cs typeface="思源黑体"/>
                <a:sym typeface="思源黑体"/>
              </a:defRPr>
            </a:pPr>
            <a:r>
              <a:rPr lang="zh-CN" altLang="en-US" sz="1600" spc="300" dirty="0">
                <a:latin typeface="思源黑体"/>
                <a:ea typeface="思源黑体"/>
                <a:cs typeface="思源黑体"/>
              </a:rPr>
              <a:t>负责整个私有云平台的监控告警</a:t>
            </a:r>
            <a:endParaRPr lang="en-US" altLang="zh-CN" sz="1600" spc="300" dirty="0">
              <a:latin typeface="思源黑体"/>
              <a:ea typeface="思源黑体"/>
              <a:cs typeface="思源黑体"/>
            </a:endParaRPr>
          </a:p>
        </p:txBody>
      </p:sp>
    </p:spTree>
    <p:extLst>
      <p:ext uri="{BB962C8B-B14F-4D97-AF65-F5344CB8AC3E}">
        <p14:creationId xmlns:p14="http://schemas.microsoft.com/office/powerpoint/2010/main" val="2559128231"/>
      </p:ext>
    </p:extLst>
  </p:cSld>
  <p:clrMapOvr>
    <a:masterClrMapping/>
  </p:clrMapOvr>
  <p:transition spd="med"/>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标题 1"/>
          <p:cNvSpPr>
            <a:spLocks noGrp="1"/>
          </p:cNvSpPr>
          <p:nvPr>
            <p:ph type="title"/>
          </p:nvPr>
        </p:nvSpPr>
        <p:spPr>
          <a:xfrm>
            <a:off x="576025" y="54787"/>
            <a:ext cx="10368440" cy="1080031"/>
          </a:xfrm>
        </p:spPr>
        <p:txBody>
          <a:bodyPr>
            <a:normAutofit/>
          </a:bodyPr>
          <a:lstStyle/>
          <a:p>
            <a:pPr algn="l"/>
            <a:r>
              <a:rPr lang="zh-CN" altLang="en-US" sz="2800" b="1" dirty="0">
                <a:latin typeface="微软雅黑" panose="020B0503020204020204" pitchFamily="34" charset="-122"/>
                <a:ea typeface="微软雅黑" panose="020B0503020204020204" pitchFamily="34" charset="-122"/>
              </a:rPr>
              <a:t>私有云监控</a:t>
            </a:r>
          </a:p>
        </p:txBody>
      </p:sp>
      <p:sp>
        <p:nvSpPr>
          <p:cNvPr id="3" name="文本框 4"/>
          <p:cNvSpPr txBox="1"/>
          <p:nvPr/>
        </p:nvSpPr>
        <p:spPr>
          <a:xfrm>
            <a:off x="438001" y="997487"/>
            <a:ext cx="8990669" cy="5867312"/>
          </a:xfrm>
          <a:prstGeom prst="rect">
            <a:avLst/>
          </a:prstGeom>
          <a:ln w="12700">
            <a:miter lim="400000"/>
          </a:ln>
          <a:extLst>
            <a:ext uri="{C572A759-6A51-4108-AA02-DFA0A04FC94B}">
              <ma14:wrappingTextBoxFlag xmlns="" xmlns:ma14="http://schemas.microsoft.com/office/mac/drawingml/2011/main" val="1"/>
            </a:ext>
          </a:extLst>
        </p:spPr>
        <p:txBody>
          <a:bodyPr wrap="square" lIns="45719" rIns="45719">
            <a:spAutoFit/>
          </a:bodyPr>
          <a:lstStyle/>
          <a:p>
            <a:pPr>
              <a:lnSpc>
                <a:spcPct val="140000"/>
              </a:lnSpc>
              <a:defRPr sz="2400" spc="300">
                <a:latin typeface="思源黑体"/>
                <a:ea typeface="思源黑体"/>
                <a:cs typeface="思源黑体"/>
                <a:sym typeface="思源黑体"/>
              </a:defRPr>
            </a:pPr>
            <a:r>
              <a:rPr lang="en-US" altLang="zh-CN" sz="1800" dirty="0">
                <a:latin typeface="微软雅黑" panose="020B0503020204020204" pitchFamily="34" charset="-122"/>
                <a:ea typeface="微软雅黑" panose="020B0503020204020204" pitchFamily="34" charset="-122"/>
              </a:rPr>
              <a:t> </a:t>
            </a:r>
            <a:r>
              <a:rPr lang="zh-CN" altLang="en-US" sz="1800" dirty="0">
                <a:latin typeface="微软雅黑" panose="020B0503020204020204" pitchFamily="34" charset="-122"/>
                <a:ea typeface="微软雅黑" panose="020B0503020204020204" pitchFamily="34" charset="-122"/>
              </a:rPr>
              <a:t>提供多维数据模型和灵活的查询方式， 通过将监控指标关联多个</a:t>
            </a:r>
            <a:r>
              <a:rPr lang="en-US" altLang="zh-CN" sz="1800" dirty="0">
                <a:latin typeface="微软雅黑" panose="020B0503020204020204" pitchFamily="34" charset="-122"/>
                <a:ea typeface="微软雅黑" panose="020B0503020204020204" pitchFamily="34" charset="-122"/>
              </a:rPr>
              <a:t>tag</a:t>
            </a:r>
            <a:r>
              <a:rPr lang="zh-CN" altLang="en-US" sz="1800" dirty="0">
                <a:latin typeface="微软雅黑" panose="020B0503020204020204" pitchFamily="34" charset="-122"/>
                <a:ea typeface="微软雅黑" panose="020B0503020204020204" pitchFamily="34" charset="-122"/>
              </a:rPr>
              <a:t>来</a:t>
            </a:r>
            <a:endParaRPr lang="en-US" altLang="zh-CN" sz="1800" dirty="0">
              <a:latin typeface="微软雅黑" panose="020B0503020204020204" pitchFamily="34" charset="-122"/>
              <a:ea typeface="微软雅黑" panose="020B0503020204020204" pitchFamily="34" charset="-122"/>
            </a:endParaRPr>
          </a:p>
          <a:p>
            <a:pPr>
              <a:lnSpc>
                <a:spcPct val="140000"/>
              </a:lnSpc>
              <a:defRPr sz="2400" spc="300">
                <a:latin typeface="思源黑体"/>
                <a:ea typeface="思源黑体"/>
                <a:cs typeface="思源黑体"/>
                <a:sym typeface="思源黑体"/>
              </a:defRPr>
            </a:pPr>
            <a:r>
              <a:rPr lang="en-US" altLang="zh-CN" sz="1800" dirty="0">
                <a:latin typeface="微软雅黑" panose="020B0503020204020204" pitchFamily="34" charset="-122"/>
                <a:ea typeface="微软雅黑" panose="020B0503020204020204" pitchFamily="34" charset="-122"/>
              </a:rPr>
              <a:t> </a:t>
            </a:r>
            <a:r>
              <a:rPr lang="zh-CN" altLang="en-US" sz="1800" dirty="0">
                <a:latin typeface="微软雅黑" panose="020B0503020204020204" pitchFamily="34" charset="-122"/>
                <a:ea typeface="微软雅黑" panose="020B0503020204020204" pitchFamily="34" charset="-122"/>
              </a:rPr>
              <a:t>将数据进行任意维度的组合， 并且提供简单的</a:t>
            </a:r>
            <a:r>
              <a:rPr lang="en-US" altLang="zh-CN" sz="1800" dirty="0" err="1">
                <a:latin typeface="微软雅黑" panose="020B0503020204020204" pitchFamily="34" charset="-122"/>
                <a:ea typeface="微软雅黑" panose="020B0503020204020204" pitchFamily="34" charset="-122"/>
              </a:rPr>
              <a:t>promql</a:t>
            </a:r>
            <a:r>
              <a:rPr lang="zh-CN" altLang="en-US" sz="1800" dirty="0">
                <a:latin typeface="微软雅黑" panose="020B0503020204020204" pitchFamily="34" charset="-122"/>
                <a:ea typeface="微软雅黑" panose="020B0503020204020204" pitchFamily="34" charset="-122"/>
              </a:rPr>
              <a:t>进行查询</a:t>
            </a:r>
            <a:endParaRPr lang="en-US" altLang="zh-CN" sz="1800" dirty="0">
              <a:latin typeface="微软雅黑" panose="020B0503020204020204" pitchFamily="34" charset="-122"/>
              <a:ea typeface="微软雅黑" panose="020B0503020204020204" pitchFamily="34" charset="-122"/>
            </a:endParaRPr>
          </a:p>
          <a:p>
            <a:pPr>
              <a:lnSpc>
                <a:spcPct val="140000"/>
              </a:lnSpc>
              <a:defRPr sz="2400" spc="300">
                <a:latin typeface="思源黑体"/>
                <a:ea typeface="思源黑体"/>
                <a:cs typeface="思源黑体"/>
                <a:sym typeface="思源黑体"/>
              </a:defRPr>
            </a:pPr>
            <a:endParaRPr lang="en-US" altLang="zh-CN" sz="1800" dirty="0">
              <a:latin typeface="微软雅黑" panose="020B0503020204020204" pitchFamily="34" charset="-122"/>
              <a:ea typeface="微软雅黑" panose="020B0503020204020204" pitchFamily="34" charset="-122"/>
            </a:endParaRPr>
          </a:p>
          <a:p>
            <a:pPr>
              <a:lnSpc>
                <a:spcPct val="140000"/>
              </a:lnSpc>
              <a:defRPr sz="2400" spc="300">
                <a:latin typeface="思源黑体"/>
                <a:ea typeface="思源黑体"/>
                <a:cs typeface="思源黑体"/>
                <a:sym typeface="思源黑体"/>
              </a:defRPr>
            </a:pPr>
            <a:r>
              <a:rPr lang="en-US" altLang="zh-CN" sz="1800" dirty="0">
                <a:latin typeface="微软雅黑" panose="020B0503020204020204" pitchFamily="34" charset="-122"/>
                <a:ea typeface="微软雅黑" panose="020B0503020204020204" pitchFamily="34" charset="-122"/>
              </a:rPr>
              <a:t> </a:t>
            </a:r>
            <a:r>
              <a:rPr lang="zh-CN" altLang="en-US" sz="1800" dirty="0">
                <a:latin typeface="微软雅黑" panose="020B0503020204020204" pitchFamily="34" charset="-122"/>
                <a:ea typeface="微软雅黑" panose="020B0503020204020204" pitchFamily="34" charset="-122"/>
              </a:rPr>
              <a:t>监控项</a:t>
            </a:r>
            <a:r>
              <a:rPr lang="en-US" altLang="zh-CN" sz="1800" dirty="0">
                <a:latin typeface="微软雅黑" panose="020B0503020204020204" pitchFamily="34" charset="-122"/>
                <a:ea typeface="微软雅黑" panose="020B0503020204020204" pitchFamily="34" charset="-122"/>
              </a:rPr>
              <a:t>metrics  &amp;&amp; </a:t>
            </a:r>
            <a:r>
              <a:rPr lang="zh-CN" altLang="en-US" sz="1800" dirty="0">
                <a:latin typeface="微软雅黑" panose="020B0503020204020204" pitchFamily="34" charset="-122"/>
                <a:ea typeface="微软雅黑" panose="020B0503020204020204" pitchFamily="34" charset="-122"/>
              </a:rPr>
              <a:t>标签 </a:t>
            </a:r>
            <a:r>
              <a:rPr lang="en-US" altLang="zh-CN" sz="1800" dirty="0">
                <a:latin typeface="微软雅黑" panose="020B0503020204020204" pitchFamily="34" charset="-122"/>
                <a:ea typeface="微软雅黑" panose="020B0503020204020204" pitchFamily="34" charset="-122"/>
              </a:rPr>
              <a:t>labels</a:t>
            </a:r>
          </a:p>
          <a:p>
            <a:pPr>
              <a:lnSpc>
                <a:spcPct val="140000"/>
              </a:lnSpc>
              <a:defRPr sz="2400" spc="300">
                <a:latin typeface="思源黑体"/>
                <a:ea typeface="思源黑体"/>
                <a:cs typeface="思源黑体"/>
                <a:sym typeface="思源黑体"/>
              </a:defRPr>
            </a:pPr>
            <a:r>
              <a:rPr lang="en-US" altLang="zh-CN" sz="1800" dirty="0">
                <a:latin typeface="微软雅黑" panose="020B0503020204020204" pitchFamily="34" charset="-122"/>
                <a:ea typeface="微软雅黑" panose="020B0503020204020204" pitchFamily="34" charset="-122"/>
              </a:rPr>
              <a:t> 	</a:t>
            </a:r>
          </a:p>
          <a:p>
            <a:pPr>
              <a:lnSpc>
                <a:spcPct val="140000"/>
              </a:lnSpc>
              <a:defRPr sz="2400" spc="300">
                <a:latin typeface="思源黑体"/>
                <a:ea typeface="思源黑体"/>
                <a:cs typeface="思源黑体"/>
                <a:sym typeface="思源黑体"/>
              </a:defRPr>
            </a:pPr>
            <a:r>
              <a:rPr lang="en-US" altLang="zh-CN" sz="1800" dirty="0">
                <a:latin typeface="微软雅黑" panose="020B0503020204020204" pitchFamily="34" charset="-122"/>
                <a:ea typeface="微软雅黑" panose="020B0503020204020204" pitchFamily="34" charset="-122"/>
              </a:rPr>
              <a:t> </a:t>
            </a:r>
            <a:r>
              <a:rPr lang="zh-CN" altLang="en-US" sz="1800" dirty="0">
                <a:latin typeface="微软雅黑" panose="020B0503020204020204" pitchFamily="34" charset="-122"/>
                <a:ea typeface="微软雅黑" panose="020B0503020204020204" pitchFamily="34" charset="-122"/>
              </a:rPr>
              <a:t>监控项来源： 用户上报 </a:t>
            </a:r>
            <a:r>
              <a:rPr lang="en-US" altLang="zh-CN" sz="1800" dirty="0">
                <a:latin typeface="微软雅黑" panose="020B0503020204020204" pitchFamily="34" charset="-122"/>
                <a:ea typeface="微软雅黑" panose="020B0503020204020204" pitchFamily="34" charset="-122"/>
              </a:rPr>
              <a:t>&amp;&amp; </a:t>
            </a:r>
            <a:r>
              <a:rPr lang="zh-CN" altLang="en-US" sz="1800" dirty="0">
                <a:latin typeface="微软雅黑" panose="020B0503020204020204" pitchFamily="34" charset="-122"/>
                <a:ea typeface="微软雅黑" panose="020B0503020204020204" pitchFamily="34" charset="-122"/>
              </a:rPr>
              <a:t>使用原有监控项合成</a:t>
            </a:r>
            <a:endParaRPr lang="en-US" altLang="zh-CN" sz="1800" dirty="0">
              <a:latin typeface="微软雅黑" panose="020B0503020204020204" pitchFamily="34" charset="-122"/>
              <a:ea typeface="微软雅黑" panose="020B0503020204020204" pitchFamily="34" charset="-122"/>
            </a:endParaRPr>
          </a:p>
          <a:p>
            <a:pPr>
              <a:lnSpc>
                <a:spcPct val="140000"/>
              </a:lnSpc>
              <a:defRPr sz="2400" spc="300">
                <a:latin typeface="思源黑体"/>
                <a:ea typeface="思源黑体"/>
                <a:cs typeface="思源黑体"/>
                <a:sym typeface="思源黑体"/>
              </a:defRPr>
            </a:pPr>
            <a:r>
              <a:rPr lang="en-US" altLang="zh-CN" sz="1800" dirty="0">
                <a:latin typeface="微软雅黑" panose="020B0503020204020204" pitchFamily="34" charset="-122"/>
                <a:ea typeface="微软雅黑" panose="020B0503020204020204" pitchFamily="34" charset="-122"/>
              </a:rPr>
              <a:t> </a:t>
            </a:r>
            <a:r>
              <a:rPr lang="zh-CN" altLang="en-US" sz="1800" dirty="0">
                <a:latin typeface="微软雅黑" panose="020B0503020204020204" pitchFamily="34" charset="-122"/>
                <a:ea typeface="微软雅黑" panose="020B0503020204020204" pitchFamily="34" charset="-122"/>
              </a:rPr>
              <a:t>标签来源： 用户上报</a:t>
            </a:r>
            <a:r>
              <a:rPr lang="en-US" altLang="zh-CN" sz="1800" dirty="0">
                <a:latin typeface="微软雅黑" panose="020B0503020204020204" pitchFamily="34" charset="-122"/>
                <a:ea typeface="微软雅黑" panose="020B0503020204020204" pitchFamily="34" charset="-122"/>
              </a:rPr>
              <a:t>&amp;&amp;</a:t>
            </a:r>
            <a:r>
              <a:rPr lang="zh-CN" altLang="en-US" sz="1800" dirty="0">
                <a:latin typeface="微软雅黑" panose="020B0503020204020204" pitchFamily="34" charset="-122"/>
                <a:ea typeface="微软雅黑" panose="020B0503020204020204" pitchFamily="34" charset="-122"/>
              </a:rPr>
              <a:t>注册时写入</a:t>
            </a:r>
            <a:endParaRPr lang="en-US" altLang="zh-CN" sz="1800" dirty="0">
              <a:latin typeface="微软雅黑" panose="020B0503020204020204" pitchFamily="34" charset="-122"/>
              <a:ea typeface="微软雅黑" panose="020B0503020204020204" pitchFamily="34" charset="-122"/>
            </a:endParaRPr>
          </a:p>
          <a:p>
            <a:pPr>
              <a:lnSpc>
                <a:spcPct val="140000"/>
              </a:lnSpc>
              <a:defRPr sz="2400" spc="300">
                <a:latin typeface="思源黑体"/>
                <a:ea typeface="思源黑体"/>
                <a:cs typeface="思源黑体"/>
                <a:sym typeface="思源黑体"/>
              </a:defRPr>
            </a:pPr>
            <a:r>
              <a:rPr lang="en-US" altLang="zh-CN" sz="1800" dirty="0">
                <a:latin typeface="微软雅黑" panose="020B0503020204020204" pitchFamily="34" charset="-122"/>
                <a:ea typeface="微软雅黑" panose="020B0503020204020204" pitchFamily="34" charset="-122"/>
              </a:rPr>
              <a:t> </a:t>
            </a:r>
          </a:p>
          <a:p>
            <a:pPr>
              <a:lnSpc>
                <a:spcPct val="140000"/>
              </a:lnSpc>
              <a:defRPr sz="2400" spc="300">
                <a:latin typeface="思源黑体"/>
                <a:ea typeface="思源黑体"/>
                <a:cs typeface="思源黑体"/>
                <a:sym typeface="思源黑体"/>
              </a:defRPr>
            </a:pPr>
            <a:r>
              <a:rPr lang="en-US" altLang="zh-CN" sz="1800" dirty="0">
                <a:latin typeface="微软雅黑" panose="020B0503020204020204" pitchFamily="34" charset="-122"/>
                <a:ea typeface="微软雅黑" panose="020B0503020204020204" pitchFamily="34" charset="-122"/>
              </a:rPr>
              <a:t> metrics </a:t>
            </a:r>
            <a:r>
              <a:rPr lang="zh-CN" altLang="en-US" sz="1800" dirty="0">
                <a:latin typeface="微软雅黑" panose="020B0503020204020204" pitchFamily="34" charset="-122"/>
                <a:ea typeface="微软雅黑" panose="020B0503020204020204" pitchFamily="34" charset="-122"/>
              </a:rPr>
              <a:t>类型：</a:t>
            </a:r>
            <a:endParaRPr lang="en-US" altLang="zh-CN" sz="1800" dirty="0">
              <a:latin typeface="微软雅黑" panose="020B0503020204020204" pitchFamily="34" charset="-122"/>
              <a:ea typeface="微软雅黑" panose="020B0503020204020204" pitchFamily="34" charset="-122"/>
            </a:endParaRPr>
          </a:p>
          <a:p>
            <a:pPr>
              <a:lnSpc>
                <a:spcPct val="140000"/>
              </a:lnSpc>
              <a:defRPr sz="2400" spc="300">
                <a:latin typeface="思源黑体"/>
                <a:ea typeface="思源黑体"/>
                <a:cs typeface="思源黑体"/>
                <a:sym typeface="思源黑体"/>
              </a:defRPr>
            </a:pPr>
            <a:r>
              <a:rPr lang="en-US" altLang="zh-CN" sz="1800" dirty="0">
                <a:latin typeface="微软雅黑" panose="020B0503020204020204" pitchFamily="34" charset="-122"/>
                <a:ea typeface="微软雅黑" panose="020B0503020204020204" pitchFamily="34" charset="-122"/>
              </a:rPr>
              <a:t>     counter</a:t>
            </a:r>
            <a:r>
              <a:rPr lang="zh-CN" altLang="en-US" sz="1800" dirty="0">
                <a:latin typeface="微软雅黑" panose="020B0503020204020204" pitchFamily="34" charset="-122"/>
                <a:ea typeface="微软雅黑" panose="020B0503020204020204" pitchFamily="34" charset="-122"/>
              </a:rPr>
              <a:t>： 计数器</a:t>
            </a:r>
            <a:endParaRPr lang="en-US" altLang="zh-CN" sz="1800" dirty="0">
              <a:latin typeface="微软雅黑" panose="020B0503020204020204" pitchFamily="34" charset="-122"/>
              <a:ea typeface="微软雅黑" panose="020B0503020204020204" pitchFamily="34" charset="-122"/>
            </a:endParaRPr>
          </a:p>
          <a:p>
            <a:pPr>
              <a:lnSpc>
                <a:spcPct val="140000"/>
              </a:lnSpc>
              <a:defRPr sz="2400" spc="300">
                <a:latin typeface="思源黑体"/>
                <a:ea typeface="思源黑体"/>
                <a:cs typeface="思源黑体"/>
                <a:sym typeface="思源黑体"/>
              </a:defRPr>
            </a:pPr>
            <a:r>
              <a:rPr lang="en-US" altLang="zh-CN" sz="1800" dirty="0">
                <a:latin typeface="微软雅黑" panose="020B0503020204020204" pitchFamily="34" charset="-122"/>
                <a:ea typeface="微软雅黑" panose="020B0503020204020204" pitchFamily="34" charset="-122"/>
              </a:rPr>
              <a:t>     gauge</a:t>
            </a:r>
            <a:r>
              <a:rPr lang="zh-CN" altLang="en-US" sz="1800" dirty="0">
                <a:latin typeface="微软雅黑" panose="020B0503020204020204" pitchFamily="34" charset="-122"/>
                <a:ea typeface="微软雅黑" panose="020B0503020204020204" pitchFamily="34" charset="-122"/>
              </a:rPr>
              <a:t>： 测量器</a:t>
            </a:r>
            <a:endParaRPr lang="en-US" altLang="zh-CN" sz="1800" dirty="0">
              <a:latin typeface="微软雅黑" panose="020B0503020204020204" pitchFamily="34" charset="-122"/>
              <a:ea typeface="微软雅黑" panose="020B0503020204020204" pitchFamily="34" charset="-122"/>
            </a:endParaRPr>
          </a:p>
          <a:p>
            <a:pPr>
              <a:lnSpc>
                <a:spcPct val="140000"/>
              </a:lnSpc>
              <a:defRPr sz="2400" spc="300">
                <a:latin typeface="思源黑体"/>
                <a:ea typeface="思源黑体"/>
                <a:cs typeface="思源黑体"/>
                <a:sym typeface="思源黑体"/>
              </a:defRPr>
            </a:pPr>
            <a:r>
              <a:rPr lang="en-US" altLang="zh-CN" sz="1800" dirty="0">
                <a:latin typeface="微软雅黑" panose="020B0503020204020204" pitchFamily="34" charset="-122"/>
                <a:ea typeface="微软雅黑" panose="020B0503020204020204" pitchFamily="34" charset="-122"/>
              </a:rPr>
              <a:t>     histogram</a:t>
            </a:r>
            <a:r>
              <a:rPr lang="zh-CN" altLang="en-US" sz="1800" dirty="0">
                <a:latin typeface="微软雅黑" panose="020B0503020204020204" pitchFamily="34" charset="-122"/>
                <a:ea typeface="微软雅黑" panose="020B0503020204020204" pitchFamily="34" charset="-122"/>
              </a:rPr>
              <a:t>：柱状图</a:t>
            </a:r>
            <a:endParaRPr lang="en-US" altLang="zh-CN" sz="1800" dirty="0">
              <a:latin typeface="微软雅黑" panose="020B0503020204020204" pitchFamily="34" charset="-122"/>
              <a:ea typeface="微软雅黑" panose="020B0503020204020204" pitchFamily="34" charset="-122"/>
            </a:endParaRPr>
          </a:p>
          <a:p>
            <a:pPr>
              <a:lnSpc>
                <a:spcPct val="140000"/>
              </a:lnSpc>
              <a:defRPr sz="2400" spc="300">
                <a:latin typeface="思源黑体"/>
                <a:ea typeface="思源黑体"/>
                <a:cs typeface="思源黑体"/>
                <a:sym typeface="思源黑体"/>
              </a:defRPr>
            </a:pPr>
            <a:r>
              <a:rPr lang="en-US" altLang="zh-CN" sz="1800" dirty="0">
                <a:latin typeface="微软雅黑" panose="020B0503020204020204" pitchFamily="34" charset="-122"/>
                <a:ea typeface="微软雅黑" panose="020B0503020204020204" pitchFamily="34" charset="-122"/>
              </a:rPr>
              <a:t>     summary</a:t>
            </a:r>
            <a:r>
              <a:rPr lang="zh-CN" altLang="en-US" sz="1800" dirty="0">
                <a:latin typeface="微软雅黑" panose="020B0503020204020204" pitchFamily="34" charset="-122"/>
                <a:ea typeface="微软雅黑" panose="020B0503020204020204" pitchFamily="34" charset="-122"/>
              </a:rPr>
              <a:t>：采样点分布图</a:t>
            </a:r>
            <a:endParaRPr lang="en-US" altLang="zh-CN" sz="1800" dirty="0">
              <a:latin typeface="微软雅黑" panose="020B0503020204020204" pitchFamily="34" charset="-122"/>
              <a:ea typeface="微软雅黑" panose="020B0503020204020204" pitchFamily="34" charset="-122"/>
            </a:endParaRPr>
          </a:p>
          <a:p>
            <a:pPr>
              <a:lnSpc>
                <a:spcPct val="140000"/>
              </a:lnSpc>
              <a:defRPr sz="2400" spc="300">
                <a:latin typeface="思源黑体"/>
                <a:ea typeface="思源黑体"/>
                <a:cs typeface="思源黑体"/>
                <a:sym typeface="思源黑体"/>
              </a:defRPr>
            </a:pPr>
            <a:r>
              <a:rPr lang="en-US" altLang="zh-CN" sz="1800" dirty="0">
                <a:latin typeface="微软雅黑" panose="020B0503020204020204" pitchFamily="34" charset="-122"/>
                <a:ea typeface="微软雅黑" panose="020B0503020204020204" pitchFamily="34" charset="-122"/>
              </a:rPr>
              <a:t> </a:t>
            </a:r>
          </a:p>
          <a:p>
            <a:pPr>
              <a:lnSpc>
                <a:spcPct val="140000"/>
              </a:lnSpc>
              <a:defRPr sz="2400" spc="300">
                <a:latin typeface="思源黑体"/>
                <a:ea typeface="思源黑体"/>
                <a:cs typeface="思源黑体"/>
                <a:sym typeface="思源黑体"/>
              </a:defRPr>
            </a:pPr>
            <a:r>
              <a:rPr lang="en-US" altLang="zh-CN" sz="1800" dirty="0">
                <a:latin typeface="微软雅黑" panose="020B0503020204020204" pitchFamily="34" charset="-122"/>
                <a:ea typeface="微软雅黑" panose="020B0503020204020204" pitchFamily="34" charset="-122"/>
              </a:rPr>
              <a:t> </a:t>
            </a:r>
          </a:p>
        </p:txBody>
      </p:sp>
      <p:pic>
        <p:nvPicPr>
          <p:cNvPr id="2" name="图片 1">
            <a:extLst>
              <a:ext uri="{FF2B5EF4-FFF2-40B4-BE49-F238E27FC236}">
                <a16:creationId xmlns:a16="http://schemas.microsoft.com/office/drawing/2014/main" id="{E530638C-CAD0-4CF6-A5D1-3FB34F2BDB55}"/>
              </a:ext>
            </a:extLst>
          </p:cNvPr>
          <p:cNvPicPr>
            <a:picLocks noChangeAspect="1"/>
          </p:cNvPicPr>
          <p:nvPr/>
        </p:nvPicPr>
        <p:blipFill>
          <a:blip r:embed="rId2"/>
          <a:stretch>
            <a:fillRect/>
          </a:stretch>
        </p:blipFill>
        <p:spPr>
          <a:xfrm>
            <a:off x="576025" y="2608772"/>
            <a:ext cx="5610225" cy="409575"/>
          </a:xfrm>
          <a:prstGeom prst="rect">
            <a:avLst/>
          </a:prstGeom>
        </p:spPr>
      </p:pic>
    </p:spTree>
    <p:extLst>
      <p:ext uri="{BB962C8B-B14F-4D97-AF65-F5344CB8AC3E}">
        <p14:creationId xmlns:p14="http://schemas.microsoft.com/office/powerpoint/2010/main" val="975849954"/>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标题 1"/>
          <p:cNvSpPr>
            <a:spLocks noGrp="1"/>
          </p:cNvSpPr>
          <p:nvPr>
            <p:ph type="title"/>
          </p:nvPr>
        </p:nvSpPr>
        <p:spPr>
          <a:xfrm>
            <a:off x="576025" y="54787"/>
            <a:ext cx="10368440" cy="1080031"/>
          </a:xfrm>
        </p:spPr>
        <p:txBody>
          <a:bodyPr>
            <a:normAutofit/>
          </a:bodyPr>
          <a:lstStyle/>
          <a:p>
            <a:pPr algn="l"/>
            <a:r>
              <a:rPr lang="zh-CN" altLang="en-US" sz="2800" b="1" dirty="0">
                <a:latin typeface="微软雅黑" panose="020B0503020204020204" pitchFamily="34" charset="-122"/>
                <a:ea typeface="微软雅黑" panose="020B0503020204020204" pitchFamily="34" charset="-122"/>
              </a:rPr>
              <a:t>私有云监控</a:t>
            </a:r>
          </a:p>
        </p:txBody>
      </p:sp>
      <p:sp>
        <p:nvSpPr>
          <p:cNvPr id="3" name="文本框 4"/>
          <p:cNvSpPr txBox="1"/>
          <p:nvPr/>
        </p:nvSpPr>
        <p:spPr>
          <a:xfrm>
            <a:off x="438001" y="997487"/>
            <a:ext cx="10504874" cy="6341288"/>
          </a:xfrm>
          <a:prstGeom prst="rect">
            <a:avLst/>
          </a:prstGeom>
          <a:ln w="12700">
            <a:miter lim="400000"/>
          </a:ln>
          <a:extLst>
            <a:ext uri="{C572A759-6A51-4108-AA02-DFA0A04FC94B}">
              <ma14:wrappingTextBoxFlag xmlns="" xmlns:ma14="http://schemas.microsoft.com/office/mac/drawingml/2011/main" val="1"/>
            </a:ext>
          </a:extLst>
        </p:spPr>
        <p:txBody>
          <a:bodyPr wrap="square" lIns="45719" rIns="45719">
            <a:spAutoFit/>
          </a:bodyPr>
          <a:lstStyle/>
          <a:p>
            <a:pPr>
              <a:lnSpc>
                <a:spcPct val="140000"/>
              </a:lnSpc>
              <a:defRPr sz="2400" spc="300">
                <a:latin typeface="思源黑体"/>
                <a:ea typeface="思源黑体"/>
                <a:cs typeface="思源黑体"/>
                <a:sym typeface="思源黑体"/>
              </a:defRPr>
            </a:pPr>
            <a:r>
              <a:rPr lang="en-US" altLang="zh-CN" sz="1800" dirty="0">
                <a:latin typeface="微软雅黑" panose="020B0503020204020204" pitchFamily="34" charset="-122"/>
                <a:ea typeface="微软雅黑" panose="020B0503020204020204" pitchFamily="34" charset="-122"/>
              </a:rPr>
              <a:t> </a:t>
            </a:r>
            <a:r>
              <a:rPr lang="en-US" altLang="zh-CN" sz="1800" dirty="0" err="1">
                <a:latin typeface="微软雅黑" panose="020B0503020204020204" pitchFamily="34" charset="-122"/>
                <a:ea typeface="微软雅黑" panose="020B0503020204020204" pitchFamily="34" charset="-122"/>
              </a:rPr>
              <a:t>promql</a:t>
            </a:r>
            <a:r>
              <a:rPr lang="zh-CN" altLang="en-US" sz="1800" dirty="0">
                <a:latin typeface="微软雅黑" panose="020B0503020204020204" pitchFamily="34" charset="-122"/>
                <a:ea typeface="微软雅黑" panose="020B0503020204020204" pitchFamily="34" charset="-122"/>
              </a:rPr>
              <a:t>：数据查询语言</a:t>
            </a:r>
            <a:endParaRPr lang="en-US" altLang="zh-CN" sz="1800" dirty="0">
              <a:latin typeface="微软雅黑" panose="020B0503020204020204" pitchFamily="34" charset="-122"/>
              <a:ea typeface="微软雅黑" panose="020B0503020204020204" pitchFamily="34" charset="-122"/>
            </a:endParaRPr>
          </a:p>
          <a:p>
            <a:pPr>
              <a:lnSpc>
                <a:spcPct val="140000"/>
              </a:lnSpc>
              <a:defRPr sz="2400" spc="300">
                <a:latin typeface="思源黑体"/>
                <a:ea typeface="思源黑体"/>
                <a:cs typeface="思源黑体"/>
                <a:sym typeface="思源黑体"/>
              </a:defRPr>
            </a:pPr>
            <a:endParaRPr lang="en-US" altLang="zh-CN" sz="1800" dirty="0">
              <a:latin typeface="微软雅黑" panose="020B0503020204020204" pitchFamily="34" charset="-122"/>
              <a:ea typeface="微软雅黑" panose="020B0503020204020204" pitchFamily="34" charset="-122"/>
            </a:endParaRPr>
          </a:p>
          <a:p>
            <a:pPr>
              <a:lnSpc>
                <a:spcPct val="140000"/>
              </a:lnSpc>
              <a:defRPr sz="2400" spc="300">
                <a:latin typeface="思源黑体"/>
                <a:ea typeface="思源黑体"/>
                <a:cs typeface="思源黑体"/>
                <a:sym typeface="思源黑体"/>
              </a:defRPr>
            </a:pPr>
            <a:r>
              <a:rPr lang="en-US" altLang="zh-CN" sz="1800" dirty="0">
                <a:latin typeface="微软雅黑" panose="020B0503020204020204" pitchFamily="34" charset="-122"/>
                <a:ea typeface="微软雅黑" panose="020B0503020204020204" pitchFamily="34" charset="-122"/>
              </a:rPr>
              <a:t> </a:t>
            </a:r>
            <a:r>
              <a:rPr lang="en-US" altLang="zh-CN" sz="1800" dirty="0" err="1">
                <a:latin typeface="微软雅黑" panose="020B0503020204020204" pitchFamily="34" charset="-122"/>
                <a:ea typeface="微软雅黑" panose="020B0503020204020204" pitchFamily="34" charset="-122"/>
              </a:rPr>
              <a:t>promql</a:t>
            </a:r>
            <a:r>
              <a:rPr lang="zh-CN" altLang="en-US" sz="1800" dirty="0">
                <a:latin typeface="微软雅黑" panose="020B0503020204020204" pitchFamily="34" charset="-122"/>
                <a:ea typeface="微软雅黑" panose="020B0503020204020204" pitchFamily="34" charset="-122"/>
              </a:rPr>
              <a:t>支持三种类型：</a:t>
            </a:r>
            <a:endParaRPr lang="en-US" altLang="zh-CN" sz="1800" dirty="0">
              <a:latin typeface="微软雅黑" panose="020B0503020204020204" pitchFamily="34" charset="-122"/>
              <a:ea typeface="微软雅黑" panose="020B0503020204020204" pitchFamily="34" charset="-122"/>
            </a:endParaRPr>
          </a:p>
          <a:p>
            <a:pPr>
              <a:lnSpc>
                <a:spcPct val="140000"/>
              </a:lnSpc>
              <a:defRPr sz="2400" spc="300">
                <a:latin typeface="思源黑体"/>
                <a:ea typeface="思源黑体"/>
                <a:cs typeface="思源黑体"/>
                <a:sym typeface="思源黑体"/>
              </a:defRPr>
            </a:pPr>
            <a:r>
              <a:rPr lang="en-US" altLang="zh-CN" sz="1800" dirty="0">
                <a:latin typeface="微软雅黑" panose="020B0503020204020204" pitchFamily="34" charset="-122"/>
                <a:ea typeface="微软雅黑" panose="020B0503020204020204" pitchFamily="34" charset="-122"/>
              </a:rPr>
              <a:t>	</a:t>
            </a:r>
            <a:r>
              <a:rPr lang="zh-CN" altLang="en-US" sz="1400" dirty="0">
                <a:latin typeface="微软雅黑" panose="020B0503020204020204" pitchFamily="34" charset="-122"/>
                <a:ea typeface="微软雅黑" panose="020B0503020204020204" pitchFamily="34" charset="-122"/>
              </a:rPr>
              <a:t>顺时数据： 包含一组时序， 每个时序只有一个点</a:t>
            </a:r>
            <a:r>
              <a:rPr lang="en-US" altLang="zh-CN" sz="1400" dirty="0">
                <a:latin typeface="微软雅黑" panose="020B0503020204020204" pitchFamily="34" charset="-122"/>
                <a:ea typeface="微软雅黑" panose="020B0503020204020204" pitchFamily="34" charset="-122"/>
              </a:rPr>
              <a:t>  		  </a:t>
            </a:r>
            <a:r>
              <a:rPr lang="en-US" altLang="zh-CN" sz="1400" dirty="0" err="1">
                <a:latin typeface="微软雅黑" panose="020B0503020204020204" pitchFamily="34" charset="-122"/>
                <a:ea typeface="微软雅黑" panose="020B0503020204020204" pitchFamily="34" charset="-122"/>
              </a:rPr>
              <a:t>node_cpu_seconds_total</a:t>
            </a:r>
            <a:endParaRPr lang="en-US" altLang="zh-CN" sz="1400" dirty="0">
              <a:latin typeface="微软雅黑" panose="020B0503020204020204" pitchFamily="34" charset="-122"/>
              <a:ea typeface="微软雅黑" panose="020B0503020204020204" pitchFamily="34" charset="-122"/>
            </a:endParaRPr>
          </a:p>
          <a:p>
            <a:pPr>
              <a:lnSpc>
                <a:spcPct val="140000"/>
              </a:lnSpc>
              <a:defRPr sz="2400" spc="300">
                <a:latin typeface="思源黑体"/>
                <a:ea typeface="思源黑体"/>
                <a:cs typeface="思源黑体"/>
                <a:sym typeface="思源黑体"/>
              </a:defRPr>
            </a:pPr>
            <a:r>
              <a:rPr lang="en-US" altLang="zh-CN" sz="1400" dirty="0">
                <a:latin typeface="微软雅黑" panose="020B0503020204020204" pitchFamily="34" charset="-122"/>
                <a:ea typeface="微软雅黑" panose="020B0503020204020204" pitchFamily="34" charset="-122"/>
              </a:rPr>
              <a:t>	</a:t>
            </a:r>
            <a:r>
              <a:rPr lang="zh-CN" altLang="en-US" sz="1400" dirty="0">
                <a:latin typeface="微软雅黑" panose="020B0503020204020204" pitchFamily="34" charset="-122"/>
                <a:ea typeface="微软雅黑" panose="020B0503020204020204" pitchFamily="34" charset="-122"/>
              </a:rPr>
              <a:t>区间数据： 包含一组时序， 每个时序有多个点</a:t>
            </a:r>
            <a:r>
              <a:rPr lang="en-US" altLang="zh-CN" sz="1400" dirty="0">
                <a:latin typeface="微软雅黑" panose="020B0503020204020204" pitchFamily="34" charset="-122"/>
                <a:ea typeface="微软雅黑" panose="020B0503020204020204" pitchFamily="34" charset="-122"/>
              </a:rPr>
              <a:t>			</a:t>
            </a:r>
            <a:r>
              <a:rPr lang="en-US" altLang="zh-CN" sz="1400" dirty="0" err="1">
                <a:latin typeface="微软雅黑" panose="020B0503020204020204" pitchFamily="34" charset="-122"/>
                <a:ea typeface="微软雅黑" panose="020B0503020204020204" pitchFamily="34" charset="-122"/>
              </a:rPr>
              <a:t>node_cpu_seconds_total</a:t>
            </a:r>
            <a:r>
              <a:rPr lang="en-US" altLang="zh-CN" sz="1400" dirty="0">
                <a:latin typeface="微软雅黑" panose="020B0503020204020204" pitchFamily="34" charset="-122"/>
                <a:ea typeface="微软雅黑" panose="020B0503020204020204" pitchFamily="34" charset="-122"/>
              </a:rPr>
              <a:t>[4m]</a:t>
            </a:r>
          </a:p>
          <a:p>
            <a:pPr>
              <a:lnSpc>
                <a:spcPct val="140000"/>
              </a:lnSpc>
              <a:defRPr sz="2400" spc="300">
                <a:latin typeface="思源黑体"/>
                <a:ea typeface="思源黑体"/>
                <a:cs typeface="思源黑体"/>
                <a:sym typeface="思源黑体"/>
              </a:defRPr>
            </a:pPr>
            <a:r>
              <a:rPr lang="en-US" altLang="zh-CN" sz="1400" dirty="0">
                <a:latin typeface="微软雅黑" panose="020B0503020204020204" pitchFamily="34" charset="-122"/>
                <a:ea typeface="微软雅黑" panose="020B0503020204020204" pitchFamily="34" charset="-122"/>
              </a:rPr>
              <a:t>      </a:t>
            </a:r>
            <a:r>
              <a:rPr lang="zh-CN" altLang="en-US" sz="1400" dirty="0">
                <a:latin typeface="微软雅黑" panose="020B0503020204020204" pitchFamily="34" charset="-122"/>
                <a:ea typeface="微软雅黑" panose="020B0503020204020204" pitchFamily="34" charset="-122"/>
              </a:rPr>
              <a:t>纯量数据： 只有一个数字， 没有时序</a:t>
            </a:r>
            <a:r>
              <a:rPr lang="en-US" altLang="zh-CN" sz="1400" dirty="0">
                <a:latin typeface="微软雅黑" panose="020B0503020204020204" pitchFamily="34" charset="-122"/>
                <a:ea typeface="微软雅黑" panose="020B0503020204020204" pitchFamily="34" charset="-122"/>
              </a:rPr>
              <a:t>		      	   count</a:t>
            </a:r>
            <a:r>
              <a:rPr lang="zh-CN" altLang="en-US" sz="1400" dirty="0">
                <a:latin typeface="微软雅黑" panose="020B0503020204020204" pitchFamily="34" charset="-122"/>
                <a:ea typeface="微软雅黑" panose="020B0503020204020204" pitchFamily="34" charset="-122"/>
              </a:rPr>
              <a:t>（</a:t>
            </a:r>
            <a:r>
              <a:rPr lang="en-US" altLang="zh-CN" sz="1400" dirty="0" err="1">
                <a:latin typeface="微软雅黑" panose="020B0503020204020204" pitchFamily="34" charset="-122"/>
                <a:ea typeface="微软雅黑" panose="020B0503020204020204" pitchFamily="34" charset="-122"/>
              </a:rPr>
              <a:t>node_cpu_seconds_total</a:t>
            </a:r>
            <a:r>
              <a:rPr lang="en-US" altLang="zh-CN" sz="1400" dirty="0">
                <a:latin typeface="微软雅黑" panose="020B0503020204020204" pitchFamily="34" charset="-122"/>
                <a:ea typeface="微软雅黑" panose="020B0503020204020204" pitchFamily="34" charset="-122"/>
              </a:rPr>
              <a:t>)</a:t>
            </a:r>
            <a:endParaRPr lang="en-US" altLang="zh-CN" sz="1800" dirty="0">
              <a:latin typeface="微软雅黑" panose="020B0503020204020204" pitchFamily="34" charset="-122"/>
              <a:ea typeface="微软雅黑" panose="020B0503020204020204" pitchFamily="34" charset="-122"/>
            </a:endParaRPr>
          </a:p>
          <a:p>
            <a:pPr>
              <a:lnSpc>
                <a:spcPct val="140000"/>
              </a:lnSpc>
              <a:defRPr sz="2400" spc="300">
                <a:latin typeface="思源黑体"/>
                <a:ea typeface="思源黑体"/>
                <a:cs typeface="思源黑体"/>
                <a:sym typeface="思源黑体"/>
              </a:defRPr>
            </a:pPr>
            <a:r>
              <a:rPr lang="en-US" altLang="zh-CN" sz="1800" dirty="0">
                <a:latin typeface="微软雅黑" panose="020B0503020204020204" pitchFamily="34" charset="-122"/>
                <a:ea typeface="微软雅黑" panose="020B0503020204020204" pitchFamily="34" charset="-122"/>
              </a:rPr>
              <a:t> </a:t>
            </a:r>
            <a:r>
              <a:rPr lang="zh-CN" altLang="en-US" sz="1800" dirty="0">
                <a:latin typeface="微软雅黑" panose="020B0503020204020204" pitchFamily="34" charset="-122"/>
                <a:ea typeface="微软雅黑" panose="020B0503020204020204" pitchFamily="34" charset="-122"/>
              </a:rPr>
              <a:t>过滤条件：</a:t>
            </a:r>
            <a:endParaRPr lang="en-US" altLang="zh-CN" sz="1800" dirty="0">
              <a:latin typeface="微软雅黑" panose="020B0503020204020204" pitchFamily="34" charset="-122"/>
              <a:ea typeface="微软雅黑" panose="020B0503020204020204" pitchFamily="34" charset="-122"/>
            </a:endParaRPr>
          </a:p>
          <a:p>
            <a:pPr>
              <a:lnSpc>
                <a:spcPct val="140000"/>
              </a:lnSpc>
              <a:defRPr sz="2400" spc="300">
                <a:latin typeface="思源黑体"/>
                <a:ea typeface="思源黑体"/>
                <a:cs typeface="思源黑体"/>
                <a:sym typeface="思源黑体"/>
              </a:defRPr>
            </a:pPr>
            <a:r>
              <a:rPr lang="en-US" altLang="zh-CN" sz="1800" dirty="0">
                <a:latin typeface="微软雅黑" panose="020B0503020204020204" pitchFamily="34" charset="-122"/>
                <a:ea typeface="微软雅黑" panose="020B0503020204020204" pitchFamily="34" charset="-122"/>
              </a:rPr>
              <a:t>	</a:t>
            </a:r>
            <a:r>
              <a:rPr lang="zh-CN" altLang="en-US" sz="1800" dirty="0">
                <a:latin typeface="微软雅黑" panose="020B0503020204020204" pitchFamily="34" charset="-122"/>
                <a:ea typeface="微软雅黑" panose="020B0503020204020204" pitchFamily="34" charset="-122"/>
              </a:rPr>
              <a:t>通过</a:t>
            </a:r>
            <a:r>
              <a:rPr lang="en-US" altLang="zh-CN" sz="1800" dirty="0">
                <a:latin typeface="微软雅黑" panose="020B0503020204020204" pitchFamily="34" charset="-122"/>
                <a:ea typeface="微软雅黑" panose="020B0503020204020204" pitchFamily="34" charset="-122"/>
              </a:rPr>
              <a:t>metric</a:t>
            </a:r>
            <a:r>
              <a:rPr lang="zh-CN" altLang="en-US" sz="1800" dirty="0">
                <a:latin typeface="微软雅黑" panose="020B0503020204020204" pitchFamily="34" charset="-122"/>
                <a:ea typeface="微软雅黑" panose="020B0503020204020204" pitchFamily="34" charset="-122"/>
              </a:rPr>
              <a:t>和</a:t>
            </a:r>
            <a:r>
              <a:rPr lang="en-US" altLang="zh-CN" sz="1800" dirty="0">
                <a:latin typeface="微软雅黑" panose="020B0503020204020204" pitchFamily="34" charset="-122"/>
                <a:ea typeface="微软雅黑" panose="020B0503020204020204" pitchFamily="34" charset="-122"/>
              </a:rPr>
              <a:t>labels</a:t>
            </a:r>
            <a:r>
              <a:rPr lang="zh-CN" altLang="en-US" sz="1800" dirty="0">
                <a:latin typeface="微软雅黑" panose="020B0503020204020204" pitchFamily="34" charset="-122"/>
                <a:ea typeface="微软雅黑" panose="020B0503020204020204" pitchFamily="34" charset="-122"/>
              </a:rPr>
              <a:t>进行过滤</a:t>
            </a:r>
            <a:endParaRPr lang="en-US" altLang="zh-CN" sz="1800" dirty="0">
              <a:latin typeface="微软雅黑" panose="020B0503020204020204" pitchFamily="34" charset="-122"/>
              <a:ea typeface="微软雅黑" panose="020B0503020204020204" pitchFamily="34" charset="-122"/>
            </a:endParaRPr>
          </a:p>
          <a:p>
            <a:pPr>
              <a:lnSpc>
                <a:spcPct val="140000"/>
              </a:lnSpc>
              <a:defRPr sz="2400" spc="300">
                <a:latin typeface="思源黑体"/>
                <a:ea typeface="思源黑体"/>
                <a:cs typeface="思源黑体"/>
                <a:sym typeface="思源黑体"/>
              </a:defRPr>
            </a:pPr>
            <a:endParaRPr lang="en-US" altLang="zh-CN" sz="1800" dirty="0">
              <a:latin typeface="微软雅黑" panose="020B0503020204020204" pitchFamily="34" charset="-122"/>
              <a:ea typeface="微软雅黑" panose="020B0503020204020204" pitchFamily="34" charset="-122"/>
            </a:endParaRPr>
          </a:p>
          <a:p>
            <a:pPr>
              <a:lnSpc>
                <a:spcPct val="140000"/>
              </a:lnSpc>
              <a:defRPr sz="2400" spc="300">
                <a:latin typeface="思源黑体"/>
                <a:ea typeface="思源黑体"/>
                <a:cs typeface="思源黑体"/>
                <a:sym typeface="思源黑体"/>
              </a:defRPr>
            </a:pPr>
            <a:r>
              <a:rPr lang="en-US" altLang="zh-CN" sz="1800" dirty="0">
                <a:latin typeface="微软雅黑" panose="020B0503020204020204" pitchFamily="34" charset="-122"/>
                <a:ea typeface="微软雅黑" panose="020B0503020204020204" pitchFamily="34" charset="-122"/>
              </a:rPr>
              <a:t> </a:t>
            </a:r>
            <a:r>
              <a:rPr lang="zh-CN" altLang="en-US" sz="1800" dirty="0">
                <a:latin typeface="微软雅黑" panose="020B0503020204020204" pitchFamily="34" charset="-122"/>
                <a:ea typeface="微软雅黑" panose="020B0503020204020204" pitchFamily="34" charset="-122"/>
              </a:rPr>
              <a:t>函数支持：</a:t>
            </a:r>
            <a:endParaRPr lang="en-US" altLang="zh-CN" sz="1800" dirty="0">
              <a:latin typeface="微软雅黑" panose="020B0503020204020204" pitchFamily="34" charset="-122"/>
              <a:ea typeface="微软雅黑" panose="020B0503020204020204" pitchFamily="34" charset="-122"/>
            </a:endParaRPr>
          </a:p>
          <a:p>
            <a:pPr>
              <a:lnSpc>
                <a:spcPct val="140000"/>
              </a:lnSpc>
              <a:defRPr sz="2400" spc="300">
                <a:latin typeface="思源黑体"/>
                <a:ea typeface="思源黑体"/>
                <a:cs typeface="思源黑体"/>
                <a:sym typeface="思源黑体"/>
              </a:defRPr>
            </a:pPr>
            <a:r>
              <a:rPr lang="en-US" altLang="zh-CN" sz="1800" dirty="0">
                <a:latin typeface="微软雅黑" panose="020B0503020204020204" pitchFamily="34" charset="-122"/>
                <a:ea typeface="微软雅黑" panose="020B0503020204020204" pitchFamily="34" charset="-122"/>
              </a:rPr>
              <a:t>     </a:t>
            </a:r>
            <a:r>
              <a:rPr lang="zh-CN" altLang="en-US" sz="1600" dirty="0">
                <a:latin typeface="微软雅黑" panose="020B0503020204020204" pitchFamily="34" charset="-122"/>
                <a:ea typeface="微软雅黑" panose="020B0503020204020204" pitchFamily="34" charset="-122"/>
              </a:rPr>
              <a:t>算数运算符： </a:t>
            </a:r>
            <a:r>
              <a:rPr lang="en-US" altLang="zh-CN" sz="1600" dirty="0">
                <a:latin typeface="微软雅黑" panose="020B0503020204020204" pitchFamily="34" charset="-122"/>
                <a:ea typeface="微软雅黑" panose="020B0503020204020204" pitchFamily="34" charset="-122"/>
              </a:rPr>
              <a:t>+ - </a:t>
            </a:r>
            <a:r>
              <a:rPr lang="zh-CN" altLang="en-US" sz="1600" dirty="0">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a:t>
            </a:r>
          </a:p>
          <a:p>
            <a:pPr>
              <a:lnSpc>
                <a:spcPct val="140000"/>
              </a:lnSpc>
              <a:defRPr sz="2400" spc="300">
                <a:latin typeface="思源黑体"/>
                <a:ea typeface="思源黑体"/>
                <a:cs typeface="思源黑体"/>
                <a:sym typeface="思源黑体"/>
              </a:defRPr>
            </a:pPr>
            <a:r>
              <a:rPr lang="en-US" altLang="zh-CN" sz="1600" dirty="0">
                <a:latin typeface="微软雅黑" panose="020B0503020204020204" pitchFamily="34" charset="-122"/>
                <a:ea typeface="微软雅黑" panose="020B0503020204020204" pitchFamily="34" charset="-122"/>
              </a:rPr>
              <a:t>     </a:t>
            </a:r>
            <a:r>
              <a:rPr lang="zh-CN" altLang="en-US" sz="1600" dirty="0">
                <a:latin typeface="微软雅黑" panose="020B0503020204020204" pitchFamily="34" charset="-122"/>
                <a:ea typeface="微软雅黑" panose="020B0503020204020204" pitchFamily="34" charset="-122"/>
              </a:rPr>
              <a:t>比较运算符： </a:t>
            </a:r>
            <a:r>
              <a:rPr lang="en-US" altLang="zh-CN" sz="1600" dirty="0">
                <a:latin typeface="微软雅黑" panose="020B0503020204020204" pitchFamily="34" charset="-122"/>
                <a:ea typeface="微软雅黑" panose="020B0503020204020204" pitchFamily="34" charset="-122"/>
              </a:rPr>
              <a:t>&gt; = &lt;</a:t>
            </a:r>
            <a:r>
              <a:rPr lang="zh-CN" altLang="en-US" sz="1600" dirty="0">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rPr>
              <a:t>=</a:t>
            </a:r>
          </a:p>
          <a:p>
            <a:pPr>
              <a:lnSpc>
                <a:spcPct val="140000"/>
              </a:lnSpc>
              <a:defRPr sz="2400" spc="300">
                <a:latin typeface="思源黑体"/>
                <a:ea typeface="思源黑体"/>
                <a:cs typeface="思源黑体"/>
                <a:sym typeface="思源黑体"/>
              </a:defRPr>
            </a:pPr>
            <a:r>
              <a:rPr lang="en-US" altLang="zh-CN" sz="1600" dirty="0">
                <a:latin typeface="微软雅黑" panose="020B0503020204020204" pitchFamily="34" charset="-122"/>
                <a:ea typeface="微软雅黑" panose="020B0503020204020204" pitchFamily="34" charset="-122"/>
              </a:rPr>
              <a:t>     </a:t>
            </a:r>
            <a:r>
              <a:rPr lang="zh-CN" altLang="en-US" sz="1600" dirty="0">
                <a:latin typeface="微软雅黑" panose="020B0503020204020204" pitchFamily="34" charset="-122"/>
                <a:ea typeface="微软雅黑" panose="020B0503020204020204" pitchFamily="34" charset="-122"/>
              </a:rPr>
              <a:t>逻辑运算符</a:t>
            </a:r>
            <a:r>
              <a:rPr lang="en-US" altLang="zh-CN" sz="1600" dirty="0">
                <a:latin typeface="微软雅黑" panose="020B0503020204020204" pitchFamily="34" charset="-122"/>
                <a:ea typeface="微软雅黑" panose="020B0503020204020204" pitchFamily="34" charset="-122"/>
              </a:rPr>
              <a:t>: and or  </a:t>
            </a:r>
          </a:p>
          <a:p>
            <a:pPr>
              <a:lnSpc>
                <a:spcPct val="140000"/>
              </a:lnSpc>
              <a:defRPr sz="2400" spc="300">
                <a:latin typeface="思源黑体"/>
                <a:ea typeface="思源黑体"/>
                <a:cs typeface="思源黑体"/>
                <a:sym typeface="思源黑体"/>
              </a:defRPr>
            </a:pPr>
            <a:r>
              <a:rPr lang="en-US" altLang="zh-CN" sz="1600" dirty="0">
                <a:latin typeface="微软雅黑" panose="020B0503020204020204" pitchFamily="34" charset="-122"/>
                <a:ea typeface="微软雅黑" panose="020B0503020204020204" pitchFamily="34" charset="-122"/>
              </a:rPr>
              <a:t>     </a:t>
            </a:r>
            <a:r>
              <a:rPr lang="zh-CN" altLang="en-US" sz="1600" dirty="0">
                <a:latin typeface="微软雅黑" panose="020B0503020204020204" pitchFamily="34" charset="-122"/>
                <a:ea typeface="微软雅黑" panose="020B0503020204020204" pitchFamily="34" charset="-122"/>
              </a:rPr>
              <a:t>聚合运算符： </a:t>
            </a:r>
            <a:r>
              <a:rPr lang="en-US" altLang="zh-CN" sz="1600" dirty="0">
                <a:latin typeface="微软雅黑" panose="020B0503020204020204" pitchFamily="34" charset="-122"/>
                <a:ea typeface="微软雅黑" panose="020B0503020204020204" pitchFamily="34" charset="-122"/>
              </a:rPr>
              <a:t>sum min rate avg </a:t>
            </a:r>
            <a:r>
              <a:rPr lang="en-US" altLang="zh-CN" sz="1600" dirty="0" err="1">
                <a:latin typeface="微软雅黑" panose="020B0503020204020204" pitchFamily="34" charset="-122"/>
                <a:ea typeface="微软雅黑" panose="020B0503020204020204" pitchFamily="34" charset="-122"/>
              </a:rPr>
              <a:t>topk</a:t>
            </a:r>
            <a:endParaRPr lang="en-US" altLang="zh-CN" sz="1600" dirty="0">
              <a:latin typeface="微软雅黑" panose="020B0503020204020204" pitchFamily="34" charset="-122"/>
              <a:ea typeface="微软雅黑" panose="020B0503020204020204" pitchFamily="34" charset="-122"/>
            </a:endParaRPr>
          </a:p>
          <a:p>
            <a:pPr>
              <a:lnSpc>
                <a:spcPct val="140000"/>
              </a:lnSpc>
              <a:defRPr sz="2400" spc="300">
                <a:latin typeface="思源黑体"/>
                <a:ea typeface="思源黑体"/>
                <a:cs typeface="思源黑体"/>
                <a:sym typeface="思源黑体"/>
              </a:defRPr>
            </a:pPr>
            <a:endParaRPr lang="en-US" altLang="zh-CN" sz="1800" dirty="0">
              <a:latin typeface="微软雅黑" panose="020B0503020204020204" pitchFamily="34" charset="-122"/>
              <a:ea typeface="微软雅黑" panose="020B0503020204020204" pitchFamily="34" charset="-122"/>
            </a:endParaRPr>
          </a:p>
          <a:p>
            <a:pPr>
              <a:lnSpc>
                <a:spcPct val="140000"/>
              </a:lnSpc>
              <a:defRPr sz="2400" spc="300">
                <a:latin typeface="思源黑体"/>
                <a:ea typeface="思源黑体"/>
                <a:cs typeface="思源黑体"/>
                <a:sym typeface="思源黑体"/>
              </a:defRPr>
            </a:pPr>
            <a:endParaRPr lang="en-US" altLang="zh-CN" sz="1800" dirty="0">
              <a:latin typeface="微软雅黑" panose="020B0503020204020204" pitchFamily="34" charset="-122"/>
              <a:ea typeface="微软雅黑" panose="020B0503020204020204" pitchFamily="34" charset="-122"/>
            </a:endParaRPr>
          </a:p>
          <a:p>
            <a:pPr>
              <a:lnSpc>
                <a:spcPct val="140000"/>
              </a:lnSpc>
              <a:defRPr sz="2400" spc="300">
                <a:latin typeface="思源黑体"/>
                <a:ea typeface="思源黑体"/>
                <a:cs typeface="思源黑体"/>
                <a:sym typeface="思源黑体"/>
              </a:defRPr>
            </a:pPr>
            <a:r>
              <a:rPr lang="en-US" altLang="zh-CN" sz="1800" dirty="0">
                <a:latin typeface="微软雅黑" panose="020B0503020204020204" pitchFamily="34" charset="-122"/>
                <a:ea typeface="微软雅黑" panose="020B0503020204020204" pitchFamily="34" charset="-122"/>
              </a:rPr>
              <a:t> </a:t>
            </a:r>
          </a:p>
        </p:txBody>
      </p:sp>
      <p:pic>
        <p:nvPicPr>
          <p:cNvPr id="4" name="图片 3">
            <a:extLst>
              <a:ext uri="{FF2B5EF4-FFF2-40B4-BE49-F238E27FC236}">
                <a16:creationId xmlns:a16="http://schemas.microsoft.com/office/drawing/2014/main" id="{9034B999-DD69-4582-9547-2066000CD38B}"/>
              </a:ext>
            </a:extLst>
          </p:cNvPr>
          <p:cNvPicPr>
            <a:picLocks noChangeAspect="1"/>
          </p:cNvPicPr>
          <p:nvPr/>
        </p:nvPicPr>
        <p:blipFill>
          <a:blip r:embed="rId3"/>
          <a:stretch>
            <a:fillRect/>
          </a:stretch>
        </p:blipFill>
        <p:spPr>
          <a:xfrm>
            <a:off x="933213" y="3963343"/>
            <a:ext cx="5610225" cy="409575"/>
          </a:xfrm>
          <a:prstGeom prst="rect">
            <a:avLst/>
          </a:prstGeom>
        </p:spPr>
      </p:pic>
    </p:spTree>
    <p:extLst>
      <p:ext uri="{BB962C8B-B14F-4D97-AF65-F5344CB8AC3E}">
        <p14:creationId xmlns:p14="http://schemas.microsoft.com/office/powerpoint/2010/main" val="3050668870"/>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标题 1"/>
          <p:cNvSpPr>
            <a:spLocks noGrp="1"/>
          </p:cNvSpPr>
          <p:nvPr>
            <p:ph type="title"/>
          </p:nvPr>
        </p:nvSpPr>
        <p:spPr>
          <a:xfrm>
            <a:off x="576025" y="54787"/>
            <a:ext cx="10368440" cy="1080031"/>
          </a:xfrm>
        </p:spPr>
        <p:txBody>
          <a:bodyPr>
            <a:normAutofit/>
          </a:bodyPr>
          <a:lstStyle/>
          <a:p>
            <a:pPr algn="l"/>
            <a:r>
              <a:rPr lang="zh-CN" altLang="en-US" sz="2800" b="1" dirty="0">
                <a:latin typeface="微软雅黑" panose="020B0503020204020204" pitchFamily="34" charset="-122"/>
                <a:ea typeface="微软雅黑" panose="020B0503020204020204" pitchFamily="34" charset="-122"/>
              </a:rPr>
              <a:t>私有云监控</a:t>
            </a:r>
          </a:p>
        </p:txBody>
      </p:sp>
      <p:sp>
        <p:nvSpPr>
          <p:cNvPr id="3" name="文本框 4"/>
          <p:cNvSpPr txBox="1"/>
          <p:nvPr/>
        </p:nvSpPr>
        <p:spPr>
          <a:xfrm>
            <a:off x="438001" y="997487"/>
            <a:ext cx="10956140" cy="6168933"/>
          </a:xfrm>
          <a:prstGeom prst="rect">
            <a:avLst/>
          </a:prstGeom>
          <a:ln w="12700">
            <a:miter lim="400000"/>
          </a:ln>
          <a:extLst>
            <a:ext uri="{C572A759-6A51-4108-AA02-DFA0A04FC94B}">
              <ma14:wrappingTextBoxFlag xmlns="" xmlns:ma14="http://schemas.microsoft.com/office/mac/drawingml/2011/main" val="1"/>
            </a:ext>
          </a:extLst>
        </p:spPr>
        <p:txBody>
          <a:bodyPr wrap="square" lIns="45719" rIns="45719">
            <a:spAutoFit/>
          </a:bodyPr>
          <a:lstStyle/>
          <a:p>
            <a:pPr>
              <a:lnSpc>
                <a:spcPct val="140000"/>
              </a:lnSpc>
              <a:defRPr sz="2400" spc="300">
                <a:latin typeface="思源黑体"/>
                <a:ea typeface="思源黑体"/>
                <a:cs typeface="思源黑体"/>
                <a:sym typeface="思源黑体"/>
              </a:defRPr>
            </a:pPr>
            <a:r>
              <a:rPr lang="en-US" altLang="zh-CN" sz="1600" dirty="0">
                <a:latin typeface="微软雅黑" panose="020B0503020204020204" pitchFamily="34" charset="-122"/>
                <a:ea typeface="微软雅黑" panose="020B0503020204020204" pitchFamily="34" charset="-122"/>
              </a:rPr>
              <a:t>Local storage &amp;&amp; remote storage</a:t>
            </a:r>
          </a:p>
          <a:p>
            <a:pPr>
              <a:lnSpc>
                <a:spcPct val="140000"/>
              </a:lnSpc>
              <a:defRPr sz="2400" spc="300">
                <a:latin typeface="思源黑体"/>
                <a:ea typeface="思源黑体"/>
                <a:cs typeface="思源黑体"/>
                <a:sym typeface="思源黑体"/>
              </a:defRPr>
            </a:pPr>
            <a:r>
              <a:rPr lang="zh-CN" altLang="en-US" sz="1600" dirty="0">
                <a:latin typeface="微软雅黑" panose="020B0503020204020204" pitchFamily="34" charset="-122"/>
                <a:ea typeface="微软雅黑" panose="020B0503020204020204" pitchFamily="34" charset="-122"/>
              </a:rPr>
              <a:t>本地存储：在不依赖外部存储的情况下，支持服务节点的本地存储， 通过</a:t>
            </a:r>
            <a:r>
              <a:rPr lang="en-US" altLang="zh-CN" sz="1600" dirty="0" err="1">
                <a:latin typeface="微软雅黑" panose="020B0503020204020204" pitchFamily="34" charset="-122"/>
                <a:ea typeface="微软雅黑" panose="020B0503020204020204" pitchFamily="34" charset="-122"/>
              </a:rPr>
              <a:t>prometheus</a:t>
            </a:r>
            <a:r>
              <a:rPr lang="zh-CN" altLang="en-US" sz="1600" dirty="0">
                <a:latin typeface="微软雅黑" panose="020B0503020204020204" pitchFamily="34" charset="-122"/>
                <a:ea typeface="微软雅黑" panose="020B0503020204020204" pitchFamily="34" charset="-122"/>
              </a:rPr>
              <a:t>自带的时序数据库， 可以完成每秒千万级别的数据存储</a:t>
            </a:r>
            <a:endParaRPr lang="en-US" altLang="zh-CN" sz="1600" dirty="0">
              <a:latin typeface="微软雅黑" panose="020B0503020204020204" pitchFamily="34" charset="-122"/>
              <a:ea typeface="微软雅黑" panose="020B0503020204020204" pitchFamily="34" charset="-122"/>
            </a:endParaRPr>
          </a:p>
          <a:p>
            <a:pPr>
              <a:lnSpc>
                <a:spcPct val="140000"/>
              </a:lnSpc>
              <a:defRPr sz="2400" spc="300">
                <a:latin typeface="思源黑体"/>
                <a:ea typeface="思源黑体"/>
                <a:cs typeface="思源黑体"/>
                <a:sym typeface="思源黑体"/>
              </a:defRPr>
            </a:pPr>
            <a:r>
              <a:rPr lang="zh-CN" altLang="en-US" sz="1600" dirty="0">
                <a:latin typeface="微软雅黑" panose="020B0503020204020204" pitchFamily="34" charset="-122"/>
                <a:ea typeface="微软雅黑" panose="020B0503020204020204" pitchFamily="34" charset="-122"/>
              </a:rPr>
              <a:t>远程存储： </a:t>
            </a:r>
            <a:r>
              <a:rPr lang="en-US" altLang="zh-CN" sz="1600" dirty="0" err="1">
                <a:latin typeface="微软雅黑" panose="020B0503020204020204" pitchFamily="34" charset="-122"/>
                <a:ea typeface="微软雅黑" panose="020B0503020204020204" pitchFamily="34" charset="-122"/>
              </a:rPr>
              <a:t>prometheus</a:t>
            </a:r>
            <a:r>
              <a:rPr lang="zh-CN" altLang="en-US" sz="1600" dirty="0">
                <a:latin typeface="微软雅黑" panose="020B0503020204020204" pitchFamily="34" charset="-122"/>
                <a:ea typeface="微软雅黑" panose="020B0503020204020204" pitchFamily="34" charset="-122"/>
              </a:rPr>
              <a:t>也可以对接第三方时序数据库</a:t>
            </a:r>
            <a:r>
              <a:rPr lang="en-US" altLang="zh-CN" sz="1600" dirty="0" err="1">
                <a:latin typeface="微软雅黑" panose="020B0503020204020204" pitchFamily="34" charset="-122"/>
                <a:ea typeface="微软雅黑" panose="020B0503020204020204" pitchFamily="34" charset="-122"/>
              </a:rPr>
              <a:t>opentsdb</a:t>
            </a:r>
            <a:r>
              <a:rPr lang="zh-CN" altLang="en-US" sz="1600" dirty="0">
                <a:latin typeface="微软雅黑" panose="020B0503020204020204" pitchFamily="34" charset="-122"/>
                <a:ea typeface="微软雅黑" panose="020B0503020204020204" pitchFamily="34" charset="-122"/>
              </a:rPr>
              <a:t>等远程存储。</a:t>
            </a:r>
            <a:endParaRPr lang="en-US" altLang="zh-CN" sz="1600" dirty="0">
              <a:latin typeface="微软雅黑" panose="020B0503020204020204" pitchFamily="34" charset="-122"/>
              <a:ea typeface="微软雅黑" panose="020B0503020204020204" pitchFamily="34" charset="-122"/>
            </a:endParaRPr>
          </a:p>
          <a:p>
            <a:pPr>
              <a:lnSpc>
                <a:spcPct val="140000"/>
              </a:lnSpc>
              <a:defRPr sz="2400" spc="300">
                <a:latin typeface="思源黑体"/>
                <a:ea typeface="思源黑体"/>
                <a:cs typeface="思源黑体"/>
                <a:sym typeface="思源黑体"/>
              </a:defRPr>
            </a:pPr>
            <a:endParaRPr lang="en-US" altLang="zh-CN" sz="1600" dirty="0">
              <a:latin typeface="微软雅黑" panose="020B0503020204020204" pitchFamily="34" charset="-122"/>
              <a:ea typeface="微软雅黑" panose="020B0503020204020204" pitchFamily="34" charset="-122"/>
            </a:endParaRPr>
          </a:p>
          <a:p>
            <a:pPr>
              <a:lnSpc>
                <a:spcPct val="140000"/>
              </a:lnSpc>
              <a:defRPr sz="2400" spc="300">
                <a:latin typeface="思源黑体"/>
                <a:ea typeface="思源黑体"/>
                <a:cs typeface="思源黑体"/>
                <a:sym typeface="思源黑体"/>
              </a:defRPr>
            </a:pPr>
            <a:r>
              <a:rPr lang="zh-CN" altLang="en-US" sz="1600" dirty="0">
                <a:latin typeface="微软雅黑" panose="020B0503020204020204" pitchFamily="34" charset="-122"/>
                <a:ea typeface="微软雅黑" panose="020B0503020204020204" pitchFamily="34" charset="-122"/>
              </a:rPr>
              <a:t>本地存储方案：数据是按</a:t>
            </a:r>
            <a:r>
              <a:rPr lang="en-US" altLang="zh-CN" sz="1600" dirty="0">
                <a:latin typeface="微软雅黑" panose="020B0503020204020204" pitchFamily="34" charset="-122"/>
                <a:ea typeface="微软雅黑" panose="020B0503020204020204" pitchFamily="34" charset="-122"/>
              </a:rPr>
              <a:t>block</a:t>
            </a:r>
            <a:r>
              <a:rPr lang="zh-CN" altLang="en-US" sz="1600" dirty="0">
                <a:latin typeface="微软雅黑" panose="020B0503020204020204" pitchFamily="34" charset="-122"/>
                <a:ea typeface="微软雅黑" panose="020B0503020204020204" pitchFamily="34" charset="-122"/>
              </a:rPr>
              <a:t>来存储的， 分为</a:t>
            </a:r>
            <a:r>
              <a:rPr lang="en-US" altLang="zh-CN" sz="1600" dirty="0">
                <a:latin typeface="微软雅黑" panose="020B0503020204020204" pitchFamily="34" charset="-122"/>
                <a:ea typeface="微软雅黑" panose="020B0503020204020204" pitchFamily="34" charset="-122"/>
              </a:rPr>
              <a:t>head block </a:t>
            </a:r>
            <a:r>
              <a:rPr lang="zh-CN" altLang="en-US" sz="1600" dirty="0">
                <a:latin typeface="微软雅黑" panose="020B0503020204020204" pitchFamily="34" charset="-122"/>
                <a:ea typeface="微软雅黑" panose="020B0503020204020204" pitchFamily="34" charset="-122"/>
              </a:rPr>
              <a:t>和其他</a:t>
            </a:r>
            <a:r>
              <a:rPr lang="en-US" altLang="zh-CN" sz="1600" dirty="0">
                <a:latin typeface="微软雅黑" panose="020B0503020204020204" pitchFamily="34" charset="-122"/>
                <a:ea typeface="微软雅黑" panose="020B0503020204020204" pitchFamily="34" charset="-122"/>
              </a:rPr>
              <a:t>block</a:t>
            </a:r>
            <a:r>
              <a:rPr lang="zh-CN" altLang="en-US" sz="1600" dirty="0">
                <a:latin typeface="微软雅黑" panose="020B0503020204020204" pitchFamily="34" charset="-122"/>
                <a:ea typeface="微软雅黑" panose="020B0503020204020204" pitchFamily="34" charset="-122"/>
              </a:rPr>
              <a:t>。其中</a:t>
            </a:r>
            <a:r>
              <a:rPr lang="en-US" altLang="zh-CN" sz="1600" dirty="0">
                <a:latin typeface="微软雅黑" panose="020B0503020204020204" pitchFamily="34" charset="-122"/>
                <a:ea typeface="微软雅黑" panose="020B0503020204020204" pitchFamily="34" charset="-122"/>
              </a:rPr>
              <a:t>head  block</a:t>
            </a:r>
            <a:r>
              <a:rPr lang="zh-CN" altLang="en-US" sz="1600" dirty="0">
                <a:latin typeface="微软雅黑" panose="020B0503020204020204" pitchFamily="34" charset="-122"/>
                <a:ea typeface="微软雅黑" panose="020B0503020204020204" pitchFamily="34" charset="-122"/>
              </a:rPr>
              <a:t>是存储在内存里的 可以随意修改， 剩下的存在磁盘中。</a:t>
            </a:r>
            <a:endParaRPr lang="en-US" altLang="zh-CN" sz="1600" dirty="0">
              <a:latin typeface="微软雅黑" panose="020B0503020204020204" pitchFamily="34" charset="-122"/>
              <a:ea typeface="微软雅黑" panose="020B0503020204020204" pitchFamily="34" charset="-122"/>
            </a:endParaRPr>
          </a:p>
          <a:p>
            <a:pPr>
              <a:lnSpc>
                <a:spcPct val="140000"/>
              </a:lnSpc>
              <a:defRPr sz="2400" spc="300">
                <a:latin typeface="思源黑体"/>
                <a:ea typeface="思源黑体"/>
                <a:cs typeface="思源黑体"/>
                <a:sym typeface="思源黑体"/>
              </a:defRPr>
            </a:pPr>
            <a:endParaRPr lang="en-US" altLang="zh-CN" sz="1600" dirty="0">
              <a:latin typeface="微软雅黑" panose="020B0503020204020204" pitchFamily="34" charset="-122"/>
              <a:ea typeface="微软雅黑" panose="020B0503020204020204" pitchFamily="34" charset="-122"/>
            </a:endParaRPr>
          </a:p>
          <a:p>
            <a:pPr>
              <a:lnSpc>
                <a:spcPct val="140000"/>
              </a:lnSpc>
              <a:defRPr sz="2400" spc="300">
                <a:latin typeface="思源黑体"/>
                <a:ea typeface="思源黑体"/>
                <a:cs typeface="思源黑体"/>
                <a:sym typeface="思源黑体"/>
              </a:defRPr>
            </a:pPr>
            <a:r>
              <a:rPr lang="zh-CN" altLang="en-US" sz="1600" dirty="0">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Wal</a:t>
            </a:r>
            <a:r>
              <a:rPr lang="zh-CN" altLang="en-US" sz="1600" dirty="0">
                <a:latin typeface="微软雅黑" panose="020B0503020204020204" pitchFamily="34" charset="-122"/>
                <a:ea typeface="微软雅黑" panose="020B0503020204020204" pitchFamily="34" charset="-122"/>
              </a:rPr>
              <a:t>机制    *</a:t>
            </a:r>
            <a:r>
              <a:rPr lang="en-US" altLang="zh-CN" sz="1600" dirty="0">
                <a:latin typeface="微软雅黑" panose="020B0503020204020204" pitchFamily="34" charset="-122"/>
                <a:ea typeface="微软雅黑" panose="020B0503020204020204" pitchFamily="34" charset="-122"/>
              </a:rPr>
              <a:t>Block</a:t>
            </a:r>
            <a:r>
              <a:rPr lang="zh-CN" altLang="en-US" sz="1600" dirty="0">
                <a:latin typeface="微软雅黑" panose="020B0503020204020204" pitchFamily="34" charset="-122"/>
                <a:ea typeface="微软雅黑" panose="020B0503020204020204" pitchFamily="34" charset="-122"/>
              </a:rPr>
              <a:t>压缩   *</a:t>
            </a:r>
            <a:r>
              <a:rPr lang="en-US" altLang="zh-CN" sz="1600" dirty="0">
                <a:latin typeface="微软雅黑" panose="020B0503020204020204" pitchFamily="34" charset="-122"/>
                <a:ea typeface="微软雅黑" panose="020B0503020204020204" pitchFamily="34" charset="-122"/>
              </a:rPr>
              <a:t>Block</a:t>
            </a:r>
            <a:r>
              <a:rPr lang="zh-CN" altLang="en-US" sz="1600" dirty="0">
                <a:latin typeface="微软雅黑" panose="020B0503020204020204" pitchFamily="34" charset="-122"/>
                <a:ea typeface="微软雅黑" panose="020B0503020204020204" pitchFamily="34" charset="-122"/>
              </a:rPr>
              <a:t>清理</a:t>
            </a:r>
            <a:endParaRPr lang="en-US" altLang="zh-CN" sz="1600" dirty="0">
              <a:latin typeface="微软雅黑" panose="020B0503020204020204" pitchFamily="34" charset="-122"/>
              <a:ea typeface="微软雅黑" panose="020B0503020204020204" pitchFamily="34" charset="-122"/>
            </a:endParaRPr>
          </a:p>
          <a:p>
            <a:pPr>
              <a:lnSpc>
                <a:spcPct val="140000"/>
              </a:lnSpc>
              <a:defRPr sz="2400" spc="300">
                <a:latin typeface="思源黑体"/>
                <a:ea typeface="思源黑体"/>
                <a:cs typeface="思源黑体"/>
                <a:sym typeface="思源黑体"/>
              </a:defRPr>
            </a:pPr>
            <a:endParaRPr lang="en-US" altLang="zh-CN" sz="1600" dirty="0">
              <a:latin typeface="微软雅黑" panose="020B0503020204020204" pitchFamily="34" charset="-122"/>
              <a:ea typeface="微软雅黑" panose="020B0503020204020204" pitchFamily="34" charset="-122"/>
            </a:endParaRPr>
          </a:p>
          <a:p>
            <a:pPr>
              <a:lnSpc>
                <a:spcPct val="140000"/>
              </a:lnSpc>
              <a:defRPr sz="2400" spc="300">
                <a:latin typeface="思源黑体"/>
                <a:ea typeface="思源黑体"/>
                <a:cs typeface="思源黑体"/>
                <a:sym typeface="思源黑体"/>
              </a:defRPr>
            </a:pPr>
            <a:r>
              <a:rPr lang="en-US" altLang="zh-CN" sz="1600" dirty="0">
                <a:latin typeface="微软雅黑" panose="020B0503020204020204" pitchFamily="34" charset="-122"/>
                <a:ea typeface="微软雅黑" panose="020B0503020204020204" pitchFamily="34" charset="-122"/>
              </a:rPr>
              <a:t>Block								 Head block &amp;&amp; other block</a:t>
            </a:r>
          </a:p>
          <a:p>
            <a:pPr>
              <a:lnSpc>
                <a:spcPct val="140000"/>
              </a:lnSpc>
              <a:defRPr sz="2400" spc="300">
                <a:latin typeface="思源黑体"/>
                <a:ea typeface="思源黑体"/>
                <a:cs typeface="思源黑体"/>
                <a:sym typeface="思源黑体"/>
              </a:defRPr>
            </a:pPr>
            <a:endParaRPr lang="en-US" altLang="zh-CN" sz="1800" dirty="0">
              <a:latin typeface="微软雅黑" panose="020B0503020204020204" pitchFamily="34" charset="-122"/>
              <a:ea typeface="微软雅黑" panose="020B0503020204020204" pitchFamily="34" charset="-122"/>
            </a:endParaRPr>
          </a:p>
          <a:p>
            <a:pPr>
              <a:lnSpc>
                <a:spcPct val="140000"/>
              </a:lnSpc>
              <a:defRPr sz="2400" spc="300">
                <a:latin typeface="思源黑体"/>
                <a:ea typeface="思源黑体"/>
                <a:cs typeface="思源黑体"/>
                <a:sym typeface="思源黑体"/>
              </a:defRPr>
            </a:pPr>
            <a:r>
              <a:rPr lang="en-US" altLang="zh-CN" sz="1800" dirty="0">
                <a:latin typeface="微软雅黑" panose="020B0503020204020204" pitchFamily="34" charset="-122"/>
                <a:ea typeface="微软雅黑" panose="020B0503020204020204" pitchFamily="34" charset="-122"/>
              </a:rPr>
              <a:t>		</a:t>
            </a:r>
          </a:p>
          <a:p>
            <a:pPr>
              <a:lnSpc>
                <a:spcPct val="140000"/>
              </a:lnSpc>
              <a:defRPr sz="2400" spc="300">
                <a:latin typeface="思源黑体"/>
                <a:ea typeface="思源黑体"/>
                <a:cs typeface="思源黑体"/>
                <a:sym typeface="思源黑体"/>
              </a:defRPr>
            </a:pPr>
            <a:endParaRPr lang="en-US" altLang="zh-CN" sz="1800" dirty="0">
              <a:latin typeface="微软雅黑" panose="020B0503020204020204" pitchFamily="34" charset="-122"/>
              <a:ea typeface="微软雅黑" panose="020B0503020204020204" pitchFamily="34" charset="-122"/>
            </a:endParaRPr>
          </a:p>
          <a:p>
            <a:pPr>
              <a:lnSpc>
                <a:spcPct val="140000"/>
              </a:lnSpc>
              <a:defRPr sz="2400" spc="300">
                <a:latin typeface="思源黑体"/>
                <a:ea typeface="思源黑体"/>
                <a:cs typeface="思源黑体"/>
                <a:sym typeface="思源黑体"/>
              </a:defRPr>
            </a:pPr>
            <a:endParaRPr lang="en-US" altLang="zh-CN" sz="1800" dirty="0">
              <a:latin typeface="微软雅黑" panose="020B0503020204020204" pitchFamily="34" charset="-122"/>
              <a:ea typeface="微软雅黑" panose="020B0503020204020204" pitchFamily="34" charset="-122"/>
            </a:endParaRPr>
          </a:p>
          <a:p>
            <a:pPr>
              <a:lnSpc>
                <a:spcPct val="140000"/>
              </a:lnSpc>
              <a:defRPr sz="2400" spc="300">
                <a:latin typeface="思源黑体"/>
                <a:ea typeface="思源黑体"/>
                <a:cs typeface="思源黑体"/>
                <a:sym typeface="思源黑体"/>
              </a:defRPr>
            </a:pPr>
            <a:endParaRPr lang="en-US" altLang="zh-CN" sz="1800" dirty="0">
              <a:latin typeface="微软雅黑" panose="020B0503020204020204" pitchFamily="34" charset="-122"/>
              <a:ea typeface="微软雅黑" panose="020B0503020204020204" pitchFamily="34" charset="-122"/>
            </a:endParaRPr>
          </a:p>
          <a:p>
            <a:pPr>
              <a:lnSpc>
                <a:spcPct val="140000"/>
              </a:lnSpc>
              <a:defRPr sz="2400" spc="300">
                <a:latin typeface="思源黑体"/>
                <a:ea typeface="思源黑体"/>
                <a:cs typeface="思源黑体"/>
                <a:sym typeface="思源黑体"/>
              </a:defRPr>
            </a:pPr>
            <a:r>
              <a:rPr lang="en-US" altLang="zh-CN" sz="1800" dirty="0">
                <a:latin typeface="微软雅黑" panose="020B0503020204020204" pitchFamily="34" charset="-122"/>
                <a:ea typeface="微软雅黑" panose="020B0503020204020204" pitchFamily="34" charset="-122"/>
              </a:rPr>
              <a:t> </a:t>
            </a:r>
          </a:p>
        </p:txBody>
      </p:sp>
      <p:pic>
        <p:nvPicPr>
          <p:cNvPr id="2" name="图片 1">
            <a:extLst>
              <a:ext uri="{FF2B5EF4-FFF2-40B4-BE49-F238E27FC236}">
                <a16:creationId xmlns:a16="http://schemas.microsoft.com/office/drawing/2014/main" id="{8916C809-C7B9-4AB3-92FE-DEE7CCA6927B}"/>
              </a:ext>
            </a:extLst>
          </p:cNvPr>
          <p:cNvPicPr>
            <a:picLocks noChangeAspect="1"/>
          </p:cNvPicPr>
          <p:nvPr/>
        </p:nvPicPr>
        <p:blipFill>
          <a:blip r:embed="rId3"/>
          <a:stretch>
            <a:fillRect/>
          </a:stretch>
        </p:blipFill>
        <p:spPr>
          <a:xfrm>
            <a:off x="363406" y="4081953"/>
            <a:ext cx="5229225" cy="2095500"/>
          </a:xfrm>
          <a:prstGeom prst="rect">
            <a:avLst/>
          </a:prstGeom>
        </p:spPr>
      </p:pic>
      <p:pic>
        <p:nvPicPr>
          <p:cNvPr id="4" name="图片 3">
            <a:extLst>
              <a:ext uri="{FF2B5EF4-FFF2-40B4-BE49-F238E27FC236}">
                <a16:creationId xmlns:a16="http://schemas.microsoft.com/office/drawing/2014/main" id="{7D17E0E7-CCE8-497F-ABCD-AB7A6D3E16A0}"/>
              </a:ext>
            </a:extLst>
          </p:cNvPr>
          <p:cNvPicPr>
            <a:picLocks noChangeAspect="1"/>
          </p:cNvPicPr>
          <p:nvPr/>
        </p:nvPicPr>
        <p:blipFill>
          <a:blip r:embed="rId4"/>
          <a:stretch>
            <a:fillRect/>
          </a:stretch>
        </p:blipFill>
        <p:spPr>
          <a:xfrm>
            <a:off x="5592631" y="3474700"/>
            <a:ext cx="5488268" cy="2567901"/>
          </a:xfrm>
          <a:prstGeom prst="rect">
            <a:avLst/>
          </a:prstGeom>
        </p:spPr>
      </p:pic>
    </p:spTree>
    <p:extLst>
      <p:ext uri="{BB962C8B-B14F-4D97-AF65-F5344CB8AC3E}">
        <p14:creationId xmlns:p14="http://schemas.microsoft.com/office/powerpoint/2010/main" val="2726397330"/>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标题 1"/>
          <p:cNvSpPr>
            <a:spLocks noGrp="1"/>
          </p:cNvSpPr>
          <p:nvPr>
            <p:ph type="title"/>
          </p:nvPr>
        </p:nvSpPr>
        <p:spPr>
          <a:xfrm>
            <a:off x="576025" y="54787"/>
            <a:ext cx="10368440" cy="1080031"/>
          </a:xfrm>
        </p:spPr>
        <p:txBody>
          <a:bodyPr>
            <a:normAutofit/>
          </a:bodyPr>
          <a:lstStyle/>
          <a:p>
            <a:pPr algn="l"/>
            <a:r>
              <a:rPr lang="zh-CN" altLang="en-US" sz="2800" b="1" dirty="0">
                <a:latin typeface="微软雅黑" panose="020B0503020204020204" pitchFamily="34" charset="-122"/>
                <a:ea typeface="微软雅黑" panose="020B0503020204020204" pitchFamily="34" charset="-122"/>
              </a:rPr>
              <a:t>私有云监控</a:t>
            </a:r>
          </a:p>
        </p:txBody>
      </p:sp>
      <p:sp>
        <p:nvSpPr>
          <p:cNvPr id="3" name="文本框 4"/>
          <p:cNvSpPr txBox="1"/>
          <p:nvPr/>
        </p:nvSpPr>
        <p:spPr>
          <a:xfrm>
            <a:off x="438001" y="997487"/>
            <a:ext cx="10504874" cy="5393336"/>
          </a:xfrm>
          <a:prstGeom prst="rect">
            <a:avLst/>
          </a:prstGeom>
          <a:ln w="12700">
            <a:miter lim="400000"/>
          </a:ln>
          <a:extLst>
            <a:ext uri="{C572A759-6A51-4108-AA02-DFA0A04FC94B}">
              <ma14:wrappingTextBoxFlag xmlns="" xmlns:ma14="http://schemas.microsoft.com/office/mac/drawingml/2011/main" val="1"/>
            </a:ext>
          </a:extLst>
        </p:spPr>
        <p:txBody>
          <a:bodyPr wrap="square" lIns="45719" rIns="45719">
            <a:spAutoFit/>
          </a:bodyPr>
          <a:lstStyle/>
          <a:p>
            <a:pPr>
              <a:lnSpc>
                <a:spcPct val="140000"/>
              </a:lnSpc>
              <a:defRPr sz="2400" spc="300">
                <a:latin typeface="思源黑体"/>
                <a:ea typeface="思源黑体"/>
                <a:cs typeface="思源黑体"/>
                <a:sym typeface="思源黑体"/>
              </a:defRPr>
            </a:pPr>
            <a:r>
              <a:rPr lang="zh-CN" altLang="en-US" sz="1800" dirty="0">
                <a:latin typeface="微软雅黑" panose="020B0503020204020204" pitchFamily="34" charset="-122"/>
                <a:ea typeface="微软雅黑" panose="020B0503020204020204" pitchFamily="34" charset="-122"/>
              </a:rPr>
              <a:t>数据采集：</a:t>
            </a:r>
            <a:endParaRPr lang="en-US" altLang="zh-CN" sz="1800" dirty="0">
              <a:latin typeface="微软雅黑" panose="020B0503020204020204" pitchFamily="34" charset="-122"/>
              <a:ea typeface="微软雅黑" panose="020B0503020204020204" pitchFamily="34" charset="-122"/>
            </a:endParaRPr>
          </a:p>
          <a:p>
            <a:pPr>
              <a:lnSpc>
                <a:spcPct val="140000"/>
              </a:lnSpc>
              <a:defRPr sz="2400" spc="300">
                <a:latin typeface="思源黑体"/>
                <a:ea typeface="思源黑体"/>
                <a:cs typeface="思源黑体"/>
                <a:sym typeface="思源黑体"/>
              </a:defRPr>
            </a:pPr>
            <a:endParaRPr lang="en-US" altLang="zh-CN" sz="1800" dirty="0">
              <a:latin typeface="微软雅黑" panose="020B0503020204020204" pitchFamily="34" charset="-122"/>
              <a:ea typeface="微软雅黑" panose="020B0503020204020204" pitchFamily="34" charset="-122"/>
            </a:endParaRPr>
          </a:p>
          <a:p>
            <a:pPr>
              <a:lnSpc>
                <a:spcPct val="140000"/>
              </a:lnSpc>
              <a:defRPr sz="2400" spc="300">
                <a:latin typeface="思源黑体"/>
                <a:ea typeface="思源黑体"/>
                <a:cs typeface="思源黑体"/>
                <a:sym typeface="思源黑体"/>
              </a:defRPr>
            </a:pPr>
            <a:r>
              <a:rPr lang="en-US" altLang="zh-CN" sz="1600" dirty="0" err="1">
                <a:latin typeface="微软雅黑" panose="020B0503020204020204" pitchFamily="34" charset="-122"/>
                <a:ea typeface="微软雅黑" panose="020B0503020204020204" pitchFamily="34" charset="-122"/>
              </a:rPr>
              <a:t>prometheus</a:t>
            </a:r>
            <a:r>
              <a:rPr lang="zh-CN" altLang="en-US" sz="1600" dirty="0">
                <a:latin typeface="微软雅黑" panose="020B0503020204020204" pitchFamily="34" charset="-122"/>
                <a:ea typeface="微软雅黑" panose="020B0503020204020204" pitchFamily="34" charset="-122"/>
              </a:rPr>
              <a:t>定义了开放指标数据标准， 基于</a:t>
            </a:r>
            <a:r>
              <a:rPr lang="en-US" altLang="zh-CN" sz="1600" dirty="0">
                <a:latin typeface="微软雅黑" panose="020B0503020204020204" pitchFamily="34" charset="-122"/>
                <a:ea typeface="微软雅黑" panose="020B0503020204020204" pitchFamily="34" charset="-122"/>
              </a:rPr>
              <a:t>http</a:t>
            </a:r>
            <a:r>
              <a:rPr lang="zh-CN" altLang="en-US" sz="1600" dirty="0">
                <a:latin typeface="微软雅黑" panose="020B0503020204020204" pitchFamily="34" charset="-122"/>
                <a:ea typeface="微软雅黑" panose="020B0503020204020204" pitchFamily="34" charset="-122"/>
              </a:rPr>
              <a:t>的</a:t>
            </a:r>
            <a:r>
              <a:rPr lang="en-US" altLang="zh-CN" sz="1600" dirty="0">
                <a:latin typeface="微软雅黑" panose="020B0503020204020204" pitchFamily="34" charset="-122"/>
                <a:ea typeface="微软雅黑" panose="020B0503020204020204" pitchFamily="34" charset="-122"/>
              </a:rPr>
              <a:t>pull</a:t>
            </a:r>
            <a:r>
              <a:rPr lang="zh-CN" altLang="en-US" sz="1600" dirty="0">
                <a:latin typeface="微软雅黑" panose="020B0503020204020204" pitchFamily="34" charset="-122"/>
                <a:ea typeface="微软雅黑" panose="020B0503020204020204" pitchFamily="34" charset="-122"/>
              </a:rPr>
              <a:t>方式采集时序数据， 只要实现了</a:t>
            </a:r>
            <a:r>
              <a:rPr lang="en-US" altLang="zh-CN" sz="1600" dirty="0" err="1">
                <a:latin typeface="微软雅黑" panose="020B0503020204020204" pitchFamily="34" charset="-122"/>
                <a:ea typeface="微软雅黑" panose="020B0503020204020204" pitchFamily="34" charset="-122"/>
              </a:rPr>
              <a:t>prometheus</a:t>
            </a:r>
            <a:r>
              <a:rPr lang="zh-CN" altLang="en-US" sz="1600" dirty="0">
                <a:latin typeface="微软雅黑" panose="020B0503020204020204" pitchFamily="34" charset="-122"/>
                <a:ea typeface="微软雅黑" panose="020B0503020204020204" pitchFamily="34" charset="-122"/>
              </a:rPr>
              <a:t>监控数据格式的监控数据都可以被</a:t>
            </a:r>
            <a:r>
              <a:rPr lang="en-US" altLang="zh-CN" sz="1600" dirty="0" err="1">
                <a:latin typeface="微软雅黑" panose="020B0503020204020204" pitchFamily="34" charset="-122"/>
                <a:ea typeface="微软雅黑" panose="020B0503020204020204" pitchFamily="34" charset="-122"/>
              </a:rPr>
              <a:t>prometheus</a:t>
            </a:r>
            <a:r>
              <a:rPr lang="zh-CN" altLang="en-US" sz="1600" dirty="0">
                <a:latin typeface="微软雅黑" panose="020B0503020204020204" pitchFamily="34" charset="-122"/>
                <a:ea typeface="微软雅黑" panose="020B0503020204020204" pitchFamily="34" charset="-122"/>
              </a:rPr>
              <a:t>采集， 汇总。 并支持以中间件</a:t>
            </a:r>
            <a:r>
              <a:rPr lang="en-US" altLang="zh-CN" sz="1600" dirty="0">
                <a:latin typeface="微软雅黑" panose="020B0503020204020204" pitchFamily="34" charset="-122"/>
                <a:ea typeface="微软雅黑" panose="020B0503020204020204" pitchFamily="34" charset="-122"/>
              </a:rPr>
              <a:t>gateway</a:t>
            </a:r>
            <a:r>
              <a:rPr lang="zh-CN" altLang="en-US" sz="1600" dirty="0">
                <a:latin typeface="微软雅黑" panose="020B0503020204020204" pitchFamily="34" charset="-122"/>
                <a:ea typeface="微软雅黑" panose="020B0503020204020204" pitchFamily="34" charset="-122"/>
              </a:rPr>
              <a:t>的方式进行推送， 灵活应对多种监控场景。</a:t>
            </a:r>
            <a:endParaRPr lang="en-US" altLang="zh-CN" sz="1600" dirty="0">
              <a:latin typeface="微软雅黑" panose="020B0503020204020204" pitchFamily="34" charset="-122"/>
              <a:ea typeface="微软雅黑" panose="020B0503020204020204" pitchFamily="34" charset="-122"/>
            </a:endParaRPr>
          </a:p>
          <a:p>
            <a:pPr>
              <a:lnSpc>
                <a:spcPct val="140000"/>
              </a:lnSpc>
              <a:defRPr sz="2400" spc="300">
                <a:latin typeface="思源黑体"/>
                <a:ea typeface="思源黑体"/>
                <a:cs typeface="思源黑体"/>
                <a:sym typeface="思源黑体"/>
              </a:defRPr>
            </a:pPr>
            <a:endParaRPr lang="en-US" altLang="zh-CN" sz="1600" dirty="0">
              <a:sym typeface="思源黑体"/>
            </a:endParaRPr>
          </a:p>
          <a:p>
            <a:pPr>
              <a:lnSpc>
                <a:spcPct val="140000"/>
              </a:lnSpc>
              <a:defRPr sz="2400" spc="300">
                <a:latin typeface="思源黑体"/>
                <a:ea typeface="思源黑体"/>
                <a:cs typeface="思源黑体"/>
                <a:sym typeface="思源黑体"/>
              </a:defRPr>
            </a:pPr>
            <a:r>
              <a:rPr lang="en-US" altLang="zh-CN" sz="1600" dirty="0">
                <a:sym typeface="思源黑体"/>
              </a:rPr>
              <a:t>Pull</a:t>
            </a:r>
            <a:r>
              <a:rPr lang="zh-CN" altLang="en-US" sz="1600" dirty="0">
                <a:sym typeface="思源黑体"/>
              </a:rPr>
              <a:t>方式的优势是能够自动进行上游监控和水平监控，配置更少，更容易扩展，更灵活，更容易实现高可用。简单来说就是</a:t>
            </a:r>
            <a:r>
              <a:rPr lang="en-US" altLang="zh-CN" sz="1600" dirty="0">
                <a:sym typeface="思源黑体"/>
              </a:rPr>
              <a:t>Pull</a:t>
            </a:r>
            <a:r>
              <a:rPr lang="zh-CN" altLang="en-US" sz="1600" dirty="0">
                <a:sym typeface="思源黑体"/>
              </a:rPr>
              <a:t>方式可以降低耦合。由于在推送系统中很容易出现因为向监控系统推送数据失败而导致被监控系统瘫痪的问题。所以通过</a:t>
            </a:r>
            <a:r>
              <a:rPr lang="en-US" altLang="zh-CN" sz="1600" dirty="0">
                <a:sym typeface="思源黑体"/>
              </a:rPr>
              <a:t>Pull</a:t>
            </a:r>
            <a:r>
              <a:rPr lang="zh-CN" altLang="en-US" sz="1600" dirty="0">
                <a:sym typeface="思源黑体"/>
              </a:rPr>
              <a:t>方式，被采集端无需感知监控系统的存在，完全独立于监控系统之外，这样数据的采集完全由监控系统控制。</a:t>
            </a:r>
            <a:endParaRPr lang="en-US" altLang="zh-CN" sz="1600" dirty="0">
              <a:latin typeface="微软雅黑" panose="020B0503020204020204" pitchFamily="34" charset="-122"/>
              <a:ea typeface="微软雅黑" panose="020B0503020204020204" pitchFamily="34" charset="-122"/>
            </a:endParaRPr>
          </a:p>
          <a:p>
            <a:pPr>
              <a:lnSpc>
                <a:spcPct val="140000"/>
              </a:lnSpc>
              <a:defRPr sz="2400" spc="300">
                <a:latin typeface="思源黑体"/>
                <a:ea typeface="思源黑体"/>
                <a:cs typeface="思源黑体"/>
                <a:sym typeface="思源黑体"/>
              </a:defRPr>
            </a:pPr>
            <a:endParaRPr lang="en-US" altLang="zh-CN" sz="1600" dirty="0">
              <a:latin typeface="微软雅黑" panose="020B0503020204020204" pitchFamily="34" charset="-122"/>
              <a:ea typeface="微软雅黑" panose="020B0503020204020204" pitchFamily="34" charset="-122"/>
            </a:endParaRPr>
          </a:p>
          <a:p>
            <a:pPr>
              <a:lnSpc>
                <a:spcPct val="140000"/>
              </a:lnSpc>
              <a:defRPr sz="2400" spc="300">
                <a:latin typeface="思源黑体"/>
                <a:ea typeface="思源黑体"/>
                <a:cs typeface="思源黑体"/>
                <a:sym typeface="思源黑体"/>
              </a:defRPr>
            </a:pPr>
            <a:r>
              <a:rPr lang="zh-CN" altLang="en-US" sz="1600" dirty="0">
                <a:latin typeface="微软雅黑" panose="020B0503020204020204" pitchFamily="34" charset="-122"/>
                <a:ea typeface="微软雅黑" panose="020B0503020204020204" pitchFamily="34" charset="-122"/>
              </a:rPr>
              <a:t>目前，监控方案提供了两种接入方式， 一种是自己写</a:t>
            </a:r>
            <a:r>
              <a:rPr lang="en-US" altLang="zh-CN" sz="1600" dirty="0">
                <a:latin typeface="微软雅黑" panose="020B0503020204020204" pitchFamily="34" charset="-122"/>
                <a:ea typeface="微软雅黑" panose="020B0503020204020204" pitchFamily="34" charset="-122"/>
              </a:rPr>
              <a:t>exporter</a:t>
            </a:r>
            <a:r>
              <a:rPr lang="zh-CN" altLang="en-US" sz="1600" dirty="0">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rPr>
              <a:t>http</a:t>
            </a:r>
            <a:r>
              <a:rPr lang="zh-CN" altLang="en-US" sz="1600" dirty="0">
                <a:latin typeface="微软雅黑" panose="020B0503020204020204" pitchFamily="34" charset="-122"/>
                <a:ea typeface="微软雅黑" panose="020B0503020204020204" pitchFamily="34" charset="-122"/>
              </a:rPr>
              <a:t>）供监控拉取， 一种是推送数据到</a:t>
            </a:r>
            <a:r>
              <a:rPr lang="en-US" altLang="zh-CN" sz="1600" dirty="0" err="1">
                <a:latin typeface="微软雅黑" panose="020B0503020204020204" pitchFamily="34" charset="-122"/>
                <a:ea typeface="微软雅黑" panose="020B0503020204020204" pitchFamily="34" charset="-122"/>
              </a:rPr>
              <a:t>argusparser</a:t>
            </a:r>
            <a:r>
              <a:rPr lang="zh-CN" altLang="en-US" sz="1600" dirty="0">
                <a:latin typeface="微软雅黑" panose="020B0503020204020204" pitchFamily="34" charset="-122"/>
                <a:ea typeface="微软雅黑" panose="020B0503020204020204" pitchFamily="34" charset="-122"/>
              </a:rPr>
              <a:t>。</a:t>
            </a:r>
            <a:endParaRPr lang="en-US" altLang="zh-CN" sz="1600" dirty="0">
              <a:latin typeface="微软雅黑" panose="020B0503020204020204" pitchFamily="34" charset="-122"/>
              <a:ea typeface="微软雅黑" panose="020B0503020204020204" pitchFamily="34" charset="-122"/>
            </a:endParaRPr>
          </a:p>
          <a:p>
            <a:pPr>
              <a:lnSpc>
                <a:spcPct val="140000"/>
              </a:lnSpc>
              <a:defRPr sz="2400" spc="300">
                <a:latin typeface="思源黑体"/>
                <a:ea typeface="思源黑体"/>
                <a:cs typeface="思源黑体"/>
                <a:sym typeface="思源黑体"/>
              </a:defRPr>
            </a:pPr>
            <a:endParaRPr lang="en-US" altLang="zh-CN" sz="1800" dirty="0">
              <a:latin typeface="微软雅黑" panose="020B0503020204020204" pitchFamily="34" charset="-122"/>
              <a:ea typeface="微软雅黑" panose="020B0503020204020204" pitchFamily="34" charset="-122"/>
            </a:endParaRPr>
          </a:p>
          <a:p>
            <a:pPr>
              <a:lnSpc>
                <a:spcPct val="140000"/>
              </a:lnSpc>
              <a:defRPr sz="2400" spc="300">
                <a:latin typeface="思源黑体"/>
                <a:ea typeface="思源黑体"/>
                <a:cs typeface="思源黑体"/>
                <a:sym typeface="思源黑体"/>
              </a:defRPr>
            </a:pPr>
            <a:endParaRPr lang="en-US" altLang="zh-CN" sz="18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501239128"/>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标题 1"/>
          <p:cNvSpPr>
            <a:spLocks noGrp="1"/>
          </p:cNvSpPr>
          <p:nvPr>
            <p:ph type="title"/>
          </p:nvPr>
        </p:nvSpPr>
        <p:spPr>
          <a:xfrm>
            <a:off x="576025" y="54787"/>
            <a:ext cx="10368440" cy="1080031"/>
          </a:xfrm>
        </p:spPr>
        <p:txBody>
          <a:bodyPr>
            <a:normAutofit/>
          </a:bodyPr>
          <a:lstStyle/>
          <a:p>
            <a:pPr algn="l"/>
            <a:r>
              <a:rPr lang="zh-CN" altLang="en-US" sz="2800" b="1" dirty="0">
                <a:latin typeface="微软雅黑" panose="020B0503020204020204" pitchFamily="34" charset="-122"/>
                <a:ea typeface="微软雅黑" panose="020B0503020204020204" pitchFamily="34" charset="-122"/>
              </a:rPr>
              <a:t>告警规则的判断</a:t>
            </a:r>
          </a:p>
        </p:txBody>
      </p:sp>
      <p:sp>
        <p:nvSpPr>
          <p:cNvPr id="4" name="矩形 3"/>
          <p:cNvSpPr/>
          <p:nvPr/>
        </p:nvSpPr>
        <p:spPr>
          <a:xfrm>
            <a:off x="236056" y="1134818"/>
            <a:ext cx="5728371" cy="2677656"/>
          </a:xfrm>
          <a:prstGeom prst="rect">
            <a:avLst/>
          </a:prstGeom>
        </p:spPr>
        <p:txBody>
          <a:bodyPr wrap="square">
            <a:spAutoFit/>
          </a:bodyPr>
          <a:lstStyle/>
          <a:p>
            <a:r>
              <a:rPr lang="zh-CN" altLang="en-US" sz="1200" b="1" dirty="0"/>
              <a:t>定义一条告警规则：</a:t>
            </a:r>
            <a:endParaRPr lang="en-US" altLang="zh-CN" sz="1200" b="1" dirty="0"/>
          </a:p>
          <a:p>
            <a:r>
              <a:rPr lang="zh-CN" altLang="en-US" sz="1200" dirty="0"/>
              <a:t> - alert: record_host_memory_memused_bytes_percent</a:t>
            </a:r>
          </a:p>
          <a:p>
            <a:r>
              <a:rPr lang="zh-CN" altLang="en-US" sz="1200" dirty="0"/>
              <a:t>    expr: record_host_memory_memused_bytes_percent{endpoint="lgm"} &gt; 85</a:t>
            </a:r>
          </a:p>
          <a:p>
            <a:r>
              <a:rPr lang="zh-CN" altLang="en-US" sz="1200" dirty="0"/>
              <a:t>    for: </a:t>
            </a:r>
            <a:r>
              <a:rPr lang="en-US" altLang="zh-CN" sz="1200" dirty="0"/>
              <a:t>3</a:t>
            </a:r>
            <a:r>
              <a:rPr lang="zh-CN" altLang="en-US" sz="1200" dirty="0"/>
              <a:t>m</a:t>
            </a:r>
          </a:p>
          <a:p>
            <a:r>
              <a:rPr lang="zh-CN" altLang="en-US" sz="1200" dirty="0"/>
              <a:t>    labels:</a:t>
            </a:r>
          </a:p>
          <a:p>
            <a:r>
              <a:rPr lang="zh-CN" altLang="en-US" sz="1200" dirty="0"/>
              <a:t>      severity: page</a:t>
            </a:r>
          </a:p>
          <a:p>
            <a:r>
              <a:rPr lang="zh-CN" altLang="en-US" sz="1200" dirty="0"/>
              <a:t>      group_rule_name: record_host_memory_memused_bytes_percent</a:t>
            </a:r>
          </a:p>
          <a:p>
            <a:r>
              <a:rPr lang="zh-CN" altLang="en-US" sz="1200" dirty="0"/>
              <a:t>      receiver_group: 1HF2lEl5COO7OIF5TY6Fen4PzlP,1HF2oyxr8pjiFoINPuCqE2ACrPa</a:t>
            </a:r>
          </a:p>
          <a:p>
            <a:r>
              <a:rPr lang="zh-CN" altLang="en-US" sz="1200" dirty="0"/>
              <a:t>      notify_method: sms,phone,email</a:t>
            </a:r>
          </a:p>
          <a:p>
            <a:r>
              <a:rPr lang="zh-CN" altLang="en-US" sz="1200" dirty="0"/>
              <a:t>      receivers: liangguiming642@pingan.com.cn,</a:t>
            </a:r>
          </a:p>
          <a:p>
            <a:r>
              <a:rPr lang="zh-CN" altLang="en-US" sz="1200" dirty="0"/>
              <a:t>    annotations:</a:t>
            </a:r>
          </a:p>
          <a:p>
            <a:r>
              <a:rPr lang="zh-CN" altLang="en-US" sz="1200" dirty="0"/>
              <a:t>      summary: Instance {{ $labels.instance }} MEM usgae high</a:t>
            </a:r>
          </a:p>
          <a:p>
            <a:r>
              <a:rPr lang="zh-CN" altLang="en-US" sz="1200" dirty="0"/>
              <a:t>      description: '{{ $labels.instance }} {{$labels.endpoint}}MEM usage above 85%</a:t>
            </a:r>
          </a:p>
          <a:p>
            <a:r>
              <a:rPr lang="zh-CN" altLang="en-US" sz="1200" dirty="0"/>
              <a:t>        (current value: {{ $value }})'</a:t>
            </a:r>
          </a:p>
        </p:txBody>
      </p:sp>
      <p:sp>
        <p:nvSpPr>
          <p:cNvPr id="22" name="Rectangle 4"/>
          <p:cNvSpPr>
            <a:spLocks noChangeArrowheads="1"/>
          </p:cNvSpPr>
          <p:nvPr/>
        </p:nvSpPr>
        <p:spPr bwMode="auto">
          <a:xfrm>
            <a:off x="5829300" y="904213"/>
            <a:ext cx="5732660" cy="2693045"/>
          </a:xfrm>
          <a:prstGeom prst="rect">
            <a:avLst/>
          </a:prstGeom>
          <a:solidFill>
            <a:schemeClr val="bg1"/>
          </a:solidFill>
          <a:ln w="9525">
            <a:solidFill>
              <a:schemeClr val="tx1"/>
            </a:solid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zh-CN" sz="1300" dirty="0" err="1">
                <a:solidFill>
                  <a:srgbClr val="F92672"/>
                </a:solidFill>
                <a:latin typeface="Consolas" panose="020B0609020204030204" pitchFamily="49" charset="0"/>
              </a:rPr>
              <a:t>p</a:t>
            </a:r>
            <a:r>
              <a:rPr kumimoji="0" lang="en-US" altLang="zh-CN" sz="1300" b="0" i="0" u="none" strike="noStrike" cap="none" normalizeH="0" baseline="0" dirty="0" err="1">
                <a:ln>
                  <a:noFill/>
                </a:ln>
                <a:solidFill>
                  <a:srgbClr val="F92672"/>
                </a:solidFill>
                <a:effectLst/>
                <a:latin typeface="Consolas" panose="020B0609020204030204" pitchFamily="49" charset="0"/>
              </a:rPr>
              <a:t>rometheus.yml</a:t>
            </a:r>
            <a:r>
              <a:rPr kumimoji="0" lang="zh-CN" altLang="en-US" sz="1300" b="0" i="0" u="none" strike="noStrike" cap="none" normalizeH="0" baseline="0" dirty="0">
                <a:ln>
                  <a:noFill/>
                </a:ln>
                <a:solidFill>
                  <a:srgbClr val="F92672"/>
                </a:solidFill>
                <a:effectLst/>
                <a:latin typeface="Consolas" panose="020B0609020204030204" pitchFamily="49" charset="0"/>
              </a:rPr>
              <a:t>配置</a:t>
            </a:r>
            <a:endParaRPr kumimoji="0" lang="en-US" altLang="zh-CN" sz="1300" b="0" i="0" u="none" strike="noStrike" cap="none" normalizeH="0" baseline="0" dirty="0">
              <a:ln>
                <a:noFill/>
              </a:ln>
              <a:solidFill>
                <a:srgbClr val="F92672"/>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zh-CN" sz="1300" dirty="0">
                <a:solidFill>
                  <a:srgbClr val="F92672"/>
                </a:solidFill>
                <a:latin typeface="Consolas" panose="020B0609020204030204" pitchFamily="49" charset="0"/>
              </a:rPr>
              <a:t>g</a:t>
            </a:r>
            <a:r>
              <a:rPr kumimoji="0" lang="zh-CN" altLang="zh-CN" sz="1300" b="0" i="0" u="none" strike="noStrike" cap="none" normalizeH="0" baseline="0" dirty="0">
                <a:ln>
                  <a:noFill/>
                </a:ln>
                <a:solidFill>
                  <a:srgbClr val="F92672"/>
                </a:solidFill>
                <a:effectLst/>
                <a:latin typeface="Consolas" panose="020B0609020204030204" pitchFamily="49" charset="0"/>
              </a:rPr>
              <a:t>lobal:</a:t>
            </a:r>
            <a:br>
              <a:rPr kumimoji="0" lang="zh-CN" altLang="zh-CN" sz="1300" b="0" i="0" u="none" strike="noStrike" cap="none" normalizeH="0" baseline="0" dirty="0">
                <a:ln>
                  <a:noFill/>
                </a:ln>
                <a:solidFill>
                  <a:srgbClr val="F92672"/>
                </a:solidFill>
                <a:effectLst/>
                <a:latin typeface="Consolas" panose="020B0609020204030204" pitchFamily="49" charset="0"/>
              </a:rPr>
            </a:br>
            <a:r>
              <a:rPr kumimoji="0" lang="zh-CN" altLang="zh-CN" sz="1300" b="0" i="0" u="none" strike="noStrike" cap="none" normalizeH="0" baseline="0" dirty="0">
                <a:ln>
                  <a:noFill/>
                </a:ln>
                <a:solidFill>
                  <a:srgbClr val="F92672"/>
                </a:solidFill>
                <a:effectLst/>
                <a:latin typeface="Consolas" panose="020B0609020204030204" pitchFamily="49" charset="0"/>
              </a:rPr>
              <a:t>  scrape_</a:t>
            </a:r>
            <a:r>
              <a:rPr lang="zh-CN" altLang="zh-CN" sz="1300" dirty="0">
                <a:solidFill>
                  <a:srgbClr val="F92672"/>
                </a:solidFill>
                <a:latin typeface="Consolas" panose="020B0609020204030204" pitchFamily="49" charset="0"/>
              </a:rPr>
              <a:t>interval: 60s </a:t>
            </a:r>
            <a:r>
              <a:rPr kumimoji="0" lang="zh-CN" altLang="zh-CN" sz="1300" b="0" i="0" u="none" strike="noStrike" cap="none" normalizeH="0" baseline="0" dirty="0">
                <a:ln>
                  <a:noFill/>
                </a:ln>
                <a:solidFill>
                  <a:srgbClr val="75715E"/>
                </a:solidFill>
                <a:effectLst/>
                <a:latin typeface="Consolas" panose="020B0609020204030204" pitchFamily="49" charset="0"/>
              </a:rPr>
              <a:t>#</a:t>
            </a:r>
            <a:r>
              <a:rPr kumimoji="0" lang="zh-CN" altLang="zh-CN" sz="1300" b="0" i="0" u="none" strike="noStrike" cap="none" normalizeH="0" baseline="0" dirty="0">
                <a:ln>
                  <a:noFill/>
                </a:ln>
                <a:solidFill>
                  <a:srgbClr val="75715E"/>
                </a:solidFill>
                <a:effectLst/>
                <a:latin typeface="宋体-18030" panose="02010609060101010101" pitchFamily="49" charset="-122"/>
                <a:ea typeface="宋体-18030" panose="02010609060101010101" pitchFamily="49" charset="-122"/>
                <a:cs typeface="宋体-18030" panose="02010609060101010101" pitchFamily="49" charset="-122"/>
              </a:rPr>
              <a:t>抓取周期</a:t>
            </a:r>
            <a:r>
              <a:rPr kumimoji="0" lang="zh-CN" altLang="zh-CN" sz="1300" b="0" i="0" u="none" strike="noStrike" cap="none" normalizeH="0" baseline="0" dirty="0">
                <a:ln>
                  <a:noFill/>
                </a:ln>
                <a:solidFill>
                  <a:srgbClr val="75715E"/>
                </a:solidFill>
                <a:effectLst/>
                <a:latin typeface="Consolas" panose="020B0609020204030204" pitchFamily="49" charset="0"/>
              </a:rPr>
              <a:t>,</a:t>
            </a:r>
            <a:r>
              <a:rPr kumimoji="0" lang="zh-CN" altLang="zh-CN" sz="1300" b="0" i="0" u="none" strike="noStrike" cap="none" normalizeH="0" baseline="0" dirty="0">
                <a:ln>
                  <a:noFill/>
                </a:ln>
                <a:solidFill>
                  <a:srgbClr val="75715E"/>
                </a:solidFill>
                <a:effectLst/>
                <a:latin typeface="宋体-18030" panose="02010609060101010101" pitchFamily="49" charset="-122"/>
                <a:ea typeface="宋体-18030" panose="02010609060101010101" pitchFamily="49" charset="-122"/>
                <a:cs typeface="宋体-18030" panose="02010609060101010101" pitchFamily="49" charset="-122"/>
              </a:rPr>
              <a:t>默认为</a:t>
            </a:r>
            <a:r>
              <a:rPr kumimoji="0" lang="zh-CN" altLang="zh-CN" sz="1300" b="0" i="0" u="none" strike="noStrike" cap="none" normalizeH="0" baseline="0" dirty="0">
                <a:ln>
                  <a:noFill/>
                </a:ln>
                <a:solidFill>
                  <a:srgbClr val="75715E"/>
                </a:solidFill>
                <a:effectLst/>
                <a:latin typeface="Consolas" panose="020B0609020204030204" pitchFamily="49" charset="0"/>
              </a:rPr>
              <a:t>1min</a:t>
            </a:r>
            <a:br>
              <a:rPr kumimoji="0" lang="zh-CN" altLang="zh-CN" sz="1300" b="0" i="0" u="none" strike="noStrike" cap="none" normalizeH="0" baseline="0" dirty="0">
                <a:ln>
                  <a:noFill/>
                </a:ln>
                <a:solidFill>
                  <a:srgbClr val="75715E"/>
                </a:solidFill>
                <a:effectLst/>
                <a:latin typeface="Consolas" panose="020B0609020204030204" pitchFamily="49" charset="0"/>
              </a:rPr>
            </a:br>
            <a:r>
              <a:rPr kumimoji="0" lang="zh-CN" altLang="zh-CN" sz="1300" b="0" i="0" u="none" strike="noStrike" cap="none" normalizeH="0" baseline="0" dirty="0">
                <a:ln>
                  <a:noFill/>
                </a:ln>
                <a:solidFill>
                  <a:srgbClr val="75715E"/>
                </a:solidFill>
                <a:effectLst/>
                <a:latin typeface="Consolas" panose="020B0609020204030204" pitchFamily="49" charset="0"/>
              </a:rPr>
              <a:t>  </a:t>
            </a:r>
            <a:r>
              <a:rPr kumimoji="0" lang="zh-CN" altLang="zh-CN" sz="1300" b="0" i="0" u="none" strike="noStrike" cap="none" normalizeH="0" baseline="0" dirty="0">
                <a:ln>
                  <a:noFill/>
                </a:ln>
                <a:solidFill>
                  <a:srgbClr val="F92672"/>
                </a:solidFill>
                <a:effectLst/>
                <a:latin typeface="Consolas" panose="020B0609020204030204" pitchFamily="49" charset="0"/>
              </a:rPr>
              <a:t>evaluation_</a:t>
            </a:r>
            <a:r>
              <a:rPr lang="zh-CN" altLang="zh-CN" sz="1300" dirty="0">
                <a:solidFill>
                  <a:srgbClr val="F92672"/>
                </a:solidFill>
                <a:latin typeface="Consolas" panose="020B0609020204030204" pitchFamily="49" charset="0"/>
              </a:rPr>
              <a:t>interval: 30s </a:t>
            </a:r>
            <a:r>
              <a:rPr kumimoji="0" lang="zh-CN" altLang="zh-CN" sz="1300" b="0" i="0" u="none" strike="noStrike" cap="none" normalizeH="0" baseline="0" dirty="0">
                <a:ln>
                  <a:noFill/>
                </a:ln>
                <a:solidFill>
                  <a:srgbClr val="75715E"/>
                </a:solidFill>
                <a:effectLst/>
                <a:latin typeface="Consolas" panose="020B0609020204030204" pitchFamily="49" charset="0"/>
              </a:rPr>
              <a:t>#</a:t>
            </a:r>
            <a:r>
              <a:rPr kumimoji="0" lang="zh-CN" altLang="zh-CN" sz="1300" b="0" i="0" u="none" strike="noStrike" cap="none" normalizeH="0" baseline="0" dirty="0">
                <a:ln>
                  <a:noFill/>
                </a:ln>
                <a:solidFill>
                  <a:srgbClr val="75715E"/>
                </a:solidFill>
                <a:effectLst/>
                <a:latin typeface="宋体-18030" panose="02010609060101010101" pitchFamily="49" charset="-122"/>
                <a:ea typeface="宋体-18030" panose="02010609060101010101" pitchFamily="49" charset="-122"/>
                <a:cs typeface="宋体-18030" panose="02010609060101010101" pitchFamily="49" charset="-122"/>
              </a:rPr>
              <a:t>设定更新</a:t>
            </a:r>
            <a:r>
              <a:rPr kumimoji="0" lang="zh-CN" altLang="zh-CN" sz="1300" b="0" i="0" u="none" strike="noStrike" cap="none" normalizeH="0" baseline="0" dirty="0">
                <a:ln>
                  <a:noFill/>
                </a:ln>
                <a:solidFill>
                  <a:srgbClr val="75715E"/>
                </a:solidFill>
                <a:effectLst/>
                <a:latin typeface="Consolas" panose="020B0609020204030204" pitchFamily="49" charset="0"/>
              </a:rPr>
              <a:t>rules</a:t>
            </a:r>
            <a:r>
              <a:rPr kumimoji="0" lang="zh-CN" altLang="zh-CN" sz="1300" b="0" i="0" u="none" strike="noStrike" cap="none" normalizeH="0" baseline="0" dirty="0">
                <a:ln>
                  <a:noFill/>
                </a:ln>
                <a:solidFill>
                  <a:srgbClr val="75715E"/>
                </a:solidFill>
                <a:effectLst/>
                <a:latin typeface="宋体-18030" panose="02010609060101010101" pitchFamily="49" charset="-122"/>
                <a:ea typeface="宋体-18030" panose="02010609060101010101" pitchFamily="49" charset="-122"/>
                <a:cs typeface="宋体-18030" panose="02010609060101010101" pitchFamily="49" charset="-122"/>
              </a:rPr>
              <a:t>文件的周期，默认为</a:t>
            </a:r>
            <a:r>
              <a:rPr kumimoji="0" lang="zh-CN" altLang="zh-CN" sz="1300" b="0" i="0" u="none" strike="noStrike" cap="none" normalizeH="0" baseline="0" dirty="0">
                <a:ln>
                  <a:noFill/>
                </a:ln>
                <a:solidFill>
                  <a:srgbClr val="75715E"/>
                </a:solidFill>
                <a:effectLst/>
                <a:latin typeface="Consolas" panose="020B0609020204030204" pitchFamily="49" charset="0"/>
              </a:rPr>
              <a:t>1min</a:t>
            </a:r>
            <a:br>
              <a:rPr kumimoji="0" lang="zh-CN" altLang="zh-CN" sz="1300" b="0" i="0" u="none" strike="noStrike" cap="none" normalizeH="0" baseline="0" dirty="0">
                <a:ln>
                  <a:noFill/>
                </a:ln>
                <a:solidFill>
                  <a:srgbClr val="75715E"/>
                </a:solidFill>
                <a:effectLst/>
                <a:latin typeface="Consolas" panose="020B0609020204030204" pitchFamily="49" charset="0"/>
              </a:rPr>
            </a:br>
            <a:r>
              <a:rPr kumimoji="0" lang="zh-CN" altLang="zh-CN" sz="1300" b="0" i="0" u="none" strike="noStrike" cap="none" normalizeH="0" baseline="0" dirty="0">
                <a:ln>
                  <a:noFill/>
                </a:ln>
                <a:solidFill>
                  <a:srgbClr val="75715E"/>
                </a:solidFill>
                <a:effectLst/>
                <a:latin typeface="Consolas" panose="020B0609020204030204" pitchFamily="49" charset="0"/>
              </a:rPr>
              <a:t>  </a:t>
            </a:r>
            <a:r>
              <a:rPr kumimoji="0" lang="zh-CN" altLang="zh-CN" sz="1300" b="0" i="0" u="none" strike="noStrike" cap="none" normalizeH="0" baseline="0" dirty="0">
                <a:ln>
                  <a:noFill/>
                </a:ln>
                <a:solidFill>
                  <a:srgbClr val="F92672"/>
                </a:solidFill>
                <a:effectLst/>
                <a:latin typeface="Consolas" panose="020B0609020204030204" pitchFamily="49" charset="0"/>
              </a:rPr>
              <a:t>scrape_</a:t>
            </a:r>
            <a:r>
              <a:rPr lang="zh-CN" altLang="zh-CN" sz="1300" dirty="0">
                <a:solidFill>
                  <a:srgbClr val="F92672"/>
                </a:solidFill>
                <a:latin typeface="Consolas" panose="020B0609020204030204" pitchFamily="49" charset="0"/>
              </a:rPr>
              <a:t>timeout: 15s </a:t>
            </a:r>
            <a:r>
              <a:rPr kumimoji="0" lang="zh-CN" altLang="zh-CN" sz="1300" b="0" i="0" u="none" strike="noStrike" cap="none" normalizeH="0" baseline="0" dirty="0">
                <a:ln>
                  <a:noFill/>
                </a:ln>
                <a:solidFill>
                  <a:srgbClr val="75715E"/>
                </a:solidFill>
                <a:effectLst/>
                <a:latin typeface="Consolas" panose="020B0609020204030204" pitchFamily="49" charset="0"/>
              </a:rPr>
              <a:t>#</a:t>
            </a:r>
            <a:r>
              <a:rPr kumimoji="0" lang="zh-CN" altLang="zh-CN" sz="1300" b="0" i="0" u="none" strike="noStrike" cap="none" normalizeH="0" baseline="0" dirty="0">
                <a:ln>
                  <a:noFill/>
                </a:ln>
                <a:solidFill>
                  <a:srgbClr val="75715E"/>
                </a:solidFill>
                <a:effectLst/>
                <a:latin typeface="宋体-18030" panose="02010609060101010101" pitchFamily="49" charset="-122"/>
                <a:ea typeface="宋体-18030" panose="02010609060101010101" pitchFamily="49" charset="-122"/>
                <a:cs typeface="宋体-18030" panose="02010609060101010101" pitchFamily="49" charset="-122"/>
              </a:rPr>
              <a:t>设定抓取数据的超时时间，默认为</a:t>
            </a:r>
            <a:r>
              <a:rPr kumimoji="0" lang="zh-CN" altLang="zh-CN" sz="1300" b="0" i="0" u="none" strike="noStrike" cap="none" normalizeH="0" baseline="0" dirty="0">
                <a:ln>
                  <a:noFill/>
                </a:ln>
                <a:solidFill>
                  <a:srgbClr val="75715E"/>
                </a:solidFill>
                <a:effectLst/>
                <a:latin typeface="Consolas" panose="020B0609020204030204" pitchFamily="49" charset="0"/>
              </a:rPr>
              <a:t>10S</a:t>
            </a:r>
            <a:br>
              <a:rPr kumimoji="0" lang="zh-CN" altLang="zh-CN" sz="1300" b="0" i="0" u="none" strike="noStrike" cap="none" normalizeH="0" baseline="0" dirty="0">
                <a:ln>
                  <a:noFill/>
                </a:ln>
                <a:solidFill>
                  <a:srgbClr val="75715E"/>
                </a:solidFill>
                <a:effectLst/>
                <a:latin typeface="Consolas" panose="020B0609020204030204" pitchFamily="49" charset="0"/>
              </a:rPr>
            </a:br>
            <a:r>
              <a:rPr kumimoji="0" lang="zh-CN" altLang="zh-CN" sz="1300" b="0" i="0" u="none" strike="noStrike" cap="none" normalizeH="0" baseline="0" dirty="0">
                <a:ln>
                  <a:noFill/>
                </a:ln>
                <a:solidFill>
                  <a:srgbClr val="F92672"/>
                </a:solidFill>
                <a:effectLst/>
                <a:latin typeface="Consolas" panose="020B0609020204030204" pitchFamily="49" charset="0"/>
              </a:rPr>
              <a:t>alerting:</a:t>
            </a:r>
            <a:br>
              <a:rPr kumimoji="0" lang="zh-CN" altLang="zh-CN" sz="1300" b="0" i="0" u="none" strike="noStrike" cap="none" normalizeH="0" baseline="0" dirty="0">
                <a:ln>
                  <a:noFill/>
                </a:ln>
                <a:solidFill>
                  <a:srgbClr val="F92672"/>
                </a:solidFill>
                <a:effectLst/>
                <a:latin typeface="Consolas" panose="020B0609020204030204" pitchFamily="49" charset="0"/>
              </a:rPr>
            </a:br>
            <a:r>
              <a:rPr kumimoji="0" lang="zh-CN" altLang="zh-CN" sz="1300" b="0" i="0" u="none" strike="noStrike" cap="none" normalizeH="0" baseline="0" dirty="0">
                <a:ln>
                  <a:noFill/>
                </a:ln>
                <a:solidFill>
                  <a:srgbClr val="F92672"/>
                </a:solidFill>
                <a:effectLst/>
                <a:latin typeface="Consolas" panose="020B0609020204030204" pitchFamily="49" charset="0"/>
              </a:rPr>
              <a:t>  alertmanagers:</a:t>
            </a:r>
            <a:br>
              <a:rPr kumimoji="0" lang="zh-CN" altLang="zh-CN" sz="1300" b="0" i="0" u="none" strike="noStrike" cap="none" normalizeH="0" baseline="0" dirty="0">
                <a:ln>
                  <a:noFill/>
                </a:ln>
                <a:solidFill>
                  <a:srgbClr val="F92672"/>
                </a:solidFill>
                <a:effectLst/>
                <a:latin typeface="Consolas" panose="020B0609020204030204" pitchFamily="49" charset="0"/>
              </a:rPr>
            </a:br>
            <a:r>
              <a:rPr kumimoji="0" lang="zh-CN" altLang="zh-CN" sz="1300" b="0" i="0" u="none" strike="noStrike" cap="none" normalizeH="0" baseline="0" dirty="0">
                <a:ln>
                  <a:noFill/>
                </a:ln>
                <a:solidFill>
                  <a:srgbClr val="F92672"/>
                </a:solidFill>
                <a:effectLst/>
                <a:latin typeface="Consolas" panose="020B0609020204030204" pitchFamily="49" charset="0"/>
              </a:rPr>
              <a:t>  - static_configs:</a:t>
            </a:r>
            <a:br>
              <a:rPr kumimoji="0" lang="zh-CN" altLang="zh-CN" sz="1300" b="0" i="0" u="none" strike="noStrike" cap="none" normalizeH="0" baseline="0" dirty="0">
                <a:ln>
                  <a:noFill/>
                </a:ln>
                <a:solidFill>
                  <a:srgbClr val="F92672"/>
                </a:solidFill>
                <a:effectLst/>
                <a:latin typeface="Consolas" panose="020B0609020204030204" pitchFamily="49" charset="0"/>
              </a:rPr>
            </a:br>
            <a:r>
              <a:rPr lang="zh-CN" altLang="zh-CN" sz="1300" dirty="0">
                <a:solidFill>
                  <a:srgbClr val="F92672"/>
                </a:solidFill>
                <a:latin typeface="Consolas" panose="020B0609020204030204" pitchFamily="49" charset="0"/>
              </a:rPr>
              <a:t>    - targets:</a:t>
            </a:r>
            <a:br>
              <a:rPr lang="zh-CN" altLang="zh-CN" sz="1300" dirty="0">
                <a:solidFill>
                  <a:srgbClr val="F92672"/>
                </a:solidFill>
                <a:latin typeface="Consolas" panose="020B0609020204030204" pitchFamily="49" charset="0"/>
              </a:rPr>
            </a:br>
            <a:r>
              <a:rPr lang="zh-CN" altLang="zh-CN" sz="1300" dirty="0">
                <a:solidFill>
                  <a:srgbClr val="F92672"/>
                </a:solidFill>
                <a:latin typeface="Consolas" panose="020B0609020204030204" pitchFamily="49" charset="0"/>
              </a:rPr>
              <a:t>      - alertmanager.pcloud.internal:</a:t>
            </a:r>
            <a:r>
              <a:rPr lang="en-US" altLang="zh-CN" sz="1300" dirty="0">
                <a:solidFill>
                  <a:srgbClr val="F92672"/>
                </a:solidFill>
                <a:latin typeface="Consolas" panose="020B0609020204030204" pitchFamily="49" charset="0"/>
              </a:rPr>
              <a:t>6015</a:t>
            </a:r>
            <a:r>
              <a:rPr lang="zh-CN" altLang="zh-CN" sz="1300" dirty="0">
                <a:solidFill>
                  <a:srgbClr val="F92672"/>
                </a:solidFill>
                <a:latin typeface="Consolas" panose="020B0609020204030204" pitchFamily="49" charset="0"/>
              </a:rPr>
              <a:t/>
            </a:r>
            <a:br>
              <a:rPr lang="zh-CN" altLang="zh-CN" sz="1300" dirty="0">
                <a:solidFill>
                  <a:srgbClr val="F92672"/>
                </a:solidFill>
                <a:latin typeface="Consolas" panose="020B0609020204030204" pitchFamily="49" charset="0"/>
              </a:rPr>
            </a:br>
            <a:r>
              <a:rPr lang="zh-CN" altLang="zh-CN" sz="1300" dirty="0">
                <a:solidFill>
                  <a:srgbClr val="F92672"/>
                </a:solidFill>
                <a:latin typeface="Consolas" panose="020B0609020204030204" pitchFamily="49" charset="0"/>
              </a:rPr>
              <a:t>rule_files:</a:t>
            </a:r>
            <a:br>
              <a:rPr lang="zh-CN" altLang="zh-CN" sz="1300" dirty="0">
                <a:solidFill>
                  <a:srgbClr val="F92672"/>
                </a:solidFill>
                <a:latin typeface="Consolas" panose="020B0609020204030204" pitchFamily="49" charset="0"/>
              </a:rPr>
            </a:br>
            <a:r>
              <a:rPr lang="zh-CN" altLang="zh-CN" sz="1300" dirty="0">
                <a:solidFill>
                  <a:srgbClr val="F92672"/>
                </a:solidFill>
                <a:latin typeface="Consolas" panose="020B0609020204030204" pitchFamily="49" charset="0"/>
              </a:rPr>
              <a:t>- .</a:t>
            </a:r>
            <a:r>
              <a:rPr lang="en-US" altLang="zh-CN" sz="1300" dirty="0">
                <a:solidFill>
                  <a:srgbClr val="F92672"/>
                </a:solidFill>
                <a:latin typeface="Consolas" panose="020B0609020204030204" pitchFamily="49" charset="0"/>
              </a:rPr>
              <a:t>/conf</a:t>
            </a:r>
            <a:r>
              <a:rPr lang="zh-CN" altLang="zh-CN" sz="1300" dirty="0">
                <a:solidFill>
                  <a:srgbClr val="F92672"/>
                </a:solidFill>
                <a:latin typeface="Consolas" panose="020B0609020204030204" pitchFamily="49" charset="0"/>
              </a:rPr>
              <a:t>/rules/*.yml</a:t>
            </a:r>
            <a:br>
              <a:rPr lang="zh-CN" altLang="zh-CN" sz="1300" dirty="0">
                <a:solidFill>
                  <a:srgbClr val="F92672"/>
                </a:solidFill>
                <a:latin typeface="Consolas" panose="020B0609020204030204" pitchFamily="49" charset="0"/>
              </a:rPr>
            </a:br>
            <a:r>
              <a:rPr lang="zh-CN" altLang="zh-CN" sz="1300" dirty="0">
                <a:solidFill>
                  <a:srgbClr val="F92672"/>
                </a:solidFill>
                <a:latin typeface="Consolas" panose="020B0609020204030204" pitchFamily="49" charset="0"/>
              </a:rPr>
              <a:t>- .</a:t>
            </a:r>
            <a:r>
              <a:rPr lang="en-US" altLang="zh-CN" sz="1300" dirty="0">
                <a:solidFill>
                  <a:srgbClr val="F92672"/>
                </a:solidFill>
                <a:latin typeface="Consolas" panose="020B0609020204030204" pitchFamily="49" charset="0"/>
              </a:rPr>
              <a:t>/conf</a:t>
            </a:r>
            <a:r>
              <a:rPr lang="zh-CN" altLang="zh-CN" sz="1300" dirty="0">
                <a:solidFill>
                  <a:srgbClr val="F92672"/>
                </a:solidFill>
                <a:latin typeface="Consolas" panose="020B0609020204030204" pitchFamily="49" charset="0"/>
              </a:rPr>
              <a:t>/record_rules/*.yml</a:t>
            </a:r>
          </a:p>
        </p:txBody>
      </p:sp>
      <p:grpSp>
        <p:nvGrpSpPr>
          <p:cNvPr id="85" name="组合 84"/>
          <p:cNvGrpSpPr/>
          <p:nvPr/>
        </p:nvGrpSpPr>
        <p:grpSpPr>
          <a:xfrm>
            <a:off x="29281" y="4104430"/>
            <a:ext cx="7552618" cy="1697557"/>
            <a:chOff x="29281" y="4104430"/>
            <a:chExt cx="7552618" cy="1697557"/>
          </a:xfrm>
        </p:grpSpPr>
        <p:cxnSp>
          <p:nvCxnSpPr>
            <p:cNvPr id="6" name="直接连接符 5"/>
            <p:cNvCxnSpPr>
              <a:stCxn id="16" idx="3"/>
            </p:cNvCxnSpPr>
            <p:nvPr/>
          </p:nvCxnSpPr>
          <p:spPr>
            <a:xfrm>
              <a:off x="1417999" y="5151083"/>
              <a:ext cx="5987548" cy="9856"/>
            </a:xfrm>
            <a:prstGeom prst="line">
              <a:avLst/>
            </a:prstGeom>
            <a:noFill/>
            <a:ln w="25400" cap="flat">
              <a:solidFill>
                <a:schemeClr val="accent1"/>
              </a:solidFill>
              <a:prstDash val="solid"/>
              <a:round/>
            </a:ln>
            <a:effectLst>
              <a:outerShdw blurRad="38100" dist="20000" dir="5400000" rotWithShape="0">
                <a:srgbClr val="000000">
                  <a:alpha val="38000"/>
                </a:srgbClr>
              </a:outerShdw>
            </a:effectLst>
            <a:sp3d/>
          </p:spPr>
          <p:style>
            <a:lnRef idx="0">
              <a:scrgbClr r="0" g="0" b="0"/>
            </a:lnRef>
            <a:fillRef idx="0">
              <a:scrgbClr r="0" g="0" b="0"/>
            </a:fillRef>
            <a:effectRef idx="0">
              <a:scrgbClr r="0" g="0" b="0"/>
            </a:effectRef>
            <a:fontRef idx="none"/>
          </p:style>
        </p:cxnSp>
        <p:sp>
          <p:nvSpPr>
            <p:cNvPr id="9" name="文本框 8"/>
            <p:cNvSpPr txBox="1"/>
            <p:nvPr/>
          </p:nvSpPr>
          <p:spPr>
            <a:xfrm>
              <a:off x="509058" y="4189211"/>
              <a:ext cx="974744" cy="30777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575980" rtl="0" fontAlgn="auto" latinLnBrk="0" hangingPunct="0">
                <a:lnSpc>
                  <a:spcPct val="100000"/>
                </a:lnSpc>
                <a:spcBef>
                  <a:spcPts val="0"/>
                </a:spcBef>
                <a:spcAft>
                  <a:spcPts val="0"/>
                </a:spcAft>
                <a:buClrTx/>
                <a:buSzTx/>
                <a:buFontTx/>
                <a:buNone/>
                <a:tabLst/>
              </a:pPr>
              <a:r>
                <a:rPr lang="zh-CN" altLang="en-US" sz="1400" dirty="0"/>
                <a:t>采集周期</a:t>
              </a:r>
              <a:endParaRPr kumimoji="0" lang="zh-CN" altLang="en-US" sz="1400" b="0" i="0" u="none" strike="noStrike" cap="none" spc="0" normalizeH="0" baseline="0" dirty="0">
                <a:ln>
                  <a:noFill/>
                </a:ln>
                <a:solidFill>
                  <a:srgbClr val="000000"/>
                </a:solidFill>
                <a:effectLst/>
                <a:uFillTx/>
                <a:sym typeface="Calibri"/>
              </a:endParaRPr>
            </a:p>
          </p:txBody>
        </p:sp>
        <p:cxnSp>
          <p:nvCxnSpPr>
            <p:cNvPr id="11" name="直接连接符 10"/>
            <p:cNvCxnSpPr/>
            <p:nvPr/>
          </p:nvCxnSpPr>
          <p:spPr>
            <a:xfrm>
              <a:off x="1483803" y="4435573"/>
              <a:ext cx="5921744" cy="37656"/>
            </a:xfrm>
            <a:prstGeom prst="line">
              <a:avLst/>
            </a:prstGeom>
            <a:noFill/>
            <a:ln w="25400" cap="flat">
              <a:solidFill>
                <a:schemeClr val="accent1"/>
              </a:solidFill>
              <a:prstDash val="solid"/>
              <a:round/>
            </a:ln>
            <a:effectLst>
              <a:outerShdw blurRad="38100" dist="20000" dir="5400000" rotWithShape="0">
                <a:srgbClr val="000000">
                  <a:alpha val="38000"/>
                </a:srgbClr>
              </a:outerShdw>
            </a:effectLst>
            <a:sp3d/>
          </p:spPr>
          <p:style>
            <a:lnRef idx="0">
              <a:scrgbClr r="0" g="0" b="0"/>
            </a:lnRef>
            <a:fillRef idx="0">
              <a:scrgbClr r="0" g="0" b="0"/>
            </a:fillRef>
            <a:effectRef idx="0">
              <a:scrgbClr r="0" g="0" b="0"/>
            </a:effectRef>
            <a:fontRef idx="none"/>
          </p:style>
        </p:cxnSp>
        <p:sp>
          <p:nvSpPr>
            <p:cNvPr id="14" name="椭圆 13"/>
            <p:cNvSpPr/>
            <p:nvPr/>
          </p:nvSpPr>
          <p:spPr>
            <a:xfrm>
              <a:off x="2131700" y="5081734"/>
              <a:ext cx="131606" cy="112690"/>
            </a:xfrm>
            <a:prstGeom prst="ellipse">
              <a:avLst/>
            </a:prstGeom>
            <a:solidFill>
              <a:srgbClr val="FFFFFF"/>
            </a:solidFill>
            <a:ln w="25400" cap="flat">
              <a:solidFill>
                <a:schemeClr val="accent1"/>
              </a:solidFill>
              <a:prstDash val="solid"/>
              <a:round/>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575980" rtl="0" fontAlgn="auto" latinLnBrk="0" hangingPunct="0">
                <a:lnSpc>
                  <a:spcPct val="100000"/>
                </a:lnSpc>
                <a:spcBef>
                  <a:spcPts val="0"/>
                </a:spcBef>
                <a:spcAft>
                  <a:spcPts val="0"/>
                </a:spcAft>
                <a:buClrTx/>
                <a:buSzTx/>
                <a:buFontTx/>
                <a:buNone/>
                <a:tabLst/>
              </a:pPr>
              <a:endParaRPr kumimoji="0" lang="zh-CN" altLang="en-US" sz="2200" b="0" i="0" u="none" strike="noStrike" cap="none" spc="0" normalizeH="0" baseline="0">
                <a:ln>
                  <a:noFill/>
                </a:ln>
                <a:solidFill>
                  <a:srgbClr val="000000"/>
                </a:solidFill>
                <a:effectLst/>
                <a:uFillTx/>
                <a:latin typeface="Calibri"/>
                <a:ea typeface="Calibri"/>
                <a:cs typeface="Calibri"/>
                <a:sym typeface="Calibri"/>
              </a:endParaRPr>
            </a:p>
          </p:txBody>
        </p:sp>
        <p:sp>
          <p:nvSpPr>
            <p:cNvPr id="15" name="文本框 14"/>
            <p:cNvSpPr txBox="1"/>
            <p:nvPr/>
          </p:nvSpPr>
          <p:spPr>
            <a:xfrm>
              <a:off x="29281" y="4593203"/>
              <a:ext cx="1340067" cy="30777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575980" rtl="0" fontAlgn="auto" latinLnBrk="0" hangingPunct="0">
                <a:lnSpc>
                  <a:spcPct val="100000"/>
                </a:lnSpc>
                <a:spcBef>
                  <a:spcPts val="0"/>
                </a:spcBef>
                <a:spcAft>
                  <a:spcPts val="0"/>
                </a:spcAft>
                <a:buClrTx/>
                <a:buSzTx/>
                <a:buFontTx/>
                <a:buNone/>
                <a:tabLst/>
              </a:pPr>
              <a:r>
                <a:rPr lang="en-US" altLang="zh-CN" sz="1400" dirty="0" err="1"/>
                <a:t>memory_uptime</a:t>
              </a:r>
              <a:endParaRPr kumimoji="0" lang="zh-CN" altLang="en-US" sz="1400" b="0" i="0" u="none" strike="noStrike" cap="none" spc="0" normalizeH="0" baseline="0" dirty="0">
                <a:ln>
                  <a:noFill/>
                </a:ln>
                <a:solidFill>
                  <a:srgbClr val="000000"/>
                </a:solidFill>
                <a:effectLst/>
                <a:uFillTx/>
                <a:sym typeface="Calibri"/>
              </a:endParaRPr>
            </a:p>
          </p:txBody>
        </p:sp>
        <p:sp>
          <p:nvSpPr>
            <p:cNvPr id="16" name="文本框 15"/>
            <p:cNvSpPr txBox="1"/>
            <p:nvPr/>
          </p:nvSpPr>
          <p:spPr>
            <a:xfrm>
              <a:off x="362951" y="4997195"/>
              <a:ext cx="1055048" cy="30777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575980" rtl="0" fontAlgn="auto" latinLnBrk="0" hangingPunct="0">
                <a:lnSpc>
                  <a:spcPct val="100000"/>
                </a:lnSpc>
                <a:spcBef>
                  <a:spcPts val="0"/>
                </a:spcBef>
                <a:spcAft>
                  <a:spcPts val="0"/>
                </a:spcAft>
                <a:buClrTx/>
                <a:buSzTx/>
                <a:buFontTx/>
                <a:buNone/>
                <a:tabLst/>
              </a:pPr>
              <a:r>
                <a:rPr lang="zh-CN" altLang="en-US" sz="1400" dirty="0"/>
                <a:t>计算周期</a:t>
              </a:r>
              <a:endParaRPr kumimoji="0" lang="zh-CN" altLang="en-US" sz="1400" b="0" i="0" u="none" strike="noStrike" cap="none" spc="0" normalizeH="0" baseline="0" dirty="0">
                <a:ln>
                  <a:noFill/>
                </a:ln>
                <a:solidFill>
                  <a:srgbClr val="000000"/>
                </a:solidFill>
                <a:effectLst/>
                <a:uFillTx/>
                <a:sym typeface="Calibri"/>
              </a:endParaRPr>
            </a:p>
          </p:txBody>
        </p:sp>
        <p:sp>
          <p:nvSpPr>
            <p:cNvPr id="17" name="文本框 16"/>
            <p:cNvSpPr txBox="1"/>
            <p:nvPr/>
          </p:nvSpPr>
          <p:spPr>
            <a:xfrm>
              <a:off x="362951" y="5397404"/>
              <a:ext cx="1055048" cy="30777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575980" rtl="0" fontAlgn="auto" latinLnBrk="0" hangingPunct="0">
                <a:lnSpc>
                  <a:spcPct val="100000"/>
                </a:lnSpc>
                <a:spcBef>
                  <a:spcPts val="0"/>
                </a:spcBef>
                <a:spcAft>
                  <a:spcPts val="0"/>
                </a:spcAft>
                <a:buClrTx/>
                <a:buSzTx/>
                <a:buFontTx/>
                <a:buNone/>
                <a:tabLst/>
              </a:pPr>
              <a:r>
                <a:rPr kumimoji="0" lang="zh-CN" altLang="en-US" sz="1400" b="0" i="0" u="none" strike="noStrike" cap="none" spc="0" normalizeH="0" baseline="0" dirty="0">
                  <a:ln>
                    <a:noFill/>
                  </a:ln>
                  <a:solidFill>
                    <a:srgbClr val="000000"/>
                  </a:solidFill>
                  <a:effectLst/>
                  <a:uFillTx/>
                  <a:sym typeface="Calibri"/>
                </a:rPr>
                <a:t>告警状态</a:t>
              </a:r>
            </a:p>
          </p:txBody>
        </p:sp>
        <p:sp>
          <p:nvSpPr>
            <p:cNvPr id="25" name="椭圆 24"/>
            <p:cNvSpPr/>
            <p:nvPr/>
          </p:nvSpPr>
          <p:spPr>
            <a:xfrm>
              <a:off x="2638803" y="5095822"/>
              <a:ext cx="131606" cy="112690"/>
            </a:xfrm>
            <a:prstGeom prst="ellipse">
              <a:avLst/>
            </a:prstGeom>
            <a:solidFill>
              <a:srgbClr val="FFFFFF"/>
            </a:solidFill>
            <a:ln w="25400" cap="flat">
              <a:solidFill>
                <a:schemeClr val="accent1"/>
              </a:solidFill>
              <a:prstDash val="solid"/>
              <a:round/>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575980" rtl="0" fontAlgn="auto" latinLnBrk="0" hangingPunct="0">
                <a:lnSpc>
                  <a:spcPct val="100000"/>
                </a:lnSpc>
                <a:spcBef>
                  <a:spcPts val="0"/>
                </a:spcBef>
                <a:spcAft>
                  <a:spcPts val="0"/>
                </a:spcAft>
                <a:buClrTx/>
                <a:buSzTx/>
                <a:buFontTx/>
                <a:buNone/>
                <a:tabLst/>
              </a:pPr>
              <a:endParaRPr kumimoji="0" lang="zh-CN" altLang="en-US" sz="2200" b="0" i="0" u="none" strike="noStrike" cap="none" spc="0" normalizeH="0" baseline="0">
                <a:ln>
                  <a:noFill/>
                </a:ln>
                <a:solidFill>
                  <a:srgbClr val="000000"/>
                </a:solidFill>
                <a:effectLst/>
                <a:uFillTx/>
                <a:latin typeface="Calibri"/>
                <a:ea typeface="Calibri"/>
                <a:cs typeface="Calibri"/>
                <a:sym typeface="Calibri"/>
              </a:endParaRPr>
            </a:p>
          </p:txBody>
        </p:sp>
        <p:sp>
          <p:nvSpPr>
            <p:cNvPr id="26" name="椭圆 25"/>
            <p:cNvSpPr/>
            <p:nvPr/>
          </p:nvSpPr>
          <p:spPr>
            <a:xfrm>
              <a:off x="3145907" y="5097031"/>
              <a:ext cx="131606" cy="112690"/>
            </a:xfrm>
            <a:prstGeom prst="ellipse">
              <a:avLst/>
            </a:prstGeom>
            <a:solidFill>
              <a:srgbClr val="FFFFFF"/>
            </a:solidFill>
            <a:ln w="25400" cap="flat">
              <a:solidFill>
                <a:schemeClr val="accent1"/>
              </a:solidFill>
              <a:prstDash val="solid"/>
              <a:round/>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575980" rtl="0" fontAlgn="auto" latinLnBrk="0" hangingPunct="0">
                <a:lnSpc>
                  <a:spcPct val="100000"/>
                </a:lnSpc>
                <a:spcBef>
                  <a:spcPts val="0"/>
                </a:spcBef>
                <a:spcAft>
                  <a:spcPts val="0"/>
                </a:spcAft>
                <a:buClrTx/>
                <a:buSzTx/>
                <a:buFontTx/>
                <a:buNone/>
                <a:tabLst/>
              </a:pPr>
              <a:endParaRPr kumimoji="0" lang="zh-CN" altLang="en-US" sz="2200" b="0" i="0" u="none" strike="noStrike" cap="none" spc="0" normalizeH="0" baseline="0">
                <a:ln>
                  <a:noFill/>
                </a:ln>
                <a:solidFill>
                  <a:srgbClr val="000000"/>
                </a:solidFill>
                <a:effectLst/>
                <a:uFillTx/>
                <a:latin typeface="Calibri"/>
                <a:ea typeface="Calibri"/>
                <a:cs typeface="Calibri"/>
                <a:sym typeface="Calibri"/>
              </a:endParaRPr>
            </a:p>
          </p:txBody>
        </p:sp>
        <p:sp>
          <p:nvSpPr>
            <p:cNvPr id="27" name="椭圆 26"/>
            <p:cNvSpPr/>
            <p:nvPr/>
          </p:nvSpPr>
          <p:spPr>
            <a:xfrm>
              <a:off x="3653010" y="5094357"/>
              <a:ext cx="131606" cy="112690"/>
            </a:xfrm>
            <a:prstGeom prst="ellipse">
              <a:avLst/>
            </a:prstGeom>
            <a:solidFill>
              <a:srgbClr val="FFFFFF"/>
            </a:solidFill>
            <a:ln w="25400" cap="flat">
              <a:solidFill>
                <a:schemeClr val="accent1"/>
              </a:solidFill>
              <a:prstDash val="solid"/>
              <a:round/>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575980" rtl="0" fontAlgn="auto" latinLnBrk="0" hangingPunct="0">
                <a:lnSpc>
                  <a:spcPct val="100000"/>
                </a:lnSpc>
                <a:spcBef>
                  <a:spcPts val="0"/>
                </a:spcBef>
                <a:spcAft>
                  <a:spcPts val="0"/>
                </a:spcAft>
                <a:buClrTx/>
                <a:buSzTx/>
                <a:buFontTx/>
                <a:buNone/>
                <a:tabLst/>
              </a:pPr>
              <a:endParaRPr kumimoji="0" lang="zh-CN" altLang="en-US" sz="2200" b="0" i="0" u="none" strike="noStrike" cap="none" spc="0" normalizeH="0" baseline="0">
                <a:ln>
                  <a:noFill/>
                </a:ln>
                <a:solidFill>
                  <a:srgbClr val="000000"/>
                </a:solidFill>
                <a:effectLst/>
                <a:uFillTx/>
                <a:latin typeface="Calibri"/>
                <a:ea typeface="Calibri"/>
                <a:cs typeface="Calibri"/>
                <a:sym typeface="Calibri"/>
              </a:endParaRPr>
            </a:p>
          </p:txBody>
        </p:sp>
        <p:sp>
          <p:nvSpPr>
            <p:cNvPr id="28" name="椭圆 27"/>
            <p:cNvSpPr/>
            <p:nvPr/>
          </p:nvSpPr>
          <p:spPr>
            <a:xfrm>
              <a:off x="4160113" y="5095565"/>
              <a:ext cx="131606" cy="112690"/>
            </a:xfrm>
            <a:prstGeom prst="ellipse">
              <a:avLst/>
            </a:prstGeom>
            <a:solidFill>
              <a:srgbClr val="FFFFFF"/>
            </a:solidFill>
            <a:ln w="25400" cap="flat">
              <a:solidFill>
                <a:schemeClr val="accent1"/>
              </a:solidFill>
              <a:prstDash val="solid"/>
              <a:round/>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575980" rtl="0" fontAlgn="auto" latinLnBrk="0" hangingPunct="0">
                <a:lnSpc>
                  <a:spcPct val="100000"/>
                </a:lnSpc>
                <a:spcBef>
                  <a:spcPts val="0"/>
                </a:spcBef>
                <a:spcAft>
                  <a:spcPts val="0"/>
                </a:spcAft>
                <a:buClrTx/>
                <a:buSzTx/>
                <a:buFontTx/>
                <a:buNone/>
                <a:tabLst/>
              </a:pPr>
              <a:endParaRPr kumimoji="0" lang="zh-CN" altLang="en-US" sz="2200" b="0" i="0" u="none" strike="noStrike" cap="none" spc="0" normalizeH="0" baseline="0">
                <a:ln>
                  <a:noFill/>
                </a:ln>
                <a:solidFill>
                  <a:srgbClr val="000000"/>
                </a:solidFill>
                <a:effectLst/>
                <a:uFillTx/>
                <a:latin typeface="Calibri"/>
                <a:ea typeface="Calibri"/>
                <a:cs typeface="Calibri"/>
                <a:sym typeface="Calibri"/>
              </a:endParaRPr>
            </a:p>
          </p:txBody>
        </p:sp>
        <p:sp>
          <p:nvSpPr>
            <p:cNvPr id="29" name="椭圆 28"/>
            <p:cNvSpPr/>
            <p:nvPr/>
          </p:nvSpPr>
          <p:spPr>
            <a:xfrm>
              <a:off x="4667217" y="5112712"/>
              <a:ext cx="131606" cy="112690"/>
            </a:xfrm>
            <a:prstGeom prst="ellipse">
              <a:avLst/>
            </a:prstGeom>
            <a:solidFill>
              <a:srgbClr val="FFFFFF"/>
            </a:solidFill>
            <a:ln w="25400" cap="flat">
              <a:solidFill>
                <a:schemeClr val="accent1"/>
              </a:solidFill>
              <a:prstDash val="solid"/>
              <a:round/>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575980" rtl="0" fontAlgn="auto" latinLnBrk="0" hangingPunct="0">
                <a:lnSpc>
                  <a:spcPct val="100000"/>
                </a:lnSpc>
                <a:spcBef>
                  <a:spcPts val="0"/>
                </a:spcBef>
                <a:spcAft>
                  <a:spcPts val="0"/>
                </a:spcAft>
                <a:buClrTx/>
                <a:buSzTx/>
                <a:buFontTx/>
                <a:buNone/>
                <a:tabLst/>
              </a:pPr>
              <a:endParaRPr kumimoji="0" lang="zh-CN" altLang="en-US" sz="2200" b="0" i="0" u="none" strike="noStrike" cap="none" spc="0" normalizeH="0" baseline="0">
                <a:ln>
                  <a:noFill/>
                </a:ln>
                <a:solidFill>
                  <a:srgbClr val="000000"/>
                </a:solidFill>
                <a:effectLst/>
                <a:uFillTx/>
                <a:latin typeface="Calibri"/>
                <a:ea typeface="Calibri"/>
                <a:cs typeface="Calibri"/>
                <a:sym typeface="Calibri"/>
              </a:endParaRPr>
            </a:p>
          </p:txBody>
        </p:sp>
        <p:sp>
          <p:nvSpPr>
            <p:cNvPr id="30" name="椭圆 29"/>
            <p:cNvSpPr/>
            <p:nvPr/>
          </p:nvSpPr>
          <p:spPr>
            <a:xfrm>
              <a:off x="5174320" y="5106301"/>
              <a:ext cx="131606" cy="112690"/>
            </a:xfrm>
            <a:prstGeom prst="ellipse">
              <a:avLst/>
            </a:prstGeom>
            <a:solidFill>
              <a:srgbClr val="FFFFFF"/>
            </a:solidFill>
            <a:ln w="25400" cap="flat">
              <a:solidFill>
                <a:schemeClr val="accent1"/>
              </a:solidFill>
              <a:prstDash val="solid"/>
              <a:round/>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575980" rtl="0" fontAlgn="auto" latinLnBrk="0" hangingPunct="0">
                <a:lnSpc>
                  <a:spcPct val="100000"/>
                </a:lnSpc>
                <a:spcBef>
                  <a:spcPts val="0"/>
                </a:spcBef>
                <a:spcAft>
                  <a:spcPts val="0"/>
                </a:spcAft>
                <a:buClrTx/>
                <a:buSzTx/>
                <a:buFontTx/>
                <a:buNone/>
                <a:tabLst/>
              </a:pPr>
              <a:endParaRPr kumimoji="0" lang="zh-CN" altLang="en-US" sz="2200" b="0" i="0" u="none" strike="noStrike" cap="none" spc="0" normalizeH="0" baseline="0">
                <a:ln>
                  <a:noFill/>
                </a:ln>
                <a:solidFill>
                  <a:srgbClr val="000000"/>
                </a:solidFill>
                <a:effectLst/>
                <a:uFillTx/>
                <a:latin typeface="Calibri"/>
                <a:ea typeface="Calibri"/>
                <a:cs typeface="Calibri"/>
                <a:sym typeface="Calibri"/>
              </a:endParaRPr>
            </a:p>
          </p:txBody>
        </p:sp>
        <p:sp>
          <p:nvSpPr>
            <p:cNvPr id="31" name="椭圆 30"/>
            <p:cNvSpPr/>
            <p:nvPr/>
          </p:nvSpPr>
          <p:spPr>
            <a:xfrm>
              <a:off x="5681423" y="5097530"/>
              <a:ext cx="131606" cy="112690"/>
            </a:xfrm>
            <a:prstGeom prst="ellipse">
              <a:avLst/>
            </a:prstGeom>
            <a:solidFill>
              <a:srgbClr val="FFFFFF"/>
            </a:solidFill>
            <a:ln w="25400" cap="flat">
              <a:solidFill>
                <a:schemeClr val="accent1"/>
              </a:solidFill>
              <a:prstDash val="solid"/>
              <a:round/>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575980" rtl="0" fontAlgn="auto" latinLnBrk="0" hangingPunct="0">
                <a:lnSpc>
                  <a:spcPct val="100000"/>
                </a:lnSpc>
                <a:spcBef>
                  <a:spcPts val="0"/>
                </a:spcBef>
                <a:spcAft>
                  <a:spcPts val="0"/>
                </a:spcAft>
                <a:buClrTx/>
                <a:buSzTx/>
                <a:buFontTx/>
                <a:buNone/>
                <a:tabLst/>
              </a:pPr>
              <a:endParaRPr kumimoji="0" lang="zh-CN" altLang="en-US" sz="2200" b="0" i="0" u="none" strike="noStrike" cap="none" spc="0" normalizeH="0" baseline="0">
                <a:ln>
                  <a:noFill/>
                </a:ln>
                <a:solidFill>
                  <a:srgbClr val="000000"/>
                </a:solidFill>
                <a:effectLst/>
                <a:uFillTx/>
                <a:latin typeface="Calibri"/>
                <a:ea typeface="Calibri"/>
                <a:cs typeface="Calibri"/>
                <a:sym typeface="Calibri"/>
              </a:endParaRPr>
            </a:p>
          </p:txBody>
        </p:sp>
        <p:sp>
          <p:nvSpPr>
            <p:cNvPr id="32" name="椭圆 31"/>
            <p:cNvSpPr/>
            <p:nvPr/>
          </p:nvSpPr>
          <p:spPr>
            <a:xfrm>
              <a:off x="6188527" y="5113978"/>
              <a:ext cx="131606" cy="112690"/>
            </a:xfrm>
            <a:prstGeom prst="ellipse">
              <a:avLst/>
            </a:prstGeom>
            <a:solidFill>
              <a:srgbClr val="FFFFFF"/>
            </a:solidFill>
            <a:ln w="25400" cap="flat">
              <a:solidFill>
                <a:schemeClr val="accent1"/>
              </a:solidFill>
              <a:prstDash val="solid"/>
              <a:round/>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575980" rtl="0" fontAlgn="auto" latinLnBrk="0" hangingPunct="0">
                <a:lnSpc>
                  <a:spcPct val="100000"/>
                </a:lnSpc>
                <a:spcBef>
                  <a:spcPts val="0"/>
                </a:spcBef>
                <a:spcAft>
                  <a:spcPts val="0"/>
                </a:spcAft>
                <a:buClrTx/>
                <a:buSzTx/>
                <a:buFontTx/>
                <a:buNone/>
                <a:tabLst/>
              </a:pPr>
              <a:endParaRPr kumimoji="0" lang="zh-CN" altLang="en-US" sz="2200" b="0" i="0" u="none" strike="noStrike" cap="none" spc="0" normalizeH="0" baseline="0">
                <a:ln>
                  <a:noFill/>
                </a:ln>
                <a:solidFill>
                  <a:srgbClr val="000000"/>
                </a:solidFill>
                <a:effectLst/>
                <a:uFillTx/>
                <a:latin typeface="Calibri"/>
                <a:ea typeface="Calibri"/>
                <a:cs typeface="Calibri"/>
                <a:sym typeface="Calibri"/>
              </a:endParaRPr>
            </a:p>
          </p:txBody>
        </p:sp>
        <p:sp>
          <p:nvSpPr>
            <p:cNvPr id="33" name="椭圆 32"/>
            <p:cNvSpPr/>
            <p:nvPr/>
          </p:nvSpPr>
          <p:spPr>
            <a:xfrm>
              <a:off x="6695630" y="5103684"/>
              <a:ext cx="131606" cy="112690"/>
            </a:xfrm>
            <a:prstGeom prst="ellipse">
              <a:avLst/>
            </a:prstGeom>
            <a:solidFill>
              <a:srgbClr val="FFFFFF"/>
            </a:solidFill>
            <a:ln w="25400" cap="flat">
              <a:solidFill>
                <a:schemeClr val="accent1"/>
              </a:solidFill>
              <a:prstDash val="solid"/>
              <a:round/>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575980" rtl="0" fontAlgn="auto" latinLnBrk="0" hangingPunct="0">
                <a:lnSpc>
                  <a:spcPct val="100000"/>
                </a:lnSpc>
                <a:spcBef>
                  <a:spcPts val="0"/>
                </a:spcBef>
                <a:spcAft>
                  <a:spcPts val="0"/>
                </a:spcAft>
                <a:buClrTx/>
                <a:buSzTx/>
                <a:buFontTx/>
                <a:buNone/>
                <a:tabLst/>
              </a:pPr>
              <a:endParaRPr kumimoji="0" lang="zh-CN" altLang="en-US" sz="2200" b="0" i="0" u="none" strike="noStrike" cap="none" spc="0" normalizeH="0" baseline="0">
                <a:ln>
                  <a:noFill/>
                </a:ln>
                <a:solidFill>
                  <a:srgbClr val="000000"/>
                </a:solidFill>
                <a:effectLst/>
                <a:uFillTx/>
                <a:latin typeface="Calibri"/>
                <a:ea typeface="Calibri"/>
                <a:cs typeface="Calibri"/>
                <a:sym typeface="Calibri"/>
              </a:endParaRPr>
            </a:p>
          </p:txBody>
        </p:sp>
        <p:sp>
          <p:nvSpPr>
            <p:cNvPr id="34" name="椭圆 33"/>
            <p:cNvSpPr/>
            <p:nvPr/>
          </p:nvSpPr>
          <p:spPr>
            <a:xfrm>
              <a:off x="7202733" y="5104893"/>
              <a:ext cx="131606" cy="112690"/>
            </a:xfrm>
            <a:prstGeom prst="ellipse">
              <a:avLst/>
            </a:prstGeom>
            <a:solidFill>
              <a:srgbClr val="FFFFFF"/>
            </a:solidFill>
            <a:ln w="25400" cap="flat">
              <a:solidFill>
                <a:schemeClr val="accent1"/>
              </a:solidFill>
              <a:prstDash val="solid"/>
              <a:round/>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575980" rtl="0" fontAlgn="auto" latinLnBrk="0" hangingPunct="0">
                <a:lnSpc>
                  <a:spcPct val="100000"/>
                </a:lnSpc>
                <a:spcBef>
                  <a:spcPts val="0"/>
                </a:spcBef>
                <a:spcAft>
                  <a:spcPts val="0"/>
                </a:spcAft>
                <a:buClrTx/>
                <a:buSzTx/>
                <a:buFontTx/>
                <a:buNone/>
                <a:tabLst/>
              </a:pPr>
              <a:endParaRPr kumimoji="0" lang="zh-CN" altLang="en-US" sz="2200" b="0" i="0" u="none" strike="noStrike" cap="none" spc="0" normalizeH="0" baseline="0">
                <a:ln>
                  <a:noFill/>
                </a:ln>
                <a:solidFill>
                  <a:srgbClr val="000000"/>
                </a:solidFill>
                <a:effectLst/>
                <a:uFillTx/>
                <a:latin typeface="Calibri"/>
                <a:ea typeface="Calibri"/>
                <a:cs typeface="Calibri"/>
                <a:sym typeface="Calibri"/>
              </a:endParaRPr>
            </a:p>
          </p:txBody>
        </p:sp>
        <p:sp>
          <p:nvSpPr>
            <p:cNvPr id="35" name="文本框 34"/>
            <p:cNvSpPr txBox="1"/>
            <p:nvPr/>
          </p:nvSpPr>
          <p:spPr>
            <a:xfrm>
              <a:off x="2319651" y="4857928"/>
              <a:ext cx="254972" cy="2275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575980" rtl="0" fontAlgn="auto" latinLnBrk="0" hangingPunct="0">
                <a:lnSpc>
                  <a:spcPct val="100000"/>
                </a:lnSpc>
                <a:spcBef>
                  <a:spcPts val="0"/>
                </a:spcBef>
                <a:spcAft>
                  <a:spcPts val="0"/>
                </a:spcAft>
                <a:buClrTx/>
                <a:buSzTx/>
                <a:buFontTx/>
                <a:buNone/>
                <a:tabLst/>
              </a:pPr>
              <a:r>
                <a:rPr kumimoji="0" lang="en-US" altLang="zh-CN" sz="1200" b="0" i="0" u="none" strike="noStrike" cap="none" spc="0" normalizeH="0" baseline="0" dirty="0">
                  <a:ln>
                    <a:noFill/>
                  </a:ln>
                  <a:solidFill>
                    <a:srgbClr val="000000"/>
                  </a:solidFill>
                  <a:effectLst/>
                  <a:uFillTx/>
                  <a:latin typeface="Calibri"/>
                  <a:ea typeface="Calibri"/>
                  <a:cs typeface="Calibri"/>
                  <a:sym typeface="Calibri"/>
                </a:rPr>
                <a:t>30s</a:t>
              </a:r>
              <a:endParaRPr kumimoji="0" lang="zh-CN" altLang="en-US" sz="1200" b="0" i="0" u="none" strike="noStrike" cap="none" spc="0" normalizeH="0" baseline="0" dirty="0">
                <a:ln>
                  <a:noFill/>
                </a:ln>
                <a:solidFill>
                  <a:srgbClr val="000000"/>
                </a:solidFill>
                <a:effectLst/>
                <a:uFillTx/>
                <a:latin typeface="Calibri"/>
                <a:ea typeface="Calibri"/>
                <a:cs typeface="Calibri"/>
                <a:sym typeface="Calibri"/>
              </a:endParaRPr>
            </a:p>
          </p:txBody>
        </p:sp>
        <p:sp>
          <p:nvSpPr>
            <p:cNvPr id="36" name="文本框 35"/>
            <p:cNvSpPr txBox="1"/>
            <p:nvPr/>
          </p:nvSpPr>
          <p:spPr>
            <a:xfrm>
              <a:off x="2823479" y="4849466"/>
              <a:ext cx="254972" cy="2275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575980" rtl="0" fontAlgn="auto" latinLnBrk="0" hangingPunct="0">
                <a:lnSpc>
                  <a:spcPct val="100000"/>
                </a:lnSpc>
                <a:spcBef>
                  <a:spcPts val="0"/>
                </a:spcBef>
                <a:spcAft>
                  <a:spcPts val="0"/>
                </a:spcAft>
                <a:buClrTx/>
                <a:buSzTx/>
                <a:buFontTx/>
                <a:buNone/>
                <a:tabLst/>
              </a:pPr>
              <a:r>
                <a:rPr kumimoji="0" lang="en-US" altLang="zh-CN" sz="1200" b="0" i="0" u="none" strike="noStrike" cap="none" spc="0" normalizeH="0" baseline="0" dirty="0">
                  <a:ln>
                    <a:noFill/>
                  </a:ln>
                  <a:solidFill>
                    <a:srgbClr val="000000"/>
                  </a:solidFill>
                  <a:effectLst/>
                  <a:uFillTx/>
                  <a:latin typeface="Calibri"/>
                  <a:ea typeface="Calibri"/>
                  <a:cs typeface="Calibri"/>
                  <a:sym typeface="Calibri"/>
                </a:rPr>
                <a:t>30s</a:t>
              </a:r>
              <a:endParaRPr kumimoji="0" lang="zh-CN" altLang="en-US" sz="1200" b="0" i="0" u="none" strike="noStrike" cap="none" spc="0" normalizeH="0" baseline="0" dirty="0">
                <a:ln>
                  <a:noFill/>
                </a:ln>
                <a:solidFill>
                  <a:srgbClr val="000000"/>
                </a:solidFill>
                <a:effectLst/>
                <a:uFillTx/>
                <a:latin typeface="Calibri"/>
                <a:ea typeface="Calibri"/>
                <a:cs typeface="Calibri"/>
                <a:sym typeface="Calibri"/>
              </a:endParaRPr>
            </a:p>
          </p:txBody>
        </p:sp>
        <p:sp>
          <p:nvSpPr>
            <p:cNvPr id="37" name="文本框 36"/>
            <p:cNvSpPr txBox="1"/>
            <p:nvPr/>
          </p:nvSpPr>
          <p:spPr>
            <a:xfrm>
              <a:off x="3330583" y="4857928"/>
              <a:ext cx="254972" cy="2275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575980" rtl="0" fontAlgn="auto" latinLnBrk="0" hangingPunct="0">
                <a:lnSpc>
                  <a:spcPct val="100000"/>
                </a:lnSpc>
                <a:spcBef>
                  <a:spcPts val="0"/>
                </a:spcBef>
                <a:spcAft>
                  <a:spcPts val="0"/>
                </a:spcAft>
                <a:buClrTx/>
                <a:buSzTx/>
                <a:buFontTx/>
                <a:buNone/>
                <a:tabLst/>
              </a:pPr>
              <a:r>
                <a:rPr kumimoji="0" lang="en-US" altLang="zh-CN" sz="1200" b="0" i="0" u="none" strike="noStrike" cap="none" spc="0" normalizeH="0" baseline="0" dirty="0">
                  <a:ln>
                    <a:noFill/>
                  </a:ln>
                  <a:solidFill>
                    <a:srgbClr val="000000"/>
                  </a:solidFill>
                  <a:effectLst/>
                  <a:uFillTx/>
                  <a:latin typeface="Calibri"/>
                  <a:ea typeface="Calibri"/>
                  <a:cs typeface="Calibri"/>
                  <a:sym typeface="Calibri"/>
                </a:rPr>
                <a:t>30s</a:t>
              </a:r>
              <a:endParaRPr kumimoji="0" lang="zh-CN" altLang="en-US" sz="1200" b="0" i="0" u="none" strike="noStrike" cap="none" spc="0" normalizeH="0" baseline="0" dirty="0">
                <a:ln>
                  <a:noFill/>
                </a:ln>
                <a:solidFill>
                  <a:srgbClr val="000000"/>
                </a:solidFill>
                <a:effectLst/>
                <a:uFillTx/>
                <a:latin typeface="Calibri"/>
                <a:ea typeface="Calibri"/>
                <a:cs typeface="Calibri"/>
                <a:sym typeface="Calibri"/>
              </a:endParaRPr>
            </a:p>
          </p:txBody>
        </p:sp>
        <p:sp>
          <p:nvSpPr>
            <p:cNvPr id="38" name="文本框 37"/>
            <p:cNvSpPr txBox="1"/>
            <p:nvPr/>
          </p:nvSpPr>
          <p:spPr>
            <a:xfrm>
              <a:off x="3848929" y="4861835"/>
              <a:ext cx="254972" cy="2275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575980" rtl="0" fontAlgn="auto" latinLnBrk="0" hangingPunct="0">
                <a:lnSpc>
                  <a:spcPct val="100000"/>
                </a:lnSpc>
                <a:spcBef>
                  <a:spcPts val="0"/>
                </a:spcBef>
                <a:spcAft>
                  <a:spcPts val="0"/>
                </a:spcAft>
                <a:buClrTx/>
                <a:buSzTx/>
                <a:buFontTx/>
                <a:buNone/>
                <a:tabLst/>
              </a:pPr>
              <a:r>
                <a:rPr kumimoji="0" lang="en-US" altLang="zh-CN" sz="1200" b="0" i="0" u="none" strike="noStrike" cap="none" spc="0" normalizeH="0" baseline="0" dirty="0">
                  <a:ln>
                    <a:noFill/>
                  </a:ln>
                  <a:solidFill>
                    <a:srgbClr val="000000"/>
                  </a:solidFill>
                  <a:effectLst/>
                  <a:uFillTx/>
                  <a:latin typeface="Calibri"/>
                  <a:ea typeface="Calibri"/>
                  <a:cs typeface="Calibri"/>
                  <a:sym typeface="Calibri"/>
                </a:rPr>
                <a:t>30s</a:t>
              </a:r>
              <a:endParaRPr kumimoji="0" lang="zh-CN" altLang="en-US" sz="1200" b="0" i="0" u="none" strike="noStrike" cap="none" spc="0" normalizeH="0" baseline="0" dirty="0">
                <a:ln>
                  <a:noFill/>
                </a:ln>
                <a:solidFill>
                  <a:srgbClr val="000000"/>
                </a:solidFill>
                <a:effectLst/>
                <a:uFillTx/>
                <a:latin typeface="Calibri"/>
                <a:ea typeface="Calibri"/>
                <a:cs typeface="Calibri"/>
                <a:sym typeface="Calibri"/>
              </a:endParaRPr>
            </a:p>
          </p:txBody>
        </p:sp>
        <p:sp>
          <p:nvSpPr>
            <p:cNvPr id="39" name="文本框 38"/>
            <p:cNvSpPr txBox="1"/>
            <p:nvPr/>
          </p:nvSpPr>
          <p:spPr>
            <a:xfrm>
              <a:off x="4356032" y="4870297"/>
              <a:ext cx="254972" cy="2275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575980" rtl="0" fontAlgn="auto" latinLnBrk="0" hangingPunct="0">
                <a:lnSpc>
                  <a:spcPct val="100000"/>
                </a:lnSpc>
                <a:spcBef>
                  <a:spcPts val="0"/>
                </a:spcBef>
                <a:spcAft>
                  <a:spcPts val="0"/>
                </a:spcAft>
                <a:buClrTx/>
                <a:buSzTx/>
                <a:buFontTx/>
                <a:buNone/>
                <a:tabLst/>
              </a:pPr>
              <a:r>
                <a:rPr kumimoji="0" lang="en-US" altLang="zh-CN" sz="1200" b="0" i="0" u="none" strike="noStrike" cap="none" spc="0" normalizeH="0" baseline="0" dirty="0">
                  <a:ln>
                    <a:noFill/>
                  </a:ln>
                  <a:solidFill>
                    <a:srgbClr val="000000"/>
                  </a:solidFill>
                  <a:effectLst/>
                  <a:uFillTx/>
                  <a:latin typeface="Calibri"/>
                  <a:ea typeface="Calibri"/>
                  <a:cs typeface="Calibri"/>
                  <a:sym typeface="Calibri"/>
                </a:rPr>
                <a:t>30s</a:t>
              </a:r>
              <a:endParaRPr kumimoji="0" lang="zh-CN" altLang="en-US" sz="1200" b="0" i="0" u="none" strike="noStrike" cap="none" spc="0" normalizeH="0" baseline="0" dirty="0">
                <a:ln>
                  <a:noFill/>
                </a:ln>
                <a:solidFill>
                  <a:srgbClr val="000000"/>
                </a:solidFill>
                <a:effectLst/>
                <a:uFillTx/>
                <a:latin typeface="Calibri"/>
                <a:ea typeface="Calibri"/>
                <a:cs typeface="Calibri"/>
                <a:sym typeface="Calibri"/>
              </a:endParaRPr>
            </a:p>
          </p:txBody>
        </p:sp>
        <p:sp>
          <p:nvSpPr>
            <p:cNvPr id="40" name="文本框 39"/>
            <p:cNvSpPr txBox="1"/>
            <p:nvPr/>
          </p:nvSpPr>
          <p:spPr>
            <a:xfrm>
              <a:off x="4859860" y="4861835"/>
              <a:ext cx="254972" cy="2275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575980" rtl="0" fontAlgn="auto" latinLnBrk="0" hangingPunct="0">
                <a:lnSpc>
                  <a:spcPct val="100000"/>
                </a:lnSpc>
                <a:spcBef>
                  <a:spcPts val="0"/>
                </a:spcBef>
                <a:spcAft>
                  <a:spcPts val="0"/>
                </a:spcAft>
                <a:buClrTx/>
                <a:buSzTx/>
                <a:buFontTx/>
                <a:buNone/>
                <a:tabLst/>
              </a:pPr>
              <a:r>
                <a:rPr kumimoji="0" lang="en-US" altLang="zh-CN" sz="1200" b="0" i="0" u="none" strike="noStrike" cap="none" spc="0" normalizeH="0" baseline="0" dirty="0">
                  <a:ln>
                    <a:noFill/>
                  </a:ln>
                  <a:solidFill>
                    <a:srgbClr val="000000"/>
                  </a:solidFill>
                  <a:effectLst/>
                  <a:uFillTx/>
                  <a:latin typeface="Calibri"/>
                  <a:ea typeface="Calibri"/>
                  <a:cs typeface="Calibri"/>
                  <a:sym typeface="Calibri"/>
                </a:rPr>
                <a:t>30s</a:t>
              </a:r>
              <a:endParaRPr kumimoji="0" lang="zh-CN" altLang="en-US" sz="1200" b="0" i="0" u="none" strike="noStrike" cap="none" spc="0" normalizeH="0" baseline="0" dirty="0">
                <a:ln>
                  <a:noFill/>
                </a:ln>
                <a:solidFill>
                  <a:srgbClr val="000000"/>
                </a:solidFill>
                <a:effectLst/>
                <a:uFillTx/>
                <a:latin typeface="Calibri"/>
                <a:ea typeface="Calibri"/>
                <a:cs typeface="Calibri"/>
                <a:sym typeface="Calibri"/>
              </a:endParaRPr>
            </a:p>
          </p:txBody>
        </p:sp>
        <p:sp>
          <p:nvSpPr>
            <p:cNvPr id="41" name="文本框 40"/>
            <p:cNvSpPr txBox="1"/>
            <p:nvPr/>
          </p:nvSpPr>
          <p:spPr>
            <a:xfrm>
              <a:off x="5366964" y="4870297"/>
              <a:ext cx="254972" cy="2275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575980" rtl="0" fontAlgn="auto" latinLnBrk="0" hangingPunct="0">
                <a:lnSpc>
                  <a:spcPct val="100000"/>
                </a:lnSpc>
                <a:spcBef>
                  <a:spcPts val="0"/>
                </a:spcBef>
                <a:spcAft>
                  <a:spcPts val="0"/>
                </a:spcAft>
                <a:buClrTx/>
                <a:buSzTx/>
                <a:buFontTx/>
                <a:buNone/>
                <a:tabLst/>
              </a:pPr>
              <a:r>
                <a:rPr kumimoji="0" lang="en-US" altLang="zh-CN" sz="1200" b="0" i="0" u="none" strike="noStrike" cap="none" spc="0" normalizeH="0" baseline="0" dirty="0">
                  <a:ln>
                    <a:noFill/>
                  </a:ln>
                  <a:solidFill>
                    <a:srgbClr val="000000"/>
                  </a:solidFill>
                  <a:effectLst/>
                  <a:uFillTx/>
                  <a:latin typeface="Calibri"/>
                  <a:ea typeface="Calibri"/>
                  <a:cs typeface="Calibri"/>
                  <a:sym typeface="Calibri"/>
                </a:rPr>
                <a:t>30s</a:t>
              </a:r>
              <a:endParaRPr kumimoji="0" lang="zh-CN" altLang="en-US" sz="1200" b="0" i="0" u="none" strike="noStrike" cap="none" spc="0" normalizeH="0" baseline="0" dirty="0">
                <a:ln>
                  <a:noFill/>
                </a:ln>
                <a:solidFill>
                  <a:srgbClr val="000000"/>
                </a:solidFill>
                <a:effectLst/>
                <a:uFillTx/>
                <a:latin typeface="Calibri"/>
                <a:ea typeface="Calibri"/>
                <a:cs typeface="Calibri"/>
                <a:sym typeface="Calibri"/>
              </a:endParaRPr>
            </a:p>
          </p:txBody>
        </p:sp>
        <p:sp>
          <p:nvSpPr>
            <p:cNvPr id="42" name="文本框 41"/>
            <p:cNvSpPr txBox="1"/>
            <p:nvPr/>
          </p:nvSpPr>
          <p:spPr>
            <a:xfrm>
              <a:off x="5872649" y="4867582"/>
              <a:ext cx="254972" cy="2275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575980" rtl="0" fontAlgn="auto" latinLnBrk="0" hangingPunct="0">
                <a:lnSpc>
                  <a:spcPct val="100000"/>
                </a:lnSpc>
                <a:spcBef>
                  <a:spcPts val="0"/>
                </a:spcBef>
                <a:spcAft>
                  <a:spcPts val="0"/>
                </a:spcAft>
                <a:buClrTx/>
                <a:buSzTx/>
                <a:buFontTx/>
                <a:buNone/>
                <a:tabLst/>
              </a:pPr>
              <a:r>
                <a:rPr lang="en-US" altLang="zh-CN" sz="1200" dirty="0"/>
                <a:t>30s</a:t>
              </a:r>
              <a:endParaRPr kumimoji="0" lang="zh-CN" altLang="en-US" sz="1200" b="0" i="0" u="none" strike="noStrike" cap="none" spc="0" normalizeH="0" baseline="0" dirty="0">
                <a:ln>
                  <a:noFill/>
                </a:ln>
                <a:solidFill>
                  <a:srgbClr val="000000"/>
                </a:solidFill>
                <a:effectLst/>
                <a:uFillTx/>
                <a:latin typeface="Calibri"/>
                <a:ea typeface="Calibri"/>
                <a:cs typeface="Calibri"/>
                <a:sym typeface="Calibri"/>
              </a:endParaRPr>
            </a:p>
          </p:txBody>
        </p:sp>
        <p:sp>
          <p:nvSpPr>
            <p:cNvPr id="43" name="文本框 42"/>
            <p:cNvSpPr txBox="1"/>
            <p:nvPr/>
          </p:nvSpPr>
          <p:spPr>
            <a:xfrm>
              <a:off x="6379752" y="4876044"/>
              <a:ext cx="254972" cy="2275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575980" rtl="0" fontAlgn="auto" latinLnBrk="0" hangingPunct="0">
                <a:lnSpc>
                  <a:spcPct val="100000"/>
                </a:lnSpc>
                <a:spcBef>
                  <a:spcPts val="0"/>
                </a:spcBef>
                <a:spcAft>
                  <a:spcPts val="0"/>
                </a:spcAft>
                <a:buClrTx/>
                <a:buSzTx/>
                <a:buFontTx/>
                <a:buNone/>
                <a:tabLst/>
              </a:pPr>
              <a:r>
                <a:rPr kumimoji="0" lang="en-US" altLang="zh-CN" sz="1200" b="0" i="0" u="none" strike="noStrike" cap="none" spc="0" normalizeH="0" baseline="0" dirty="0">
                  <a:ln>
                    <a:noFill/>
                  </a:ln>
                  <a:solidFill>
                    <a:srgbClr val="000000"/>
                  </a:solidFill>
                  <a:effectLst/>
                  <a:uFillTx/>
                  <a:latin typeface="Calibri"/>
                  <a:ea typeface="Calibri"/>
                  <a:cs typeface="Calibri"/>
                  <a:sym typeface="Calibri"/>
                </a:rPr>
                <a:t>30s</a:t>
              </a:r>
              <a:endParaRPr kumimoji="0" lang="zh-CN" altLang="en-US" sz="1200" b="0" i="0" u="none" strike="noStrike" cap="none" spc="0" normalizeH="0" baseline="0" dirty="0">
                <a:ln>
                  <a:noFill/>
                </a:ln>
                <a:solidFill>
                  <a:srgbClr val="000000"/>
                </a:solidFill>
                <a:effectLst/>
                <a:uFillTx/>
                <a:latin typeface="Calibri"/>
                <a:ea typeface="Calibri"/>
                <a:cs typeface="Calibri"/>
                <a:sym typeface="Calibri"/>
              </a:endParaRPr>
            </a:p>
          </p:txBody>
        </p:sp>
        <p:sp>
          <p:nvSpPr>
            <p:cNvPr id="44" name="文本框 43"/>
            <p:cNvSpPr txBox="1"/>
            <p:nvPr/>
          </p:nvSpPr>
          <p:spPr>
            <a:xfrm>
              <a:off x="6883581" y="4867582"/>
              <a:ext cx="254972" cy="2275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575980" rtl="0" fontAlgn="auto" latinLnBrk="0" hangingPunct="0">
                <a:lnSpc>
                  <a:spcPct val="100000"/>
                </a:lnSpc>
                <a:spcBef>
                  <a:spcPts val="0"/>
                </a:spcBef>
                <a:spcAft>
                  <a:spcPts val="0"/>
                </a:spcAft>
                <a:buClrTx/>
                <a:buSzTx/>
                <a:buFontTx/>
                <a:buNone/>
                <a:tabLst/>
              </a:pPr>
              <a:r>
                <a:rPr lang="en-US" altLang="zh-CN" sz="1200" dirty="0"/>
                <a:t>30s</a:t>
              </a:r>
              <a:endParaRPr kumimoji="0" lang="zh-CN" altLang="en-US" sz="1200" b="0" i="0" u="none" strike="noStrike" cap="none" spc="0" normalizeH="0" baseline="0" dirty="0">
                <a:ln>
                  <a:noFill/>
                </a:ln>
                <a:solidFill>
                  <a:srgbClr val="000000"/>
                </a:solidFill>
                <a:effectLst/>
                <a:uFillTx/>
                <a:latin typeface="Calibri"/>
                <a:ea typeface="Calibri"/>
                <a:cs typeface="Calibri"/>
                <a:sym typeface="Calibri"/>
              </a:endParaRPr>
            </a:p>
          </p:txBody>
        </p:sp>
        <p:sp>
          <p:nvSpPr>
            <p:cNvPr id="46" name="椭圆 45"/>
            <p:cNvSpPr/>
            <p:nvPr/>
          </p:nvSpPr>
          <p:spPr>
            <a:xfrm>
              <a:off x="1429673" y="4383255"/>
              <a:ext cx="131606" cy="112690"/>
            </a:xfrm>
            <a:prstGeom prst="ellipse">
              <a:avLst/>
            </a:prstGeom>
            <a:solidFill>
              <a:srgbClr val="FFFFFF"/>
            </a:solidFill>
            <a:ln w="25400" cap="flat">
              <a:solidFill>
                <a:schemeClr val="accent1"/>
              </a:solidFill>
              <a:prstDash val="solid"/>
              <a:round/>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575980" rtl="0" fontAlgn="auto" latinLnBrk="0" hangingPunct="0">
                <a:lnSpc>
                  <a:spcPct val="100000"/>
                </a:lnSpc>
                <a:spcBef>
                  <a:spcPts val="0"/>
                </a:spcBef>
                <a:spcAft>
                  <a:spcPts val="0"/>
                </a:spcAft>
                <a:buClrTx/>
                <a:buSzTx/>
                <a:buFontTx/>
                <a:buNone/>
                <a:tabLst/>
              </a:pPr>
              <a:endParaRPr kumimoji="0" lang="zh-CN" altLang="en-US" sz="2200" b="0" i="0" u="none" strike="noStrike" cap="none" spc="0" normalizeH="0" baseline="0">
                <a:ln>
                  <a:noFill/>
                </a:ln>
                <a:solidFill>
                  <a:srgbClr val="000000"/>
                </a:solidFill>
                <a:effectLst/>
                <a:uFillTx/>
                <a:latin typeface="Calibri"/>
                <a:ea typeface="Calibri"/>
                <a:cs typeface="Calibri"/>
                <a:sym typeface="Calibri"/>
              </a:endParaRPr>
            </a:p>
          </p:txBody>
        </p:sp>
        <p:sp>
          <p:nvSpPr>
            <p:cNvPr id="47" name="椭圆 46"/>
            <p:cNvSpPr/>
            <p:nvPr/>
          </p:nvSpPr>
          <p:spPr>
            <a:xfrm>
              <a:off x="2437168" y="4396885"/>
              <a:ext cx="131606" cy="112690"/>
            </a:xfrm>
            <a:prstGeom prst="ellipse">
              <a:avLst/>
            </a:prstGeom>
            <a:solidFill>
              <a:srgbClr val="FFFFFF"/>
            </a:solidFill>
            <a:ln w="25400" cap="flat">
              <a:solidFill>
                <a:schemeClr val="accent1"/>
              </a:solidFill>
              <a:prstDash val="solid"/>
              <a:round/>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575980" rtl="0" fontAlgn="auto" latinLnBrk="0" hangingPunct="0">
                <a:lnSpc>
                  <a:spcPct val="100000"/>
                </a:lnSpc>
                <a:spcBef>
                  <a:spcPts val="0"/>
                </a:spcBef>
                <a:spcAft>
                  <a:spcPts val="0"/>
                </a:spcAft>
                <a:buClrTx/>
                <a:buSzTx/>
                <a:buFontTx/>
                <a:buNone/>
                <a:tabLst/>
              </a:pPr>
              <a:endParaRPr kumimoji="0" lang="zh-CN" altLang="en-US" sz="2200" b="0" i="0" u="none" strike="noStrike" cap="none" spc="0" normalizeH="0" baseline="0">
                <a:ln>
                  <a:noFill/>
                </a:ln>
                <a:solidFill>
                  <a:srgbClr val="000000"/>
                </a:solidFill>
                <a:effectLst/>
                <a:uFillTx/>
                <a:latin typeface="Calibri"/>
                <a:ea typeface="Calibri"/>
                <a:cs typeface="Calibri"/>
                <a:sym typeface="Calibri"/>
              </a:endParaRPr>
            </a:p>
          </p:txBody>
        </p:sp>
        <p:sp>
          <p:nvSpPr>
            <p:cNvPr id="48" name="椭圆 47"/>
            <p:cNvSpPr/>
            <p:nvPr/>
          </p:nvSpPr>
          <p:spPr>
            <a:xfrm>
              <a:off x="3448100" y="4396885"/>
              <a:ext cx="131606" cy="112690"/>
            </a:xfrm>
            <a:prstGeom prst="ellipse">
              <a:avLst/>
            </a:prstGeom>
            <a:solidFill>
              <a:srgbClr val="FFFFFF"/>
            </a:solidFill>
            <a:ln w="25400" cap="flat">
              <a:solidFill>
                <a:schemeClr val="accent1"/>
              </a:solidFill>
              <a:prstDash val="solid"/>
              <a:round/>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575980" rtl="0" fontAlgn="auto" latinLnBrk="0" hangingPunct="0">
                <a:lnSpc>
                  <a:spcPct val="100000"/>
                </a:lnSpc>
                <a:spcBef>
                  <a:spcPts val="0"/>
                </a:spcBef>
                <a:spcAft>
                  <a:spcPts val="0"/>
                </a:spcAft>
                <a:buClrTx/>
                <a:buSzTx/>
                <a:buFontTx/>
                <a:buNone/>
                <a:tabLst/>
              </a:pPr>
              <a:endParaRPr kumimoji="0" lang="zh-CN" altLang="en-US" sz="2200" b="0" i="0" u="none" strike="noStrike" cap="none" spc="0" normalizeH="0" baseline="0">
                <a:ln>
                  <a:noFill/>
                </a:ln>
                <a:solidFill>
                  <a:srgbClr val="000000"/>
                </a:solidFill>
                <a:effectLst/>
                <a:uFillTx/>
                <a:latin typeface="Calibri"/>
                <a:ea typeface="Calibri"/>
                <a:cs typeface="Calibri"/>
                <a:sym typeface="Calibri"/>
              </a:endParaRPr>
            </a:p>
          </p:txBody>
        </p:sp>
        <p:sp>
          <p:nvSpPr>
            <p:cNvPr id="49" name="椭圆 48"/>
            <p:cNvSpPr/>
            <p:nvPr/>
          </p:nvSpPr>
          <p:spPr>
            <a:xfrm>
              <a:off x="4473549" y="4398986"/>
              <a:ext cx="131606" cy="112690"/>
            </a:xfrm>
            <a:prstGeom prst="ellipse">
              <a:avLst/>
            </a:prstGeom>
            <a:solidFill>
              <a:srgbClr val="FFFFFF"/>
            </a:solidFill>
            <a:ln w="25400" cap="flat">
              <a:solidFill>
                <a:schemeClr val="accent1"/>
              </a:solidFill>
              <a:prstDash val="solid"/>
              <a:round/>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575980" rtl="0" fontAlgn="auto" latinLnBrk="0" hangingPunct="0">
                <a:lnSpc>
                  <a:spcPct val="100000"/>
                </a:lnSpc>
                <a:spcBef>
                  <a:spcPts val="0"/>
                </a:spcBef>
                <a:spcAft>
                  <a:spcPts val="0"/>
                </a:spcAft>
                <a:buClrTx/>
                <a:buSzTx/>
                <a:buFontTx/>
                <a:buNone/>
                <a:tabLst/>
              </a:pPr>
              <a:endParaRPr kumimoji="0" lang="zh-CN" altLang="en-US" sz="2200" b="0" i="0" u="none" strike="noStrike" cap="none" spc="0" normalizeH="0" baseline="0">
                <a:ln>
                  <a:noFill/>
                </a:ln>
                <a:solidFill>
                  <a:srgbClr val="000000"/>
                </a:solidFill>
                <a:effectLst/>
                <a:uFillTx/>
                <a:latin typeface="Calibri"/>
                <a:ea typeface="Calibri"/>
                <a:cs typeface="Calibri"/>
                <a:sym typeface="Calibri"/>
              </a:endParaRPr>
            </a:p>
          </p:txBody>
        </p:sp>
        <p:sp>
          <p:nvSpPr>
            <p:cNvPr id="50" name="椭圆 49"/>
            <p:cNvSpPr/>
            <p:nvPr/>
          </p:nvSpPr>
          <p:spPr>
            <a:xfrm>
              <a:off x="5484481" y="4383255"/>
              <a:ext cx="131606" cy="112690"/>
            </a:xfrm>
            <a:prstGeom prst="ellipse">
              <a:avLst/>
            </a:prstGeom>
            <a:solidFill>
              <a:srgbClr val="FFFFFF"/>
            </a:solidFill>
            <a:ln w="25400" cap="flat">
              <a:solidFill>
                <a:schemeClr val="accent1"/>
              </a:solidFill>
              <a:prstDash val="solid"/>
              <a:round/>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575980" rtl="0" fontAlgn="auto" latinLnBrk="0" hangingPunct="0">
                <a:lnSpc>
                  <a:spcPct val="100000"/>
                </a:lnSpc>
                <a:spcBef>
                  <a:spcPts val="0"/>
                </a:spcBef>
                <a:spcAft>
                  <a:spcPts val="0"/>
                </a:spcAft>
                <a:buClrTx/>
                <a:buSzTx/>
                <a:buFontTx/>
                <a:buNone/>
                <a:tabLst/>
              </a:pPr>
              <a:endParaRPr kumimoji="0" lang="zh-CN" altLang="en-US" sz="2200" b="0" i="0" u="none" strike="noStrike" cap="none" spc="0" normalizeH="0" baseline="0">
                <a:ln>
                  <a:noFill/>
                </a:ln>
                <a:solidFill>
                  <a:srgbClr val="000000"/>
                </a:solidFill>
                <a:effectLst/>
                <a:uFillTx/>
                <a:latin typeface="Calibri"/>
                <a:ea typeface="Calibri"/>
                <a:cs typeface="Calibri"/>
                <a:sym typeface="Calibri"/>
              </a:endParaRPr>
            </a:p>
          </p:txBody>
        </p:sp>
        <p:sp>
          <p:nvSpPr>
            <p:cNvPr id="51" name="椭圆 50"/>
            <p:cNvSpPr/>
            <p:nvPr/>
          </p:nvSpPr>
          <p:spPr>
            <a:xfrm>
              <a:off x="6533265" y="4400377"/>
              <a:ext cx="131606" cy="112690"/>
            </a:xfrm>
            <a:prstGeom prst="ellipse">
              <a:avLst/>
            </a:prstGeom>
            <a:solidFill>
              <a:srgbClr val="FFFFFF"/>
            </a:solidFill>
            <a:ln w="25400" cap="flat">
              <a:solidFill>
                <a:schemeClr val="accent1"/>
              </a:solidFill>
              <a:prstDash val="solid"/>
              <a:round/>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575980" rtl="0" fontAlgn="auto" latinLnBrk="0" hangingPunct="0">
                <a:lnSpc>
                  <a:spcPct val="100000"/>
                </a:lnSpc>
                <a:spcBef>
                  <a:spcPts val="0"/>
                </a:spcBef>
                <a:spcAft>
                  <a:spcPts val="0"/>
                </a:spcAft>
                <a:buClrTx/>
                <a:buSzTx/>
                <a:buFontTx/>
                <a:buNone/>
                <a:tabLst/>
              </a:pPr>
              <a:endParaRPr kumimoji="0" lang="zh-CN" altLang="en-US" sz="2200" b="0" i="0" u="none" strike="noStrike" cap="none" spc="0" normalizeH="0" baseline="0">
                <a:ln>
                  <a:noFill/>
                </a:ln>
                <a:solidFill>
                  <a:srgbClr val="000000"/>
                </a:solidFill>
                <a:effectLst/>
                <a:uFillTx/>
                <a:latin typeface="Calibri"/>
                <a:ea typeface="Calibri"/>
                <a:cs typeface="Calibri"/>
                <a:sym typeface="Calibri"/>
              </a:endParaRPr>
            </a:p>
          </p:txBody>
        </p:sp>
        <p:sp>
          <p:nvSpPr>
            <p:cNvPr id="52" name="文本框 51"/>
            <p:cNvSpPr txBox="1"/>
            <p:nvPr/>
          </p:nvSpPr>
          <p:spPr>
            <a:xfrm>
              <a:off x="1863419" y="4113251"/>
              <a:ext cx="241802" cy="2275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575980" rtl="0" fontAlgn="auto" latinLnBrk="0" hangingPunct="0">
                <a:lnSpc>
                  <a:spcPct val="100000"/>
                </a:lnSpc>
                <a:spcBef>
                  <a:spcPts val="0"/>
                </a:spcBef>
                <a:spcAft>
                  <a:spcPts val="0"/>
                </a:spcAft>
                <a:buClrTx/>
                <a:buSzTx/>
                <a:buFontTx/>
                <a:buNone/>
                <a:tabLst/>
              </a:pPr>
              <a:r>
                <a:rPr kumimoji="0" lang="en-US" altLang="zh-CN" sz="1200" b="0" i="0" u="none" strike="noStrike" cap="none" spc="0" normalizeH="0" baseline="0" dirty="0">
                  <a:ln>
                    <a:noFill/>
                  </a:ln>
                  <a:solidFill>
                    <a:srgbClr val="000000"/>
                  </a:solidFill>
                  <a:effectLst/>
                  <a:uFillTx/>
                  <a:latin typeface="Calibri"/>
                  <a:ea typeface="Calibri"/>
                  <a:cs typeface="Calibri"/>
                  <a:sym typeface="Calibri"/>
                </a:rPr>
                <a:t>1m</a:t>
              </a:r>
              <a:endParaRPr kumimoji="0" lang="zh-CN" altLang="en-US" sz="1200" b="0" i="0" u="none" strike="noStrike" cap="none" spc="0" normalizeH="0" baseline="0" dirty="0">
                <a:ln>
                  <a:noFill/>
                </a:ln>
                <a:solidFill>
                  <a:srgbClr val="000000"/>
                </a:solidFill>
                <a:effectLst/>
                <a:uFillTx/>
                <a:latin typeface="Calibri"/>
                <a:ea typeface="Calibri"/>
                <a:cs typeface="Calibri"/>
                <a:sym typeface="Calibri"/>
              </a:endParaRPr>
            </a:p>
          </p:txBody>
        </p:sp>
        <p:sp>
          <p:nvSpPr>
            <p:cNvPr id="53" name="文本框 52"/>
            <p:cNvSpPr txBox="1"/>
            <p:nvPr/>
          </p:nvSpPr>
          <p:spPr>
            <a:xfrm>
              <a:off x="2871854" y="4104430"/>
              <a:ext cx="241802" cy="2275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575980" rtl="0" fontAlgn="auto" latinLnBrk="0" hangingPunct="0">
                <a:lnSpc>
                  <a:spcPct val="100000"/>
                </a:lnSpc>
                <a:spcBef>
                  <a:spcPts val="0"/>
                </a:spcBef>
                <a:spcAft>
                  <a:spcPts val="0"/>
                </a:spcAft>
                <a:buClrTx/>
                <a:buSzTx/>
                <a:buFontTx/>
                <a:buNone/>
                <a:tabLst/>
              </a:pPr>
              <a:r>
                <a:rPr kumimoji="0" lang="en-US" altLang="zh-CN" sz="1200" b="0" i="0" u="none" strike="noStrike" cap="none" spc="0" normalizeH="0" baseline="0" dirty="0">
                  <a:ln>
                    <a:noFill/>
                  </a:ln>
                  <a:solidFill>
                    <a:srgbClr val="000000"/>
                  </a:solidFill>
                  <a:effectLst/>
                  <a:uFillTx/>
                  <a:latin typeface="Calibri"/>
                  <a:ea typeface="Calibri"/>
                  <a:cs typeface="Calibri"/>
                  <a:sym typeface="Calibri"/>
                </a:rPr>
                <a:t>1m</a:t>
              </a:r>
              <a:endParaRPr kumimoji="0" lang="zh-CN" altLang="en-US" sz="1200" b="0" i="0" u="none" strike="noStrike" cap="none" spc="0" normalizeH="0" baseline="0" dirty="0">
                <a:ln>
                  <a:noFill/>
                </a:ln>
                <a:solidFill>
                  <a:srgbClr val="000000"/>
                </a:solidFill>
                <a:effectLst/>
                <a:uFillTx/>
                <a:latin typeface="Calibri"/>
                <a:ea typeface="Calibri"/>
                <a:cs typeface="Calibri"/>
                <a:sym typeface="Calibri"/>
              </a:endParaRPr>
            </a:p>
          </p:txBody>
        </p:sp>
        <p:sp>
          <p:nvSpPr>
            <p:cNvPr id="54" name="文本框 53"/>
            <p:cNvSpPr txBox="1"/>
            <p:nvPr/>
          </p:nvSpPr>
          <p:spPr>
            <a:xfrm>
              <a:off x="3880289" y="4104430"/>
              <a:ext cx="241802" cy="2275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575980" rtl="0" fontAlgn="auto" latinLnBrk="0" hangingPunct="0">
                <a:lnSpc>
                  <a:spcPct val="100000"/>
                </a:lnSpc>
                <a:spcBef>
                  <a:spcPts val="0"/>
                </a:spcBef>
                <a:spcAft>
                  <a:spcPts val="0"/>
                </a:spcAft>
                <a:buClrTx/>
                <a:buSzTx/>
                <a:buFontTx/>
                <a:buNone/>
                <a:tabLst/>
              </a:pPr>
              <a:r>
                <a:rPr kumimoji="0" lang="en-US" altLang="zh-CN" sz="1200" b="0" i="0" u="none" strike="noStrike" cap="none" spc="0" normalizeH="0" baseline="0" dirty="0">
                  <a:ln>
                    <a:noFill/>
                  </a:ln>
                  <a:solidFill>
                    <a:srgbClr val="000000"/>
                  </a:solidFill>
                  <a:effectLst/>
                  <a:uFillTx/>
                  <a:latin typeface="Calibri"/>
                  <a:ea typeface="Calibri"/>
                  <a:cs typeface="Calibri"/>
                  <a:sym typeface="Calibri"/>
                </a:rPr>
                <a:t>1m</a:t>
              </a:r>
              <a:endParaRPr kumimoji="0" lang="zh-CN" altLang="en-US" sz="1200" b="0" i="0" u="none" strike="noStrike" cap="none" spc="0" normalizeH="0" baseline="0" dirty="0">
                <a:ln>
                  <a:noFill/>
                </a:ln>
                <a:solidFill>
                  <a:srgbClr val="000000"/>
                </a:solidFill>
                <a:effectLst/>
                <a:uFillTx/>
                <a:latin typeface="Calibri"/>
                <a:ea typeface="Calibri"/>
                <a:cs typeface="Calibri"/>
                <a:sym typeface="Calibri"/>
              </a:endParaRPr>
            </a:p>
          </p:txBody>
        </p:sp>
        <p:sp>
          <p:nvSpPr>
            <p:cNvPr id="55" name="文本框 54"/>
            <p:cNvSpPr txBox="1"/>
            <p:nvPr/>
          </p:nvSpPr>
          <p:spPr>
            <a:xfrm>
              <a:off x="4919541" y="4152318"/>
              <a:ext cx="241802" cy="2275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575980" rtl="0" fontAlgn="auto" latinLnBrk="0" hangingPunct="0">
                <a:lnSpc>
                  <a:spcPct val="100000"/>
                </a:lnSpc>
                <a:spcBef>
                  <a:spcPts val="0"/>
                </a:spcBef>
                <a:spcAft>
                  <a:spcPts val="0"/>
                </a:spcAft>
                <a:buClrTx/>
                <a:buSzTx/>
                <a:buFontTx/>
                <a:buNone/>
                <a:tabLst/>
              </a:pPr>
              <a:r>
                <a:rPr kumimoji="0" lang="en-US" altLang="zh-CN" sz="1200" b="0" i="0" u="none" strike="noStrike" cap="none" spc="0" normalizeH="0" baseline="0" dirty="0">
                  <a:ln>
                    <a:noFill/>
                  </a:ln>
                  <a:solidFill>
                    <a:srgbClr val="000000"/>
                  </a:solidFill>
                  <a:effectLst/>
                  <a:uFillTx/>
                  <a:latin typeface="Calibri"/>
                  <a:ea typeface="Calibri"/>
                  <a:cs typeface="Calibri"/>
                  <a:sym typeface="Calibri"/>
                </a:rPr>
                <a:t>1m</a:t>
              </a:r>
              <a:endParaRPr kumimoji="0" lang="zh-CN" altLang="en-US" sz="1200" b="0" i="0" u="none" strike="noStrike" cap="none" spc="0" normalizeH="0" baseline="0" dirty="0">
                <a:ln>
                  <a:noFill/>
                </a:ln>
                <a:solidFill>
                  <a:srgbClr val="000000"/>
                </a:solidFill>
                <a:effectLst/>
                <a:uFillTx/>
                <a:latin typeface="Calibri"/>
                <a:ea typeface="Calibri"/>
                <a:cs typeface="Calibri"/>
                <a:sym typeface="Calibri"/>
              </a:endParaRPr>
            </a:p>
          </p:txBody>
        </p:sp>
        <p:sp>
          <p:nvSpPr>
            <p:cNvPr id="56" name="文本框 55"/>
            <p:cNvSpPr txBox="1"/>
            <p:nvPr/>
          </p:nvSpPr>
          <p:spPr>
            <a:xfrm>
              <a:off x="5953775" y="4165279"/>
              <a:ext cx="241802" cy="2275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575980" rtl="0" fontAlgn="auto" latinLnBrk="0" hangingPunct="0">
                <a:lnSpc>
                  <a:spcPct val="100000"/>
                </a:lnSpc>
                <a:spcBef>
                  <a:spcPts val="0"/>
                </a:spcBef>
                <a:spcAft>
                  <a:spcPts val="0"/>
                </a:spcAft>
                <a:buClrTx/>
                <a:buSzTx/>
                <a:buFontTx/>
                <a:buNone/>
                <a:tabLst/>
              </a:pPr>
              <a:r>
                <a:rPr kumimoji="0" lang="en-US" altLang="zh-CN" sz="1200" b="0" i="0" u="none" strike="noStrike" cap="none" spc="0" normalizeH="0" baseline="0" dirty="0">
                  <a:ln>
                    <a:noFill/>
                  </a:ln>
                  <a:solidFill>
                    <a:srgbClr val="000000"/>
                  </a:solidFill>
                  <a:effectLst/>
                  <a:uFillTx/>
                  <a:latin typeface="Calibri"/>
                  <a:ea typeface="Calibri"/>
                  <a:cs typeface="Calibri"/>
                  <a:sym typeface="Calibri"/>
                </a:rPr>
                <a:t>1m</a:t>
              </a:r>
              <a:endParaRPr kumimoji="0" lang="zh-CN" altLang="en-US" sz="1200" b="0" i="0" u="none" strike="noStrike" cap="none" spc="0" normalizeH="0" baseline="0" dirty="0">
                <a:ln>
                  <a:noFill/>
                </a:ln>
                <a:solidFill>
                  <a:srgbClr val="000000"/>
                </a:solidFill>
                <a:effectLst/>
                <a:uFillTx/>
                <a:latin typeface="Calibri"/>
                <a:ea typeface="Calibri"/>
                <a:cs typeface="Calibri"/>
                <a:sym typeface="Calibri"/>
              </a:endParaRPr>
            </a:p>
          </p:txBody>
        </p:sp>
        <p:sp>
          <p:nvSpPr>
            <p:cNvPr id="57" name="文本框 56"/>
            <p:cNvSpPr txBox="1"/>
            <p:nvPr/>
          </p:nvSpPr>
          <p:spPr>
            <a:xfrm>
              <a:off x="1423412" y="4605846"/>
              <a:ext cx="368236" cy="2275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575980" rtl="0" fontAlgn="auto" latinLnBrk="0" hangingPunct="0">
                <a:lnSpc>
                  <a:spcPct val="100000"/>
                </a:lnSpc>
                <a:spcBef>
                  <a:spcPts val="0"/>
                </a:spcBef>
                <a:spcAft>
                  <a:spcPts val="0"/>
                </a:spcAft>
                <a:buClrTx/>
                <a:buSzTx/>
                <a:buFontTx/>
                <a:buNone/>
                <a:tabLst/>
              </a:pPr>
              <a:r>
                <a:rPr lang="en-US" altLang="zh-CN" sz="1200" dirty="0">
                  <a:solidFill>
                    <a:srgbClr val="00B050"/>
                  </a:solidFill>
                </a:rPr>
                <a:t>16:10</a:t>
              </a:r>
              <a:endParaRPr kumimoji="0" lang="zh-CN" altLang="en-US" sz="1200" b="0" i="0" u="none" strike="noStrike" cap="none" spc="0" normalizeH="0" baseline="0" dirty="0">
                <a:ln>
                  <a:noFill/>
                </a:ln>
                <a:solidFill>
                  <a:srgbClr val="00B050"/>
                </a:solidFill>
                <a:effectLst/>
                <a:uFillTx/>
                <a:sym typeface="Calibri"/>
              </a:endParaRPr>
            </a:p>
          </p:txBody>
        </p:sp>
        <p:sp>
          <p:nvSpPr>
            <p:cNvPr id="58" name="文本框 57"/>
            <p:cNvSpPr txBox="1"/>
            <p:nvPr/>
          </p:nvSpPr>
          <p:spPr>
            <a:xfrm>
              <a:off x="2377107" y="4630349"/>
              <a:ext cx="241802" cy="2275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575980" rtl="0" fontAlgn="auto" latinLnBrk="0" hangingPunct="0">
                <a:lnSpc>
                  <a:spcPct val="100000"/>
                </a:lnSpc>
                <a:spcBef>
                  <a:spcPts val="0"/>
                </a:spcBef>
                <a:spcAft>
                  <a:spcPts val="0"/>
                </a:spcAft>
                <a:buClrTx/>
                <a:buSzTx/>
                <a:buFontTx/>
                <a:buNone/>
                <a:tabLst/>
              </a:pPr>
              <a:r>
                <a:rPr lang="en-US" altLang="zh-CN" sz="1200" dirty="0">
                  <a:solidFill>
                    <a:srgbClr val="E94709"/>
                  </a:solidFill>
                </a:rPr>
                <a:t>0</a:t>
              </a:r>
              <a:r>
                <a:rPr kumimoji="0" lang="en-US" altLang="zh-CN" sz="1200" b="0" i="0" u="none" strike="noStrike" cap="none" spc="0" normalizeH="0" baseline="0" dirty="0">
                  <a:ln>
                    <a:noFill/>
                  </a:ln>
                  <a:solidFill>
                    <a:srgbClr val="E94709"/>
                  </a:solidFill>
                  <a:effectLst/>
                  <a:uFillTx/>
                  <a:latin typeface="Calibri"/>
                  <a:ea typeface="Calibri"/>
                  <a:cs typeface="Calibri"/>
                  <a:sym typeface="Calibri"/>
                </a:rPr>
                <a:t>m</a:t>
              </a:r>
              <a:endParaRPr kumimoji="0" lang="zh-CN" altLang="en-US" sz="1200" b="0" i="0" u="none" strike="noStrike" cap="none" spc="0" normalizeH="0" baseline="0" dirty="0">
                <a:ln>
                  <a:noFill/>
                </a:ln>
                <a:solidFill>
                  <a:srgbClr val="E94709"/>
                </a:solidFill>
                <a:effectLst/>
                <a:uFillTx/>
                <a:latin typeface="Calibri"/>
                <a:ea typeface="Calibri"/>
                <a:cs typeface="Calibri"/>
                <a:sym typeface="Calibri"/>
              </a:endParaRPr>
            </a:p>
          </p:txBody>
        </p:sp>
        <p:sp>
          <p:nvSpPr>
            <p:cNvPr id="62" name="椭圆 61"/>
            <p:cNvSpPr/>
            <p:nvPr/>
          </p:nvSpPr>
          <p:spPr>
            <a:xfrm>
              <a:off x="1629046" y="5085753"/>
              <a:ext cx="131606" cy="112690"/>
            </a:xfrm>
            <a:prstGeom prst="ellipse">
              <a:avLst/>
            </a:prstGeom>
            <a:solidFill>
              <a:srgbClr val="FFFFFF"/>
            </a:solidFill>
            <a:ln w="25400" cap="flat">
              <a:solidFill>
                <a:schemeClr val="accent1"/>
              </a:solidFill>
              <a:prstDash val="solid"/>
              <a:round/>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575980" rtl="0" fontAlgn="auto" latinLnBrk="0" hangingPunct="0">
                <a:lnSpc>
                  <a:spcPct val="100000"/>
                </a:lnSpc>
                <a:spcBef>
                  <a:spcPts val="0"/>
                </a:spcBef>
                <a:spcAft>
                  <a:spcPts val="0"/>
                </a:spcAft>
                <a:buClrTx/>
                <a:buSzTx/>
                <a:buFontTx/>
                <a:buNone/>
                <a:tabLst/>
              </a:pPr>
              <a:endParaRPr kumimoji="0" lang="zh-CN" altLang="en-US" sz="2200" b="0" i="0" u="none" strike="noStrike" cap="none" spc="0" normalizeH="0" baseline="0">
                <a:ln>
                  <a:noFill/>
                </a:ln>
                <a:solidFill>
                  <a:srgbClr val="000000"/>
                </a:solidFill>
                <a:effectLst/>
                <a:uFillTx/>
                <a:latin typeface="Calibri"/>
                <a:ea typeface="Calibri"/>
                <a:cs typeface="Calibri"/>
                <a:sym typeface="Calibri"/>
              </a:endParaRPr>
            </a:p>
          </p:txBody>
        </p:sp>
        <p:sp>
          <p:nvSpPr>
            <p:cNvPr id="63" name="文本框 62"/>
            <p:cNvSpPr txBox="1"/>
            <p:nvPr/>
          </p:nvSpPr>
          <p:spPr>
            <a:xfrm>
              <a:off x="1834114" y="4863741"/>
              <a:ext cx="254972" cy="2275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575980" rtl="0" fontAlgn="auto" latinLnBrk="0" hangingPunct="0">
                <a:lnSpc>
                  <a:spcPct val="100000"/>
                </a:lnSpc>
                <a:spcBef>
                  <a:spcPts val="0"/>
                </a:spcBef>
                <a:spcAft>
                  <a:spcPts val="0"/>
                </a:spcAft>
                <a:buClrTx/>
                <a:buSzTx/>
                <a:buFontTx/>
                <a:buNone/>
                <a:tabLst/>
              </a:pPr>
              <a:r>
                <a:rPr kumimoji="0" lang="en-US" altLang="zh-CN" sz="1200" b="0" i="0" u="none" strike="noStrike" cap="none" spc="0" normalizeH="0" baseline="0" dirty="0">
                  <a:ln>
                    <a:noFill/>
                  </a:ln>
                  <a:solidFill>
                    <a:srgbClr val="000000"/>
                  </a:solidFill>
                  <a:effectLst/>
                  <a:uFillTx/>
                  <a:latin typeface="Calibri"/>
                  <a:ea typeface="Calibri"/>
                  <a:cs typeface="Calibri"/>
                  <a:sym typeface="Calibri"/>
                </a:rPr>
                <a:t>30s</a:t>
              </a:r>
              <a:endParaRPr kumimoji="0" lang="zh-CN" altLang="en-US" sz="1200" b="0" i="0" u="none" strike="noStrike" cap="none" spc="0" normalizeH="0" baseline="0" dirty="0">
                <a:ln>
                  <a:noFill/>
                </a:ln>
                <a:solidFill>
                  <a:srgbClr val="000000"/>
                </a:solidFill>
                <a:effectLst/>
                <a:uFillTx/>
                <a:latin typeface="Calibri"/>
                <a:ea typeface="Calibri"/>
                <a:cs typeface="Calibri"/>
                <a:sym typeface="Calibri"/>
              </a:endParaRPr>
            </a:p>
          </p:txBody>
        </p:sp>
        <p:sp>
          <p:nvSpPr>
            <p:cNvPr id="64" name="文本框 63"/>
            <p:cNvSpPr txBox="1"/>
            <p:nvPr/>
          </p:nvSpPr>
          <p:spPr>
            <a:xfrm>
              <a:off x="1483802" y="5422691"/>
              <a:ext cx="476231" cy="2275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575980" rtl="0" fontAlgn="auto" latinLnBrk="0" hangingPunct="0">
                <a:lnSpc>
                  <a:spcPct val="100000"/>
                </a:lnSpc>
                <a:spcBef>
                  <a:spcPts val="0"/>
                </a:spcBef>
                <a:spcAft>
                  <a:spcPts val="0"/>
                </a:spcAft>
                <a:buClrTx/>
                <a:buSzTx/>
                <a:buFontTx/>
                <a:buNone/>
                <a:tabLst/>
              </a:pPr>
              <a:r>
                <a:rPr lang="en-US" altLang="zh-CN" sz="1200" dirty="0">
                  <a:solidFill>
                    <a:srgbClr val="00B050"/>
                  </a:solidFill>
                </a:rPr>
                <a:t>inactive</a:t>
              </a:r>
              <a:endParaRPr kumimoji="0" lang="zh-CN" altLang="en-US" sz="1200" b="0" i="0" u="none" strike="noStrike" cap="none" spc="0" normalizeH="0" baseline="0" dirty="0">
                <a:ln>
                  <a:noFill/>
                </a:ln>
                <a:solidFill>
                  <a:srgbClr val="00B050"/>
                </a:solidFill>
                <a:effectLst/>
                <a:uFillTx/>
                <a:sym typeface="Calibri"/>
              </a:endParaRPr>
            </a:p>
          </p:txBody>
        </p:sp>
        <p:sp>
          <p:nvSpPr>
            <p:cNvPr id="65" name="文本框 64"/>
            <p:cNvSpPr txBox="1"/>
            <p:nvPr/>
          </p:nvSpPr>
          <p:spPr>
            <a:xfrm>
              <a:off x="1952905" y="5422691"/>
              <a:ext cx="476231" cy="2275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575980" rtl="0" fontAlgn="auto" latinLnBrk="0" hangingPunct="0">
                <a:lnSpc>
                  <a:spcPct val="100000"/>
                </a:lnSpc>
                <a:spcBef>
                  <a:spcPts val="0"/>
                </a:spcBef>
                <a:spcAft>
                  <a:spcPts val="0"/>
                </a:spcAft>
                <a:buClrTx/>
                <a:buSzTx/>
                <a:buFontTx/>
                <a:buNone/>
                <a:tabLst/>
              </a:pPr>
              <a:r>
                <a:rPr lang="en-US" altLang="zh-CN" sz="1200" dirty="0">
                  <a:solidFill>
                    <a:srgbClr val="00B050"/>
                  </a:solidFill>
                </a:rPr>
                <a:t>inactive</a:t>
              </a:r>
              <a:endParaRPr kumimoji="0" lang="zh-CN" altLang="en-US" sz="1200" b="0" i="0" u="none" strike="noStrike" cap="none" spc="0" normalizeH="0" baseline="0" dirty="0">
                <a:ln>
                  <a:noFill/>
                </a:ln>
                <a:solidFill>
                  <a:srgbClr val="00B050"/>
                </a:solidFill>
                <a:effectLst/>
                <a:uFillTx/>
                <a:sym typeface="Calibri"/>
              </a:endParaRPr>
            </a:p>
          </p:txBody>
        </p:sp>
        <p:sp>
          <p:nvSpPr>
            <p:cNvPr id="66" name="文本框 65"/>
            <p:cNvSpPr txBox="1"/>
            <p:nvPr/>
          </p:nvSpPr>
          <p:spPr>
            <a:xfrm>
              <a:off x="2478318" y="5422690"/>
              <a:ext cx="490718" cy="2275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575980" rtl="0" fontAlgn="auto" latinLnBrk="0" hangingPunct="0">
                <a:lnSpc>
                  <a:spcPct val="100000"/>
                </a:lnSpc>
                <a:spcBef>
                  <a:spcPts val="0"/>
                </a:spcBef>
                <a:spcAft>
                  <a:spcPts val="0"/>
                </a:spcAft>
                <a:buClrTx/>
                <a:buSzTx/>
                <a:buFontTx/>
                <a:buNone/>
                <a:tabLst/>
              </a:pPr>
              <a:r>
                <a:rPr kumimoji="0" lang="en-US" altLang="zh-CN" sz="1200" b="0" i="0" u="none" strike="noStrike" cap="none" spc="0" normalizeH="0" baseline="0" dirty="0">
                  <a:ln>
                    <a:noFill/>
                  </a:ln>
                  <a:solidFill>
                    <a:srgbClr val="FFC000"/>
                  </a:solidFill>
                  <a:effectLst/>
                  <a:uFillTx/>
                  <a:latin typeface="Calibri"/>
                  <a:ea typeface="Calibri"/>
                  <a:cs typeface="Calibri"/>
                  <a:sym typeface="Calibri"/>
                </a:rPr>
                <a:t>pending</a:t>
              </a:r>
              <a:endParaRPr kumimoji="0" lang="zh-CN" altLang="en-US" sz="1200" b="0" i="0" u="none" strike="noStrike" cap="none" spc="0" normalizeH="0" baseline="0" dirty="0">
                <a:ln>
                  <a:noFill/>
                </a:ln>
                <a:solidFill>
                  <a:srgbClr val="FFC000"/>
                </a:solidFill>
                <a:effectLst/>
                <a:uFillTx/>
                <a:latin typeface="Calibri"/>
                <a:ea typeface="Calibri"/>
                <a:cs typeface="Calibri"/>
                <a:sym typeface="Calibri"/>
              </a:endParaRPr>
            </a:p>
          </p:txBody>
        </p:sp>
        <p:sp>
          <p:nvSpPr>
            <p:cNvPr id="67" name="文本框 66"/>
            <p:cNvSpPr txBox="1"/>
            <p:nvPr/>
          </p:nvSpPr>
          <p:spPr>
            <a:xfrm>
              <a:off x="2971385" y="5431519"/>
              <a:ext cx="490718" cy="2275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575980" rtl="0" fontAlgn="auto" latinLnBrk="0" hangingPunct="0">
                <a:lnSpc>
                  <a:spcPct val="100000"/>
                </a:lnSpc>
                <a:spcBef>
                  <a:spcPts val="0"/>
                </a:spcBef>
                <a:spcAft>
                  <a:spcPts val="0"/>
                </a:spcAft>
                <a:buClrTx/>
                <a:buSzTx/>
                <a:buFontTx/>
                <a:buNone/>
                <a:tabLst/>
              </a:pPr>
              <a:r>
                <a:rPr kumimoji="0" lang="en-US" altLang="zh-CN" sz="1200" b="0" i="0" u="none" strike="noStrike" cap="none" spc="0" normalizeH="0" baseline="0" dirty="0">
                  <a:ln>
                    <a:noFill/>
                  </a:ln>
                  <a:solidFill>
                    <a:srgbClr val="FFC000"/>
                  </a:solidFill>
                  <a:effectLst/>
                  <a:uFillTx/>
                  <a:latin typeface="Calibri"/>
                  <a:ea typeface="Calibri"/>
                  <a:cs typeface="Calibri"/>
                  <a:sym typeface="Calibri"/>
                </a:rPr>
                <a:t>pending</a:t>
              </a:r>
              <a:endParaRPr kumimoji="0" lang="zh-CN" altLang="en-US" sz="1200" b="0" i="0" u="none" strike="noStrike" cap="none" spc="0" normalizeH="0" baseline="0" dirty="0">
                <a:ln>
                  <a:noFill/>
                </a:ln>
                <a:solidFill>
                  <a:srgbClr val="FFC000"/>
                </a:solidFill>
                <a:effectLst/>
                <a:uFillTx/>
                <a:latin typeface="Calibri"/>
                <a:ea typeface="Calibri"/>
                <a:cs typeface="Calibri"/>
                <a:sym typeface="Calibri"/>
              </a:endParaRPr>
            </a:p>
          </p:txBody>
        </p:sp>
        <p:sp>
          <p:nvSpPr>
            <p:cNvPr id="68" name="文本框 67"/>
            <p:cNvSpPr txBox="1"/>
            <p:nvPr/>
          </p:nvSpPr>
          <p:spPr>
            <a:xfrm>
              <a:off x="3478051" y="5428706"/>
              <a:ext cx="490718" cy="2275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575980" rtl="0" fontAlgn="auto" latinLnBrk="0" hangingPunct="0">
                <a:lnSpc>
                  <a:spcPct val="100000"/>
                </a:lnSpc>
                <a:spcBef>
                  <a:spcPts val="0"/>
                </a:spcBef>
                <a:spcAft>
                  <a:spcPts val="0"/>
                </a:spcAft>
                <a:buClrTx/>
                <a:buSzTx/>
                <a:buFontTx/>
                <a:buNone/>
                <a:tabLst/>
              </a:pPr>
              <a:r>
                <a:rPr kumimoji="0" lang="en-US" altLang="zh-CN" sz="1200" b="0" i="0" u="none" strike="noStrike" cap="none" spc="0" normalizeH="0" baseline="0" dirty="0">
                  <a:ln>
                    <a:noFill/>
                  </a:ln>
                  <a:solidFill>
                    <a:srgbClr val="FFC000"/>
                  </a:solidFill>
                  <a:effectLst/>
                  <a:uFillTx/>
                  <a:latin typeface="Calibri"/>
                  <a:ea typeface="Calibri"/>
                  <a:cs typeface="Calibri"/>
                  <a:sym typeface="Calibri"/>
                </a:rPr>
                <a:t>pending</a:t>
              </a:r>
              <a:endParaRPr kumimoji="0" lang="zh-CN" altLang="en-US" sz="1200" b="0" i="0" u="none" strike="noStrike" cap="none" spc="0" normalizeH="0" baseline="0" dirty="0">
                <a:ln>
                  <a:noFill/>
                </a:ln>
                <a:solidFill>
                  <a:srgbClr val="FFC000"/>
                </a:solidFill>
                <a:effectLst/>
                <a:uFillTx/>
                <a:latin typeface="Calibri"/>
                <a:ea typeface="Calibri"/>
                <a:cs typeface="Calibri"/>
                <a:sym typeface="Calibri"/>
              </a:endParaRPr>
            </a:p>
          </p:txBody>
        </p:sp>
        <p:sp>
          <p:nvSpPr>
            <p:cNvPr id="69" name="文本框 68"/>
            <p:cNvSpPr txBox="1"/>
            <p:nvPr/>
          </p:nvSpPr>
          <p:spPr>
            <a:xfrm>
              <a:off x="3411208" y="4618490"/>
              <a:ext cx="241802" cy="2275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575980" rtl="0" fontAlgn="auto" latinLnBrk="0" hangingPunct="0">
                <a:lnSpc>
                  <a:spcPct val="100000"/>
                </a:lnSpc>
                <a:spcBef>
                  <a:spcPts val="0"/>
                </a:spcBef>
                <a:spcAft>
                  <a:spcPts val="0"/>
                </a:spcAft>
                <a:buClrTx/>
                <a:buSzTx/>
                <a:buFontTx/>
                <a:buNone/>
                <a:tabLst/>
              </a:pPr>
              <a:r>
                <a:rPr lang="en-US" altLang="zh-CN" sz="1200" dirty="0">
                  <a:solidFill>
                    <a:srgbClr val="FFC000"/>
                  </a:solidFill>
                </a:rPr>
                <a:t>1</a:t>
              </a:r>
              <a:r>
                <a:rPr kumimoji="0" lang="en-US" altLang="zh-CN" sz="1200" b="0" i="0" u="none" strike="noStrike" cap="none" spc="0" normalizeH="0" baseline="0" dirty="0">
                  <a:ln>
                    <a:noFill/>
                  </a:ln>
                  <a:solidFill>
                    <a:srgbClr val="FFC000"/>
                  </a:solidFill>
                  <a:effectLst/>
                  <a:uFillTx/>
                  <a:latin typeface="Calibri"/>
                  <a:ea typeface="Calibri"/>
                  <a:cs typeface="Calibri"/>
                  <a:sym typeface="Calibri"/>
                </a:rPr>
                <a:t>m</a:t>
              </a:r>
              <a:endParaRPr kumimoji="0" lang="zh-CN" altLang="en-US" sz="1200" b="0" i="0" u="none" strike="noStrike" cap="none" spc="0" normalizeH="0" baseline="0" dirty="0">
                <a:ln>
                  <a:noFill/>
                </a:ln>
                <a:solidFill>
                  <a:srgbClr val="FFC000"/>
                </a:solidFill>
                <a:effectLst/>
                <a:uFillTx/>
                <a:latin typeface="Calibri"/>
                <a:ea typeface="Calibri"/>
                <a:cs typeface="Calibri"/>
                <a:sym typeface="Calibri"/>
              </a:endParaRPr>
            </a:p>
          </p:txBody>
        </p:sp>
        <p:sp>
          <p:nvSpPr>
            <p:cNvPr id="70" name="文本框 69"/>
            <p:cNvSpPr txBox="1"/>
            <p:nvPr/>
          </p:nvSpPr>
          <p:spPr>
            <a:xfrm>
              <a:off x="4418451" y="4617728"/>
              <a:ext cx="241802" cy="2275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575980" rtl="0" fontAlgn="auto" latinLnBrk="0" hangingPunct="0">
                <a:lnSpc>
                  <a:spcPct val="100000"/>
                </a:lnSpc>
                <a:spcBef>
                  <a:spcPts val="0"/>
                </a:spcBef>
                <a:spcAft>
                  <a:spcPts val="0"/>
                </a:spcAft>
                <a:buClrTx/>
                <a:buSzTx/>
                <a:buFontTx/>
                <a:buNone/>
                <a:tabLst/>
              </a:pPr>
              <a:r>
                <a:rPr lang="en-US" altLang="zh-CN" sz="1200" dirty="0">
                  <a:solidFill>
                    <a:srgbClr val="FFC000"/>
                  </a:solidFill>
                </a:rPr>
                <a:t>2</a:t>
              </a:r>
              <a:r>
                <a:rPr kumimoji="0" lang="en-US" altLang="zh-CN" sz="1200" b="0" i="0" u="none" strike="noStrike" cap="none" spc="0" normalizeH="0" baseline="0" dirty="0">
                  <a:ln>
                    <a:noFill/>
                  </a:ln>
                  <a:solidFill>
                    <a:srgbClr val="FFC000"/>
                  </a:solidFill>
                  <a:effectLst/>
                  <a:uFillTx/>
                  <a:latin typeface="Calibri"/>
                  <a:ea typeface="Calibri"/>
                  <a:cs typeface="Calibri"/>
                  <a:sym typeface="Calibri"/>
                </a:rPr>
                <a:t>m</a:t>
              </a:r>
              <a:endParaRPr kumimoji="0" lang="zh-CN" altLang="en-US" sz="1200" b="0" i="0" u="none" strike="noStrike" cap="none" spc="0" normalizeH="0" baseline="0" dirty="0">
                <a:ln>
                  <a:noFill/>
                </a:ln>
                <a:solidFill>
                  <a:srgbClr val="FFC000"/>
                </a:solidFill>
                <a:effectLst/>
                <a:uFillTx/>
                <a:latin typeface="Calibri"/>
                <a:ea typeface="Calibri"/>
                <a:cs typeface="Calibri"/>
                <a:sym typeface="Calibri"/>
              </a:endParaRPr>
            </a:p>
          </p:txBody>
        </p:sp>
        <p:sp>
          <p:nvSpPr>
            <p:cNvPr id="71" name="文本框 70"/>
            <p:cNvSpPr txBox="1"/>
            <p:nvPr/>
          </p:nvSpPr>
          <p:spPr>
            <a:xfrm>
              <a:off x="5439621" y="4617347"/>
              <a:ext cx="241802" cy="2275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575980" rtl="0" fontAlgn="auto" latinLnBrk="0" hangingPunct="0">
                <a:lnSpc>
                  <a:spcPct val="100000"/>
                </a:lnSpc>
                <a:spcBef>
                  <a:spcPts val="0"/>
                </a:spcBef>
                <a:spcAft>
                  <a:spcPts val="0"/>
                </a:spcAft>
                <a:buClrTx/>
                <a:buSzTx/>
                <a:buFontTx/>
                <a:buNone/>
                <a:tabLst/>
              </a:pPr>
              <a:r>
                <a:rPr lang="en-US" altLang="zh-CN" sz="1200" dirty="0">
                  <a:solidFill>
                    <a:srgbClr val="FFC000"/>
                  </a:solidFill>
                </a:rPr>
                <a:t>3</a:t>
              </a:r>
              <a:r>
                <a:rPr kumimoji="0" lang="en-US" altLang="zh-CN" sz="1200" b="0" i="0" u="none" strike="noStrike" cap="none" spc="0" normalizeH="0" baseline="0" dirty="0">
                  <a:ln>
                    <a:noFill/>
                  </a:ln>
                  <a:solidFill>
                    <a:srgbClr val="FFC000"/>
                  </a:solidFill>
                  <a:effectLst/>
                  <a:uFillTx/>
                  <a:latin typeface="Calibri"/>
                  <a:ea typeface="Calibri"/>
                  <a:cs typeface="Calibri"/>
                  <a:sym typeface="Calibri"/>
                </a:rPr>
                <a:t>m</a:t>
              </a:r>
              <a:endParaRPr kumimoji="0" lang="zh-CN" altLang="en-US" sz="1200" b="0" i="0" u="none" strike="noStrike" cap="none" spc="0" normalizeH="0" baseline="0" dirty="0">
                <a:ln>
                  <a:noFill/>
                </a:ln>
                <a:solidFill>
                  <a:srgbClr val="FFC000"/>
                </a:solidFill>
                <a:effectLst/>
                <a:uFillTx/>
                <a:latin typeface="Calibri"/>
                <a:ea typeface="Calibri"/>
                <a:cs typeface="Calibri"/>
                <a:sym typeface="Calibri"/>
              </a:endParaRPr>
            </a:p>
          </p:txBody>
        </p:sp>
        <p:sp>
          <p:nvSpPr>
            <p:cNvPr id="72" name="文本框 71"/>
            <p:cNvSpPr txBox="1"/>
            <p:nvPr/>
          </p:nvSpPr>
          <p:spPr>
            <a:xfrm>
              <a:off x="6478167" y="4630988"/>
              <a:ext cx="241802" cy="2275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575980" rtl="0" fontAlgn="auto" latinLnBrk="0" hangingPunct="0">
                <a:lnSpc>
                  <a:spcPct val="100000"/>
                </a:lnSpc>
                <a:spcBef>
                  <a:spcPts val="0"/>
                </a:spcBef>
                <a:spcAft>
                  <a:spcPts val="0"/>
                </a:spcAft>
                <a:buClrTx/>
                <a:buSzTx/>
                <a:buFontTx/>
                <a:buNone/>
                <a:tabLst/>
              </a:pPr>
              <a:r>
                <a:rPr lang="en-US" altLang="zh-CN" sz="1200" dirty="0">
                  <a:solidFill>
                    <a:srgbClr val="00B050"/>
                  </a:solidFill>
                </a:rPr>
                <a:t>4</a:t>
              </a:r>
              <a:r>
                <a:rPr kumimoji="0" lang="en-US" altLang="zh-CN" sz="1200" b="0" i="0" u="none" strike="noStrike" cap="none" spc="0" normalizeH="0" baseline="0" dirty="0">
                  <a:ln>
                    <a:noFill/>
                  </a:ln>
                  <a:solidFill>
                    <a:srgbClr val="00B050"/>
                  </a:solidFill>
                  <a:effectLst/>
                  <a:uFillTx/>
                  <a:latin typeface="Calibri"/>
                  <a:ea typeface="Calibri"/>
                  <a:cs typeface="Calibri"/>
                  <a:sym typeface="Calibri"/>
                </a:rPr>
                <a:t>m</a:t>
              </a:r>
              <a:endParaRPr kumimoji="0" lang="zh-CN" altLang="en-US" sz="1200" b="0" i="0" u="none" strike="noStrike" cap="none" spc="0" normalizeH="0" baseline="0" dirty="0">
                <a:ln>
                  <a:noFill/>
                </a:ln>
                <a:solidFill>
                  <a:srgbClr val="00B050"/>
                </a:solidFill>
                <a:effectLst/>
                <a:uFillTx/>
                <a:latin typeface="Calibri"/>
                <a:ea typeface="Calibri"/>
                <a:cs typeface="Calibri"/>
                <a:sym typeface="Calibri"/>
              </a:endParaRPr>
            </a:p>
          </p:txBody>
        </p:sp>
        <p:sp>
          <p:nvSpPr>
            <p:cNvPr id="74" name="文本框 73"/>
            <p:cNvSpPr txBox="1"/>
            <p:nvPr/>
          </p:nvSpPr>
          <p:spPr>
            <a:xfrm>
              <a:off x="3985668" y="5422689"/>
              <a:ext cx="490718" cy="2275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575980" rtl="0" fontAlgn="auto" latinLnBrk="0" hangingPunct="0">
                <a:lnSpc>
                  <a:spcPct val="100000"/>
                </a:lnSpc>
                <a:spcBef>
                  <a:spcPts val="0"/>
                </a:spcBef>
                <a:spcAft>
                  <a:spcPts val="0"/>
                </a:spcAft>
                <a:buClrTx/>
                <a:buSzTx/>
                <a:buFontTx/>
                <a:buNone/>
                <a:tabLst/>
              </a:pPr>
              <a:r>
                <a:rPr kumimoji="0" lang="en-US" altLang="zh-CN" sz="1200" b="0" i="0" u="none" strike="noStrike" cap="none" spc="0" normalizeH="0" baseline="0" dirty="0">
                  <a:ln>
                    <a:noFill/>
                  </a:ln>
                  <a:solidFill>
                    <a:srgbClr val="FFC000"/>
                  </a:solidFill>
                  <a:effectLst/>
                  <a:uFillTx/>
                  <a:latin typeface="Calibri"/>
                  <a:ea typeface="Calibri"/>
                  <a:cs typeface="Calibri"/>
                  <a:sym typeface="Calibri"/>
                </a:rPr>
                <a:t>pending</a:t>
              </a:r>
              <a:endParaRPr kumimoji="0" lang="zh-CN" altLang="en-US" sz="1200" b="0" i="0" u="none" strike="noStrike" cap="none" spc="0" normalizeH="0" baseline="0" dirty="0">
                <a:ln>
                  <a:noFill/>
                </a:ln>
                <a:solidFill>
                  <a:srgbClr val="FFC000"/>
                </a:solidFill>
                <a:effectLst/>
                <a:uFillTx/>
                <a:latin typeface="Calibri"/>
                <a:ea typeface="Calibri"/>
                <a:cs typeface="Calibri"/>
                <a:sym typeface="Calibri"/>
              </a:endParaRPr>
            </a:p>
          </p:txBody>
        </p:sp>
        <p:sp>
          <p:nvSpPr>
            <p:cNvPr id="75" name="文本框 74"/>
            <p:cNvSpPr txBox="1"/>
            <p:nvPr/>
          </p:nvSpPr>
          <p:spPr>
            <a:xfrm>
              <a:off x="4552919" y="5431064"/>
              <a:ext cx="490718" cy="2275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575980" rtl="0" fontAlgn="auto" latinLnBrk="0" hangingPunct="0">
                <a:lnSpc>
                  <a:spcPct val="100000"/>
                </a:lnSpc>
                <a:spcBef>
                  <a:spcPts val="0"/>
                </a:spcBef>
                <a:spcAft>
                  <a:spcPts val="0"/>
                </a:spcAft>
                <a:buClrTx/>
                <a:buSzTx/>
                <a:buFontTx/>
                <a:buNone/>
                <a:tabLst/>
              </a:pPr>
              <a:r>
                <a:rPr kumimoji="0" lang="en-US" altLang="zh-CN" sz="1200" b="0" i="0" u="none" strike="noStrike" cap="none" spc="0" normalizeH="0" baseline="0" dirty="0">
                  <a:ln>
                    <a:noFill/>
                  </a:ln>
                  <a:solidFill>
                    <a:srgbClr val="FFC000"/>
                  </a:solidFill>
                  <a:effectLst/>
                  <a:uFillTx/>
                  <a:latin typeface="Calibri"/>
                  <a:ea typeface="Calibri"/>
                  <a:cs typeface="Calibri"/>
                  <a:sym typeface="Calibri"/>
                </a:rPr>
                <a:t>pending</a:t>
              </a:r>
              <a:endParaRPr kumimoji="0" lang="zh-CN" altLang="en-US" sz="1200" b="0" i="0" u="none" strike="noStrike" cap="none" spc="0" normalizeH="0" baseline="0" dirty="0">
                <a:ln>
                  <a:noFill/>
                </a:ln>
                <a:solidFill>
                  <a:srgbClr val="FFC000"/>
                </a:solidFill>
                <a:effectLst/>
                <a:uFillTx/>
                <a:latin typeface="Calibri"/>
                <a:ea typeface="Calibri"/>
                <a:cs typeface="Calibri"/>
                <a:sym typeface="Calibri"/>
              </a:endParaRPr>
            </a:p>
          </p:txBody>
        </p:sp>
        <p:sp>
          <p:nvSpPr>
            <p:cNvPr id="76" name="文本框 75"/>
            <p:cNvSpPr txBox="1"/>
            <p:nvPr/>
          </p:nvSpPr>
          <p:spPr>
            <a:xfrm>
              <a:off x="5045986" y="5439893"/>
              <a:ext cx="490718" cy="2275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575980" rtl="0" fontAlgn="auto" latinLnBrk="0" hangingPunct="0">
                <a:lnSpc>
                  <a:spcPct val="100000"/>
                </a:lnSpc>
                <a:spcBef>
                  <a:spcPts val="0"/>
                </a:spcBef>
                <a:spcAft>
                  <a:spcPts val="0"/>
                </a:spcAft>
                <a:buClrTx/>
                <a:buSzTx/>
                <a:buFontTx/>
                <a:buNone/>
                <a:tabLst/>
              </a:pPr>
              <a:r>
                <a:rPr kumimoji="0" lang="en-US" altLang="zh-CN" sz="1200" b="0" i="0" u="none" strike="noStrike" cap="none" spc="0" normalizeH="0" baseline="0" dirty="0">
                  <a:ln>
                    <a:noFill/>
                  </a:ln>
                  <a:solidFill>
                    <a:srgbClr val="FFC000"/>
                  </a:solidFill>
                  <a:effectLst/>
                  <a:uFillTx/>
                  <a:latin typeface="Calibri"/>
                  <a:ea typeface="Calibri"/>
                  <a:cs typeface="Calibri"/>
                  <a:sym typeface="Calibri"/>
                </a:rPr>
                <a:t>pending</a:t>
              </a:r>
              <a:endParaRPr kumimoji="0" lang="zh-CN" altLang="en-US" sz="1200" b="0" i="0" u="none" strike="noStrike" cap="none" spc="0" normalizeH="0" baseline="0" dirty="0">
                <a:ln>
                  <a:noFill/>
                </a:ln>
                <a:solidFill>
                  <a:srgbClr val="FFC000"/>
                </a:solidFill>
                <a:effectLst/>
                <a:uFillTx/>
                <a:latin typeface="Calibri"/>
                <a:ea typeface="Calibri"/>
                <a:cs typeface="Calibri"/>
                <a:sym typeface="Calibri"/>
              </a:endParaRPr>
            </a:p>
          </p:txBody>
        </p:sp>
        <p:sp>
          <p:nvSpPr>
            <p:cNvPr id="78" name="文本框 77"/>
            <p:cNvSpPr txBox="1"/>
            <p:nvPr/>
          </p:nvSpPr>
          <p:spPr>
            <a:xfrm>
              <a:off x="5552653" y="5437080"/>
              <a:ext cx="381406" cy="2275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575980" rtl="0" fontAlgn="auto" latinLnBrk="0" hangingPunct="0">
                <a:lnSpc>
                  <a:spcPct val="100000"/>
                </a:lnSpc>
                <a:spcBef>
                  <a:spcPts val="0"/>
                </a:spcBef>
                <a:spcAft>
                  <a:spcPts val="0"/>
                </a:spcAft>
                <a:buClrTx/>
                <a:buSzTx/>
                <a:buFontTx/>
                <a:buNone/>
                <a:tabLst/>
              </a:pPr>
              <a:r>
                <a:rPr kumimoji="0" lang="en-US" altLang="zh-CN" sz="1200" b="0" i="0" u="none" strike="noStrike" cap="none" spc="0" normalizeH="0" baseline="0" dirty="0">
                  <a:ln>
                    <a:noFill/>
                  </a:ln>
                  <a:solidFill>
                    <a:srgbClr val="E94709"/>
                  </a:solidFill>
                  <a:effectLst/>
                  <a:uFillTx/>
                  <a:latin typeface="Calibri"/>
                  <a:ea typeface="Calibri"/>
                  <a:cs typeface="Calibri"/>
                  <a:sym typeface="Calibri"/>
                </a:rPr>
                <a:t>active</a:t>
              </a:r>
              <a:endParaRPr kumimoji="0" lang="zh-CN" altLang="en-US" sz="1200" b="0" i="0" u="none" strike="noStrike" cap="none" spc="0" normalizeH="0" baseline="0" dirty="0">
                <a:ln>
                  <a:noFill/>
                </a:ln>
                <a:solidFill>
                  <a:srgbClr val="E94709"/>
                </a:solidFill>
                <a:effectLst/>
                <a:uFillTx/>
                <a:latin typeface="Calibri"/>
                <a:ea typeface="Calibri"/>
                <a:cs typeface="Calibri"/>
                <a:sym typeface="Calibri"/>
              </a:endParaRPr>
            </a:p>
          </p:txBody>
        </p:sp>
        <p:sp>
          <p:nvSpPr>
            <p:cNvPr id="79" name="文本框 78"/>
            <p:cNvSpPr txBox="1"/>
            <p:nvPr/>
          </p:nvSpPr>
          <p:spPr>
            <a:xfrm>
              <a:off x="6060269" y="5431063"/>
              <a:ext cx="381406" cy="2275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575980" rtl="0" fontAlgn="auto" latinLnBrk="0" hangingPunct="0">
                <a:lnSpc>
                  <a:spcPct val="100000"/>
                </a:lnSpc>
                <a:spcBef>
                  <a:spcPts val="0"/>
                </a:spcBef>
                <a:spcAft>
                  <a:spcPts val="0"/>
                </a:spcAft>
                <a:buClrTx/>
                <a:buSzTx/>
                <a:buFontTx/>
                <a:buNone/>
                <a:tabLst/>
              </a:pPr>
              <a:r>
                <a:rPr kumimoji="0" lang="en-US" altLang="zh-CN" sz="1200" b="0" i="0" u="none" strike="noStrike" cap="none" spc="0" normalizeH="0" baseline="0" dirty="0">
                  <a:ln>
                    <a:noFill/>
                  </a:ln>
                  <a:solidFill>
                    <a:srgbClr val="E94709"/>
                  </a:solidFill>
                  <a:effectLst/>
                  <a:uFillTx/>
                  <a:latin typeface="Calibri"/>
                  <a:ea typeface="Calibri"/>
                  <a:cs typeface="Calibri"/>
                  <a:sym typeface="Calibri"/>
                </a:rPr>
                <a:t>active</a:t>
              </a:r>
              <a:endParaRPr kumimoji="0" lang="zh-CN" altLang="en-US" sz="1200" b="0" i="0" u="none" strike="noStrike" cap="none" spc="0" normalizeH="0" baseline="0" dirty="0">
                <a:ln>
                  <a:noFill/>
                </a:ln>
                <a:solidFill>
                  <a:srgbClr val="E94709"/>
                </a:solidFill>
                <a:effectLst/>
                <a:uFillTx/>
                <a:latin typeface="Calibri"/>
                <a:ea typeface="Calibri"/>
                <a:cs typeface="Calibri"/>
                <a:sym typeface="Calibri"/>
              </a:endParaRPr>
            </a:p>
          </p:txBody>
        </p:sp>
        <p:sp>
          <p:nvSpPr>
            <p:cNvPr id="80" name="文本框 79"/>
            <p:cNvSpPr txBox="1"/>
            <p:nvPr/>
          </p:nvSpPr>
          <p:spPr>
            <a:xfrm>
              <a:off x="6567886" y="5422688"/>
              <a:ext cx="514425" cy="3792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575980" rtl="0" fontAlgn="auto" latinLnBrk="0" hangingPunct="0">
                <a:lnSpc>
                  <a:spcPct val="100000"/>
                </a:lnSpc>
                <a:spcBef>
                  <a:spcPts val="0"/>
                </a:spcBef>
                <a:spcAft>
                  <a:spcPts val="0"/>
                </a:spcAft>
                <a:buClrTx/>
                <a:buSzTx/>
                <a:buFontTx/>
                <a:buNone/>
                <a:tabLst/>
              </a:pPr>
              <a:r>
                <a:rPr lang="en-US" altLang="zh-CN" sz="1200" dirty="0">
                  <a:solidFill>
                    <a:srgbClr val="00B050"/>
                  </a:solidFill>
                </a:rPr>
                <a:t>i</a:t>
              </a:r>
              <a:r>
                <a:rPr kumimoji="0" lang="en-US" altLang="zh-CN" sz="1200" b="0" i="0" u="none" strike="noStrike" cap="none" spc="0" normalizeH="0" baseline="0" dirty="0">
                  <a:ln>
                    <a:noFill/>
                  </a:ln>
                  <a:solidFill>
                    <a:srgbClr val="00B050"/>
                  </a:solidFill>
                  <a:effectLst/>
                  <a:uFillTx/>
                  <a:latin typeface="Calibri"/>
                  <a:ea typeface="Calibri"/>
                  <a:cs typeface="Calibri"/>
                  <a:sym typeface="Calibri"/>
                </a:rPr>
                <a:t>nactive</a:t>
              </a:r>
            </a:p>
            <a:p>
              <a:pPr marL="0" marR="0" indent="0" algn="l" defTabSz="575980" rtl="0" fontAlgn="auto" latinLnBrk="0" hangingPunct="0">
                <a:lnSpc>
                  <a:spcPct val="100000"/>
                </a:lnSpc>
                <a:spcBef>
                  <a:spcPts val="0"/>
                </a:spcBef>
                <a:spcAft>
                  <a:spcPts val="0"/>
                </a:spcAft>
                <a:buClrTx/>
                <a:buSzTx/>
                <a:buFontTx/>
                <a:buNone/>
                <a:tabLst/>
              </a:pPr>
              <a:r>
                <a:rPr lang="en-US" altLang="zh-CN" sz="1200" dirty="0" err="1">
                  <a:solidFill>
                    <a:srgbClr val="00B050"/>
                  </a:solidFill>
                </a:rPr>
                <a:t>resovled</a:t>
              </a:r>
              <a:endParaRPr kumimoji="0" lang="zh-CN" altLang="en-US" sz="1200" b="0" i="0" u="none" strike="noStrike" cap="none" spc="0" normalizeH="0" baseline="0" dirty="0">
                <a:ln>
                  <a:noFill/>
                </a:ln>
                <a:solidFill>
                  <a:srgbClr val="00B050"/>
                </a:solidFill>
                <a:effectLst/>
                <a:uFillTx/>
                <a:sym typeface="Calibri"/>
              </a:endParaRPr>
            </a:p>
          </p:txBody>
        </p:sp>
        <p:sp>
          <p:nvSpPr>
            <p:cNvPr id="81" name="文本框 80"/>
            <p:cNvSpPr txBox="1"/>
            <p:nvPr/>
          </p:nvSpPr>
          <p:spPr>
            <a:xfrm>
              <a:off x="7105668" y="5437080"/>
              <a:ext cx="476231" cy="2275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575980" rtl="0" fontAlgn="auto" latinLnBrk="0" hangingPunct="0">
                <a:lnSpc>
                  <a:spcPct val="100000"/>
                </a:lnSpc>
                <a:spcBef>
                  <a:spcPts val="0"/>
                </a:spcBef>
                <a:spcAft>
                  <a:spcPts val="0"/>
                </a:spcAft>
                <a:buClrTx/>
                <a:buSzTx/>
                <a:buFontTx/>
                <a:buNone/>
                <a:tabLst/>
              </a:pPr>
              <a:r>
                <a:rPr lang="en-US" altLang="zh-CN" sz="1200" dirty="0">
                  <a:solidFill>
                    <a:srgbClr val="00B050"/>
                  </a:solidFill>
                </a:rPr>
                <a:t>inactive</a:t>
              </a:r>
              <a:endParaRPr kumimoji="0" lang="zh-CN" altLang="en-US" sz="1200" b="0" i="0" u="none" strike="noStrike" cap="none" spc="0" normalizeH="0" baseline="0" dirty="0">
                <a:ln>
                  <a:noFill/>
                </a:ln>
                <a:solidFill>
                  <a:srgbClr val="00B050"/>
                </a:solidFill>
                <a:effectLst/>
                <a:uFillTx/>
                <a:sym typeface="Calibri"/>
              </a:endParaRPr>
            </a:p>
          </p:txBody>
        </p:sp>
      </p:grpSp>
      <p:sp>
        <p:nvSpPr>
          <p:cNvPr id="84" name="文本框 83"/>
          <p:cNvSpPr txBox="1"/>
          <p:nvPr/>
        </p:nvSpPr>
        <p:spPr>
          <a:xfrm>
            <a:off x="7844382" y="4152318"/>
            <a:ext cx="3561844" cy="132343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575980" rtl="0" fontAlgn="auto" latinLnBrk="0" hangingPunct="0">
              <a:lnSpc>
                <a:spcPct val="100000"/>
              </a:lnSpc>
              <a:spcBef>
                <a:spcPts val="0"/>
              </a:spcBef>
              <a:spcAft>
                <a:spcPts val="0"/>
              </a:spcAft>
              <a:buClrTx/>
              <a:buSzTx/>
              <a:buFontTx/>
              <a:buNone/>
              <a:tabLst/>
            </a:pPr>
            <a:r>
              <a:rPr kumimoji="0" lang="en-US" altLang="zh-CN" sz="1000" b="0" i="0" u="none" strike="noStrike" cap="none" spc="0" normalizeH="0" baseline="0" dirty="0">
                <a:ln>
                  <a:noFill/>
                </a:ln>
                <a:solidFill>
                  <a:srgbClr val="000000"/>
                </a:solidFill>
                <a:effectLst/>
                <a:uFillTx/>
                <a:sym typeface="Calibri"/>
              </a:rPr>
              <a:t>1. </a:t>
            </a:r>
            <a:r>
              <a:rPr kumimoji="0" lang="en-US" altLang="zh-CN" sz="1000" b="0" i="0" u="none" strike="noStrike" cap="none" spc="0" normalizeH="0" baseline="0" dirty="0" err="1">
                <a:ln>
                  <a:noFill/>
                </a:ln>
                <a:solidFill>
                  <a:srgbClr val="000000"/>
                </a:solidFill>
                <a:effectLst/>
                <a:uFillTx/>
                <a:sym typeface="Calibri"/>
              </a:rPr>
              <a:t>prometheus</a:t>
            </a:r>
            <a:r>
              <a:rPr kumimoji="0" lang="en-US" altLang="zh-CN" sz="1000" b="0" i="0" u="none" strike="noStrike" cap="none" spc="0" normalizeH="0" baseline="0" dirty="0">
                <a:ln>
                  <a:noFill/>
                </a:ln>
                <a:solidFill>
                  <a:srgbClr val="000000"/>
                </a:solidFill>
                <a:effectLst/>
                <a:uFillTx/>
                <a:sym typeface="Calibri"/>
              </a:rPr>
              <a:t> </a:t>
            </a:r>
            <a:r>
              <a:rPr kumimoji="0" lang="zh-CN" altLang="en-US" sz="1000" b="0" i="0" u="none" strike="noStrike" cap="none" spc="0" normalizeH="0" baseline="0" dirty="0">
                <a:ln>
                  <a:noFill/>
                </a:ln>
                <a:solidFill>
                  <a:srgbClr val="000000"/>
                </a:solidFill>
                <a:effectLst/>
                <a:uFillTx/>
                <a:sym typeface="Calibri"/>
              </a:rPr>
              <a:t>以</a:t>
            </a:r>
            <a:r>
              <a:rPr kumimoji="0" lang="en-US" altLang="zh-CN" sz="1000" b="0" i="0" u="none" strike="noStrike" cap="none" spc="0" normalizeH="0" baseline="0" dirty="0">
                <a:ln>
                  <a:noFill/>
                </a:ln>
                <a:solidFill>
                  <a:srgbClr val="000000"/>
                </a:solidFill>
                <a:effectLst/>
                <a:uFillTx/>
                <a:sym typeface="Calibri"/>
              </a:rPr>
              <a:t>1M</a:t>
            </a:r>
            <a:r>
              <a:rPr kumimoji="0" lang="zh-CN" altLang="en-US" sz="1000" b="0" i="0" u="none" strike="noStrike" cap="none" spc="0" normalizeH="0" baseline="0" dirty="0">
                <a:ln>
                  <a:noFill/>
                </a:ln>
                <a:solidFill>
                  <a:srgbClr val="000000"/>
                </a:solidFill>
                <a:effectLst/>
                <a:uFillTx/>
                <a:sym typeface="Calibri"/>
              </a:rPr>
              <a:t>为一个采集周期，也就是</a:t>
            </a:r>
            <a:r>
              <a:rPr kumimoji="0" lang="en-US" altLang="zh-CN" sz="1000" b="0" i="0" u="none" strike="noStrike" cap="none" spc="0" normalizeH="0" baseline="0" dirty="0">
                <a:ln>
                  <a:noFill/>
                </a:ln>
                <a:solidFill>
                  <a:srgbClr val="000000"/>
                </a:solidFill>
                <a:effectLst/>
                <a:uFillTx/>
                <a:sym typeface="Calibri"/>
              </a:rPr>
              <a:t>1M</a:t>
            </a:r>
            <a:r>
              <a:rPr kumimoji="0" lang="zh-CN" altLang="en-US" sz="1000" b="0" i="0" u="none" strike="noStrike" cap="none" spc="0" normalizeH="0" baseline="0" dirty="0">
                <a:ln>
                  <a:noFill/>
                </a:ln>
                <a:solidFill>
                  <a:srgbClr val="000000"/>
                </a:solidFill>
                <a:effectLst/>
                <a:uFillTx/>
                <a:sym typeface="Calibri"/>
              </a:rPr>
              <a:t>取一个点</a:t>
            </a:r>
            <a:endParaRPr kumimoji="0" lang="en-US" altLang="zh-CN" sz="1000" b="0" i="0" u="none" strike="noStrike" cap="none" spc="0" normalizeH="0" baseline="0" dirty="0">
              <a:ln>
                <a:noFill/>
              </a:ln>
              <a:solidFill>
                <a:srgbClr val="000000"/>
              </a:solidFill>
              <a:effectLst/>
              <a:uFillTx/>
              <a:sym typeface="Calibri"/>
            </a:endParaRPr>
          </a:p>
          <a:p>
            <a:pPr marL="0" marR="0" indent="0" algn="l" defTabSz="575980" rtl="0" fontAlgn="auto" latinLnBrk="0" hangingPunct="0">
              <a:lnSpc>
                <a:spcPct val="100000"/>
              </a:lnSpc>
              <a:spcBef>
                <a:spcPts val="0"/>
              </a:spcBef>
              <a:spcAft>
                <a:spcPts val="0"/>
              </a:spcAft>
              <a:buClrTx/>
              <a:buSzTx/>
              <a:buFontTx/>
              <a:buNone/>
              <a:tabLst/>
            </a:pPr>
            <a:r>
              <a:rPr lang="en-US" altLang="zh-CN" sz="1000" dirty="0"/>
              <a:t>2.  </a:t>
            </a:r>
            <a:r>
              <a:rPr lang="zh-CN" altLang="en-US" sz="1000" dirty="0"/>
              <a:t>然后根据采集到的状态按照</a:t>
            </a:r>
            <a:r>
              <a:rPr lang="en-US" altLang="zh-CN" sz="1000" dirty="0"/>
              <a:t>30S</a:t>
            </a:r>
            <a:r>
              <a:rPr lang="zh-CN" altLang="en-US" sz="1000" dirty="0"/>
              <a:t>的一个周期计算表达式</a:t>
            </a:r>
            <a:endParaRPr lang="en-US" altLang="zh-CN" sz="1000" dirty="0"/>
          </a:p>
          <a:p>
            <a:pPr marL="0" marR="0" indent="0" algn="l" defTabSz="575980" rtl="0" fontAlgn="auto" latinLnBrk="0" hangingPunct="0">
              <a:lnSpc>
                <a:spcPct val="100000"/>
              </a:lnSpc>
              <a:spcBef>
                <a:spcPts val="0"/>
              </a:spcBef>
              <a:spcAft>
                <a:spcPts val="0"/>
              </a:spcAft>
              <a:buClrTx/>
              <a:buSzTx/>
              <a:buFontTx/>
              <a:buNone/>
              <a:tabLst/>
            </a:pPr>
            <a:r>
              <a:rPr kumimoji="0" lang="en-US" altLang="zh-CN" sz="1000" b="0" i="0" u="none" strike="noStrike" cap="none" spc="0" normalizeH="0" baseline="0" dirty="0">
                <a:ln>
                  <a:noFill/>
                </a:ln>
                <a:solidFill>
                  <a:srgbClr val="000000"/>
                </a:solidFill>
                <a:effectLst/>
                <a:uFillTx/>
                <a:sym typeface="Calibri"/>
              </a:rPr>
              <a:t>3. </a:t>
            </a:r>
            <a:r>
              <a:rPr kumimoji="0" lang="en-US" altLang="zh-CN" sz="1000" b="0" i="0" u="none" strike="noStrike" cap="none" spc="0" normalizeH="0" dirty="0">
                <a:ln>
                  <a:noFill/>
                </a:ln>
                <a:solidFill>
                  <a:srgbClr val="000000"/>
                </a:solidFill>
                <a:effectLst/>
                <a:uFillTx/>
                <a:sym typeface="Calibri"/>
              </a:rPr>
              <a:t> </a:t>
            </a:r>
            <a:r>
              <a:rPr kumimoji="0" lang="zh-CN" altLang="en-US" sz="1000" b="0" i="0" u="none" strike="noStrike" cap="none" spc="0" normalizeH="0" dirty="0">
                <a:ln>
                  <a:noFill/>
                </a:ln>
                <a:solidFill>
                  <a:srgbClr val="000000"/>
                </a:solidFill>
                <a:effectLst/>
                <a:uFillTx/>
                <a:sym typeface="Calibri"/>
              </a:rPr>
              <a:t>表达式为真，告警状态切换 </a:t>
            </a:r>
            <a:r>
              <a:rPr lang="en-US" altLang="zh-CN" sz="1000" dirty="0" err="1"/>
              <a:t>pendding</a:t>
            </a:r>
            <a:endParaRPr kumimoji="0" lang="en-US" altLang="zh-CN" sz="1000" b="0" i="0" u="none" strike="noStrike" cap="none" spc="0" normalizeH="0" dirty="0">
              <a:ln>
                <a:noFill/>
              </a:ln>
              <a:solidFill>
                <a:srgbClr val="000000"/>
              </a:solidFill>
              <a:effectLst/>
              <a:uFillTx/>
              <a:sym typeface="Calibri"/>
            </a:endParaRPr>
          </a:p>
          <a:p>
            <a:pPr marL="0" marR="0" indent="0" algn="l" defTabSz="575980" rtl="0" fontAlgn="auto" latinLnBrk="0" hangingPunct="0">
              <a:lnSpc>
                <a:spcPct val="100000"/>
              </a:lnSpc>
              <a:spcBef>
                <a:spcPts val="0"/>
              </a:spcBef>
              <a:spcAft>
                <a:spcPts val="0"/>
              </a:spcAft>
              <a:buClrTx/>
              <a:buSzTx/>
              <a:buFontTx/>
              <a:buNone/>
              <a:tabLst/>
            </a:pPr>
            <a:r>
              <a:rPr lang="en-US" altLang="zh-CN" sz="1000" dirty="0"/>
              <a:t>4.  </a:t>
            </a:r>
            <a:r>
              <a:rPr lang="zh-CN" altLang="en-US" sz="1000" dirty="0"/>
              <a:t>下一个计算周期，表达式仍为真，且符合持续</a:t>
            </a:r>
            <a:r>
              <a:rPr lang="en-US" altLang="zh-CN" sz="1000" dirty="0"/>
              <a:t>3M</a:t>
            </a:r>
            <a:r>
              <a:rPr lang="zh-CN" altLang="en-US" sz="1000" dirty="0"/>
              <a:t>，告警状态切换为</a:t>
            </a:r>
            <a:r>
              <a:rPr lang="en-US" altLang="zh-CN" sz="1000" dirty="0"/>
              <a:t>active</a:t>
            </a:r>
          </a:p>
          <a:p>
            <a:pPr marL="0" marR="0" indent="0" algn="l" defTabSz="575980" rtl="0" fontAlgn="auto" latinLnBrk="0" hangingPunct="0">
              <a:lnSpc>
                <a:spcPct val="100000"/>
              </a:lnSpc>
              <a:spcBef>
                <a:spcPts val="0"/>
              </a:spcBef>
              <a:spcAft>
                <a:spcPts val="0"/>
              </a:spcAft>
              <a:buClrTx/>
              <a:buSzTx/>
              <a:buFontTx/>
              <a:buNone/>
              <a:tabLst/>
            </a:pPr>
            <a:r>
              <a:rPr kumimoji="0" lang="en-US" altLang="zh-CN" sz="1000" b="0" i="0" u="none" strike="noStrike" cap="none" spc="0" normalizeH="0" dirty="0">
                <a:ln>
                  <a:noFill/>
                </a:ln>
                <a:solidFill>
                  <a:srgbClr val="000000"/>
                </a:solidFill>
                <a:effectLst/>
                <a:uFillTx/>
                <a:sym typeface="Calibri"/>
              </a:rPr>
              <a:t>5.  </a:t>
            </a:r>
            <a:r>
              <a:rPr kumimoji="0" lang="zh-CN" altLang="en-US" sz="1000" b="0" i="0" u="none" strike="noStrike" cap="none" spc="0" normalizeH="0" dirty="0">
                <a:ln>
                  <a:noFill/>
                </a:ln>
                <a:solidFill>
                  <a:srgbClr val="000000"/>
                </a:solidFill>
                <a:effectLst/>
                <a:uFillTx/>
                <a:sym typeface="Calibri"/>
              </a:rPr>
              <a:t>直到某个计算周期，表达式为假，告警状态切换为</a:t>
            </a:r>
            <a:r>
              <a:rPr kumimoji="0" lang="en-US" altLang="zh-CN" sz="1000" b="0" i="0" u="none" strike="noStrike" cap="none" spc="0" normalizeH="0" dirty="0">
                <a:ln>
                  <a:noFill/>
                </a:ln>
                <a:solidFill>
                  <a:srgbClr val="000000"/>
                </a:solidFill>
                <a:effectLst/>
                <a:uFillTx/>
                <a:sym typeface="Calibri"/>
              </a:rPr>
              <a:t>inactive</a:t>
            </a:r>
            <a:r>
              <a:rPr kumimoji="0" lang="zh-CN" altLang="en-US" sz="1000" b="0" i="0" u="none" strike="noStrike" cap="none" spc="0" normalizeH="0" dirty="0">
                <a:ln>
                  <a:noFill/>
                </a:ln>
                <a:solidFill>
                  <a:srgbClr val="000000"/>
                </a:solidFill>
                <a:effectLst/>
                <a:uFillTx/>
                <a:sym typeface="Calibri"/>
              </a:rPr>
              <a:t>，发送</a:t>
            </a:r>
            <a:r>
              <a:rPr kumimoji="0" lang="en-US" altLang="zh-CN" sz="1000" b="0" i="0" u="none" strike="noStrike" cap="none" spc="0" normalizeH="0" dirty="0">
                <a:ln>
                  <a:noFill/>
                </a:ln>
                <a:solidFill>
                  <a:srgbClr val="000000"/>
                </a:solidFill>
                <a:effectLst/>
                <a:uFillTx/>
                <a:sym typeface="Calibri"/>
              </a:rPr>
              <a:t>resolve</a:t>
            </a:r>
            <a:r>
              <a:rPr kumimoji="0" lang="zh-CN" altLang="en-US" sz="1000" b="0" i="0" u="none" strike="noStrike" cap="none" spc="0" normalizeH="0" dirty="0">
                <a:ln>
                  <a:noFill/>
                </a:ln>
                <a:solidFill>
                  <a:srgbClr val="000000"/>
                </a:solidFill>
                <a:effectLst/>
                <a:uFillTx/>
                <a:sym typeface="Calibri"/>
              </a:rPr>
              <a:t>给</a:t>
            </a:r>
            <a:r>
              <a:rPr kumimoji="0" lang="en-US" altLang="zh-CN" sz="1000" b="0" i="0" u="none" strike="noStrike" cap="none" spc="0" normalizeH="0" dirty="0" err="1">
                <a:ln>
                  <a:noFill/>
                </a:ln>
                <a:solidFill>
                  <a:srgbClr val="000000"/>
                </a:solidFill>
                <a:effectLst/>
                <a:uFillTx/>
                <a:sym typeface="Calibri"/>
              </a:rPr>
              <a:t>alertmanager</a:t>
            </a:r>
            <a:r>
              <a:rPr kumimoji="0" lang="zh-CN" altLang="en-US" sz="1000" b="0" i="0" u="none" strike="noStrike" cap="none" spc="0" normalizeH="0" dirty="0">
                <a:ln>
                  <a:noFill/>
                </a:ln>
                <a:solidFill>
                  <a:srgbClr val="000000"/>
                </a:solidFill>
                <a:effectLst/>
                <a:uFillTx/>
                <a:sym typeface="Calibri"/>
              </a:rPr>
              <a:t>，告警解决</a:t>
            </a:r>
            <a:endParaRPr kumimoji="0" lang="en-US" altLang="zh-CN" sz="1000" b="0" i="0" u="none" strike="noStrike" cap="none" spc="0" normalizeH="0" dirty="0">
              <a:ln>
                <a:noFill/>
              </a:ln>
              <a:solidFill>
                <a:srgbClr val="000000"/>
              </a:solidFill>
              <a:effectLst/>
              <a:uFillTx/>
              <a:sym typeface="Calibri"/>
            </a:endParaRPr>
          </a:p>
          <a:p>
            <a:pPr marL="0" marR="0" indent="0" algn="l" defTabSz="575980" rtl="0" fontAlgn="auto" latinLnBrk="0" hangingPunct="0">
              <a:lnSpc>
                <a:spcPct val="100000"/>
              </a:lnSpc>
              <a:spcBef>
                <a:spcPts val="0"/>
              </a:spcBef>
              <a:spcAft>
                <a:spcPts val="0"/>
              </a:spcAft>
              <a:buClrTx/>
              <a:buSzTx/>
              <a:buFontTx/>
              <a:buNone/>
              <a:tabLst/>
            </a:pPr>
            <a:endParaRPr kumimoji="0" lang="zh-CN" altLang="en-US" sz="1000" b="0" i="0" u="none" strike="noStrike" cap="none" spc="0" normalizeH="0" baseline="0" dirty="0">
              <a:ln>
                <a:noFill/>
              </a:ln>
              <a:solidFill>
                <a:srgbClr val="000000"/>
              </a:solidFill>
              <a:effectLst/>
              <a:uFillTx/>
              <a:sym typeface="Calibri"/>
            </a:endParaRPr>
          </a:p>
        </p:txBody>
      </p:sp>
    </p:spTree>
    <p:extLst>
      <p:ext uri="{BB962C8B-B14F-4D97-AF65-F5344CB8AC3E}">
        <p14:creationId xmlns:p14="http://schemas.microsoft.com/office/powerpoint/2010/main" val="293296746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5"/>
                                        </p:tgtEl>
                                        <p:attrNameLst>
                                          <p:attrName>style.visibility</p:attrName>
                                        </p:attrNameLst>
                                      </p:cBhvr>
                                      <p:to>
                                        <p:strVal val="visible"/>
                                      </p:to>
                                    </p:set>
                                    <p:anim calcmode="lin" valueType="num">
                                      <p:cBhvr additive="base">
                                        <p:cTn id="7" dur="500" fill="hold"/>
                                        <p:tgtEl>
                                          <p:spTgt spid="85"/>
                                        </p:tgtEl>
                                        <p:attrNameLst>
                                          <p:attrName>ppt_x</p:attrName>
                                        </p:attrNameLst>
                                      </p:cBhvr>
                                      <p:tavLst>
                                        <p:tav tm="0">
                                          <p:val>
                                            <p:strVal val="#ppt_x"/>
                                          </p:val>
                                        </p:tav>
                                        <p:tav tm="100000">
                                          <p:val>
                                            <p:strVal val="#ppt_x"/>
                                          </p:val>
                                        </p:tav>
                                      </p:tavLst>
                                    </p:anim>
                                    <p:anim calcmode="lin" valueType="num">
                                      <p:cBhvr additive="base">
                                        <p:cTn id="8" dur="500" fill="hold"/>
                                        <p:tgtEl>
                                          <p:spTgt spid="85"/>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84"/>
                                        </p:tgtEl>
                                        <p:attrNameLst>
                                          <p:attrName>style.visibility</p:attrName>
                                        </p:attrNameLst>
                                      </p:cBhvr>
                                      <p:to>
                                        <p:strVal val="visible"/>
                                      </p:to>
                                    </p:set>
                                    <p:anim calcmode="lin" valueType="num">
                                      <p:cBhvr additive="base">
                                        <p:cTn id="11" dur="500" fill="hold"/>
                                        <p:tgtEl>
                                          <p:spTgt spid="84"/>
                                        </p:tgtEl>
                                        <p:attrNameLst>
                                          <p:attrName>ppt_x</p:attrName>
                                        </p:attrNameLst>
                                      </p:cBhvr>
                                      <p:tavLst>
                                        <p:tav tm="0">
                                          <p:val>
                                            <p:strVal val="#ppt_x"/>
                                          </p:val>
                                        </p:tav>
                                        <p:tav tm="100000">
                                          <p:val>
                                            <p:strVal val="#ppt_x"/>
                                          </p:val>
                                        </p:tav>
                                      </p:tavLst>
                                    </p:anim>
                                    <p:anim calcmode="lin" valueType="num">
                                      <p:cBhvr additive="base">
                                        <p:cTn id="12" dur="500" fill="hold"/>
                                        <p:tgtEl>
                                          <p:spTgt spid="8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标题 1"/>
          <p:cNvSpPr>
            <a:spLocks noGrp="1"/>
          </p:cNvSpPr>
          <p:nvPr>
            <p:ph type="title"/>
          </p:nvPr>
        </p:nvSpPr>
        <p:spPr>
          <a:xfrm>
            <a:off x="576025" y="54787"/>
            <a:ext cx="10368440" cy="1080031"/>
          </a:xfrm>
        </p:spPr>
        <p:txBody>
          <a:bodyPr>
            <a:normAutofit/>
          </a:bodyPr>
          <a:lstStyle/>
          <a:p>
            <a:pPr algn="l"/>
            <a:r>
              <a:rPr lang="zh-CN" altLang="en-US" sz="2800" b="1" dirty="0">
                <a:latin typeface="微软雅黑" panose="020B0503020204020204" pitchFamily="34" charset="-122"/>
                <a:ea typeface="微软雅黑" panose="020B0503020204020204" pitchFamily="34" charset="-122"/>
              </a:rPr>
              <a:t>私有云监控</a:t>
            </a:r>
          </a:p>
        </p:txBody>
      </p:sp>
      <p:sp>
        <p:nvSpPr>
          <p:cNvPr id="3" name="文本框 4"/>
          <p:cNvSpPr txBox="1"/>
          <p:nvPr/>
        </p:nvSpPr>
        <p:spPr>
          <a:xfrm>
            <a:off x="6544235" y="997487"/>
            <a:ext cx="4398640" cy="1213730"/>
          </a:xfrm>
          <a:prstGeom prst="rect">
            <a:avLst/>
          </a:prstGeom>
          <a:ln w="12700">
            <a:miter lim="400000"/>
          </a:ln>
          <a:extLst>
            <a:ext uri="{C572A759-6A51-4108-AA02-DFA0A04FC94B}">
              <ma14:wrappingTextBoxFlag xmlns="" xmlns:ma14="http://schemas.microsoft.com/office/mac/drawingml/2011/main" val="1"/>
            </a:ext>
          </a:extLst>
        </p:spPr>
        <p:txBody>
          <a:bodyPr wrap="square" lIns="45719" rIns="45719">
            <a:spAutoFit/>
          </a:bodyPr>
          <a:lstStyle/>
          <a:p>
            <a:pPr>
              <a:lnSpc>
                <a:spcPct val="140000"/>
              </a:lnSpc>
              <a:defRPr sz="2400" spc="300">
                <a:latin typeface="思源黑体"/>
                <a:ea typeface="思源黑体"/>
                <a:cs typeface="思源黑体"/>
                <a:sym typeface="思源黑体"/>
              </a:defRPr>
            </a:pPr>
            <a:endParaRPr lang="en-US" altLang="zh-CN" sz="1800" dirty="0">
              <a:latin typeface="微软雅黑" panose="020B0503020204020204" pitchFamily="34" charset="-122"/>
              <a:ea typeface="微软雅黑" panose="020B0503020204020204" pitchFamily="34" charset="-122"/>
            </a:endParaRPr>
          </a:p>
          <a:p>
            <a:pPr>
              <a:lnSpc>
                <a:spcPct val="140000"/>
              </a:lnSpc>
              <a:defRPr sz="2400" spc="300">
                <a:latin typeface="思源黑体"/>
                <a:ea typeface="思源黑体"/>
                <a:cs typeface="思源黑体"/>
                <a:sym typeface="思源黑体"/>
              </a:defRPr>
            </a:pPr>
            <a:endParaRPr lang="en-US" altLang="zh-CN" sz="1800" dirty="0">
              <a:latin typeface="微软雅黑" panose="020B0503020204020204" pitchFamily="34" charset="-122"/>
              <a:ea typeface="微软雅黑" panose="020B0503020204020204" pitchFamily="34" charset="-122"/>
            </a:endParaRPr>
          </a:p>
          <a:p>
            <a:pPr>
              <a:lnSpc>
                <a:spcPct val="140000"/>
              </a:lnSpc>
              <a:defRPr sz="2400" spc="300">
                <a:latin typeface="思源黑体"/>
                <a:ea typeface="思源黑体"/>
                <a:cs typeface="思源黑体"/>
                <a:sym typeface="思源黑体"/>
              </a:defRPr>
            </a:pPr>
            <a:r>
              <a:rPr lang="en-US" altLang="zh-CN" sz="1800" dirty="0">
                <a:latin typeface="微软雅黑" panose="020B0503020204020204" pitchFamily="34" charset="-122"/>
                <a:ea typeface="微软雅黑" panose="020B0503020204020204" pitchFamily="34" charset="-122"/>
              </a:rPr>
              <a:t> </a:t>
            </a:r>
          </a:p>
        </p:txBody>
      </p:sp>
      <p:sp>
        <p:nvSpPr>
          <p:cNvPr id="5" name="矩形 4">
            <a:extLst>
              <a:ext uri="{FF2B5EF4-FFF2-40B4-BE49-F238E27FC236}">
                <a16:creationId xmlns:a16="http://schemas.microsoft.com/office/drawing/2014/main" id="{DEA3B63D-9BAA-4743-A91F-CBBF58DBD82A}"/>
              </a:ext>
            </a:extLst>
          </p:cNvPr>
          <p:cNvSpPr/>
          <p:nvPr/>
        </p:nvSpPr>
        <p:spPr>
          <a:xfrm>
            <a:off x="272957" y="997487"/>
            <a:ext cx="10765766" cy="1354217"/>
          </a:xfrm>
          <a:prstGeom prst="rect">
            <a:avLst/>
          </a:prstGeom>
        </p:spPr>
        <p:txBody>
          <a:bodyPr wrap="square">
            <a:spAutoFit/>
          </a:bodyPr>
          <a:lstStyle/>
          <a:p>
            <a:r>
              <a:rPr lang="en-US" altLang="zh-CN" sz="2400" dirty="0">
                <a:latin typeface="微软雅黑" panose="020B0503020204020204" pitchFamily="34" charset="-122"/>
                <a:ea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rPr>
              <a:t>告警聚合：</a:t>
            </a:r>
            <a:endParaRPr lang="en-US" altLang="zh-CN" sz="1800" dirty="0">
              <a:latin typeface="微软雅黑" panose="020B0503020204020204" pitchFamily="34" charset="-122"/>
              <a:ea typeface="微软雅黑" panose="020B0503020204020204" pitchFamily="34" charset="-122"/>
            </a:endParaRPr>
          </a:p>
          <a:p>
            <a:r>
              <a:rPr lang="en-US" altLang="zh-CN" sz="1800" dirty="0">
                <a:latin typeface="微软雅黑" panose="020B0503020204020204" pitchFamily="34" charset="-122"/>
                <a:ea typeface="微软雅黑" panose="020B0503020204020204" pitchFamily="34" charset="-122"/>
              </a:rPr>
              <a:t> </a:t>
            </a:r>
            <a:r>
              <a:rPr lang="en-US" altLang="zh-CN" sz="1600" dirty="0" err="1"/>
              <a:t>Altermanger</a:t>
            </a:r>
            <a:r>
              <a:rPr lang="zh-CN" altLang="zh-CN" sz="1600" dirty="0"/>
              <a:t>并不是把一条从</a:t>
            </a:r>
            <a:r>
              <a:rPr lang="en-US" altLang="zh-CN" sz="1600" dirty="0"/>
              <a:t>Prometheus</a:t>
            </a:r>
            <a:r>
              <a:rPr lang="zh-CN" altLang="zh-CN" sz="1600" dirty="0"/>
              <a:t>接收到的告警简简单单的直接发送出去；直接发送出去会导致告警信息过多，运维人员会被告警淹没；所以</a:t>
            </a:r>
            <a:r>
              <a:rPr lang="en-US" altLang="zh-CN" sz="1600" dirty="0" err="1"/>
              <a:t>Altermanger</a:t>
            </a:r>
            <a:r>
              <a:rPr lang="zh-CN" altLang="zh-CN" sz="1600" dirty="0"/>
              <a:t>需要对告警做合理的收敛。</a:t>
            </a:r>
          </a:p>
          <a:p>
            <a:endParaRPr lang="zh-CN" altLang="en-US" dirty="0"/>
          </a:p>
        </p:txBody>
      </p:sp>
      <p:pic>
        <p:nvPicPr>
          <p:cNvPr id="6" name="图片 5">
            <a:extLst>
              <a:ext uri="{FF2B5EF4-FFF2-40B4-BE49-F238E27FC236}">
                <a16:creationId xmlns:a16="http://schemas.microsoft.com/office/drawing/2014/main" id="{7919675A-05A4-417E-81C2-74CF140EA1F8}"/>
              </a:ext>
            </a:extLst>
          </p:cNvPr>
          <p:cNvPicPr>
            <a:picLocks noChangeAspect="1"/>
          </p:cNvPicPr>
          <p:nvPr/>
        </p:nvPicPr>
        <p:blipFill>
          <a:blip r:embed="rId3"/>
          <a:stretch>
            <a:fillRect/>
          </a:stretch>
        </p:blipFill>
        <p:spPr>
          <a:xfrm>
            <a:off x="403852" y="2141080"/>
            <a:ext cx="4469442" cy="2379480"/>
          </a:xfrm>
          <a:prstGeom prst="rect">
            <a:avLst/>
          </a:prstGeom>
        </p:spPr>
      </p:pic>
      <p:sp>
        <p:nvSpPr>
          <p:cNvPr id="8" name="矩形 7">
            <a:extLst>
              <a:ext uri="{FF2B5EF4-FFF2-40B4-BE49-F238E27FC236}">
                <a16:creationId xmlns:a16="http://schemas.microsoft.com/office/drawing/2014/main" id="{34D43BEF-133E-4864-A2DC-09E0FB5B072C}"/>
              </a:ext>
            </a:extLst>
          </p:cNvPr>
          <p:cNvSpPr/>
          <p:nvPr/>
        </p:nvSpPr>
        <p:spPr>
          <a:xfrm>
            <a:off x="240041" y="4530210"/>
            <a:ext cx="10702833" cy="1015663"/>
          </a:xfrm>
          <a:prstGeom prst="rect">
            <a:avLst/>
          </a:prstGeom>
        </p:spPr>
        <p:txBody>
          <a:bodyPr wrap="square">
            <a:spAutoFit/>
          </a:bodyPr>
          <a:lstStyle/>
          <a:p>
            <a:r>
              <a:rPr lang="zh-CN" altLang="en-US" sz="2400" dirty="0"/>
              <a:t>目前报警分组依据：</a:t>
            </a:r>
            <a:endParaRPr lang="en-US" altLang="zh-CN" sz="1800" dirty="0"/>
          </a:p>
          <a:p>
            <a:r>
              <a:rPr lang="en-US" altLang="zh-CN" sz="1800" dirty="0"/>
              <a:t>['workspace_id','project_id','alert','endpoint','instance','receiver_group','alertname','severity','notify_method','group_rule_name','for','expr','labels','status']</a:t>
            </a:r>
            <a:endParaRPr lang="zh-CN" altLang="en-US" sz="1800" dirty="0"/>
          </a:p>
        </p:txBody>
      </p:sp>
    </p:spTree>
    <p:extLst>
      <p:ext uri="{BB962C8B-B14F-4D97-AF65-F5344CB8AC3E}">
        <p14:creationId xmlns:p14="http://schemas.microsoft.com/office/powerpoint/2010/main" val="753505581"/>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标题 1"/>
          <p:cNvSpPr>
            <a:spLocks noGrp="1"/>
          </p:cNvSpPr>
          <p:nvPr>
            <p:ph type="title"/>
          </p:nvPr>
        </p:nvSpPr>
        <p:spPr>
          <a:xfrm>
            <a:off x="576025" y="54787"/>
            <a:ext cx="10368440" cy="1080031"/>
          </a:xfrm>
        </p:spPr>
        <p:txBody>
          <a:bodyPr>
            <a:normAutofit/>
          </a:bodyPr>
          <a:lstStyle/>
          <a:p>
            <a:pPr algn="l"/>
            <a:r>
              <a:rPr lang="en-US" altLang="zh-CN" sz="2800" b="1" dirty="0" err="1">
                <a:latin typeface="微软雅黑" panose="020B0503020204020204" pitchFamily="34" charset="-122"/>
                <a:ea typeface="微软雅黑" panose="020B0503020204020204" pitchFamily="34" charset="-122"/>
              </a:rPr>
              <a:t>thanos</a:t>
            </a:r>
            <a:endParaRPr lang="zh-CN" altLang="en-US" sz="2800" b="1" dirty="0">
              <a:latin typeface="微软雅黑" panose="020B0503020204020204" pitchFamily="34" charset="-122"/>
              <a:ea typeface="微软雅黑" panose="020B0503020204020204" pitchFamily="34" charset="-122"/>
            </a:endParaRPr>
          </a:p>
        </p:txBody>
      </p:sp>
      <p:sp>
        <p:nvSpPr>
          <p:cNvPr id="3" name="文本框 4"/>
          <p:cNvSpPr txBox="1"/>
          <p:nvPr/>
        </p:nvSpPr>
        <p:spPr>
          <a:xfrm>
            <a:off x="6544235" y="997487"/>
            <a:ext cx="4398640" cy="1213730"/>
          </a:xfrm>
          <a:prstGeom prst="rect">
            <a:avLst/>
          </a:prstGeom>
          <a:ln w="12700">
            <a:miter lim="400000"/>
          </a:ln>
          <a:extLst>
            <a:ext uri="{C572A759-6A51-4108-AA02-DFA0A04FC94B}">
              <ma14:wrappingTextBoxFlag xmlns="" xmlns:ma14="http://schemas.microsoft.com/office/mac/drawingml/2011/main" val="1"/>
            </a:ext>
          </a:extLst>
        </p:spPr>
        <p:txBody>
          <a:bodyPr wrap="square" lIns="45719" rIns="45719">
            <a:spAutoFit/>
          </a:bodyPr>
          <a:lstStyle/>
          <a:p>
            <a:pPr>
              <a:lnSpc>
                <a:spcPct val="140000"/>
              </a:lnSpc>
              <a:defRPr sz="2400" spc="300">
                <a:latin typeface="思源黑体"/>
                <a:ea typeface="思源黑体"/>
                <a:cs typeface="思源黑体"/>
                <a:sym typeface="思源黑体"/>
              </a:defRPr>
            </a:pPr>
            <a:endParaRPr lang="en-US" altLang="zh-CN" sz="1800" dirty="0">
              <a:latin typeface="微软雅黑" panose="020B0503020204020204" pitchFamily="34" charset="-122"/>
              <a:ea typeface="微软雅黑" panose="020B0503020204020204" pitchFamily="34" charset="-122"/>
            </a:endParaRPr>
          </a:p>
          <a:p>
            <a:pPr>
              <a:lnSpc>
                <a:spcPct val="140000"/>
              </a:lnSpc>
              <a:defRPr sz="2400" spc="300">
                <a:latin typeface="思源黑体"/>
                <a:ea typeface="思源黑体"/>
                <a:cs typeface="思源黑体"/>
                <a:sym typeface="思源黑体"/>
              </a:defRPr>
            </a:pPr>
            <a:endParaRPr lang="en-US" altLang="zh-CN" sz="1800" dirty="0">
              <a:latin typeface="微软雅黑" panose="020B0503020204020204" pitchFamily="34" charset="-122"/>
              <a:ea typeface="微软雅黑" panose="020B0503020204020204" pitchFamily="34" charset="-122"/>
            </a:endParaRPr>
          </a:p>
          <a:p>
            <a:pPr>
              <a:lnSpc>
                <a:spcPct val="140000"/>
              </a:lnSpc>
              <a:defRPr sz="2400" spc="300">
                <a:latin typeface="思源黑体"/>
                <a:ea typeface="思源黑体"/>
                <a:cs typeface="思源黑体"/>
                <a:sym typeface="思源黑体"/>
              </a:defRPr>
            </a:pPr>
            <a:r>
              <a:rPr lang="en-US" altLang="zh-CN" sz="1800" dirty="0">
                <a:latin typeface="微软雅黑" panose="020B0503020204020204" pitchFamily="34" charset="-122"/>
                <a:ea typeface="微软雅黑" panose="020B0503020204020204" pitchFamily="34" charset="-122"/>
              </a:rPr>
              <a:t> </a:t>
            </a:r>
          </a:p>
        </p:txBody>
      </p:sp>
      <p:pic>
        <p:nvPicPr>
          <p:cNvPr id="4" name="图片 3">
            <a:extLst>
              <a:ext uri="{FF2B5EF4-FFF2-40B4-BE49-F238E27FC236}">
                <a16:creationId xmlns:a16="http://schemas.microsoft.com/office/drawing/2014/main" id="{43AE1F34-BFEC-4A64-B3AC-EF8D09E2CC5F}"/>
              </a:ext>
            </a:extLst>
          </p:cNvPr>
          <p:cNvPicPr>
            <a:picLocks noChangeAspect="1"/>
          </p:cNvPicPr>
          <p:nvPr/>
        </p:nvPicPr>
        <p:blipFill>
          <a:blip r:embed="rId3"/>
          <a:stretch>
            <a:fillRect/>
          </a:stretch>
        </p:blipFill>
        <p:spPr>
          <a:xfrm>
            <a:off x="839787" y="1345720"/>
            <a:ext cx="8545753" cy="4674079"/>
          </a:xfrm>
          <a:prstGeom prst="rect">
            <a:avLst/>
          </a:prstGeom>
        </p:spPr>
      </p:pic>
    </p:spTree>
    <p:extLst>
      <p:ext uri="{BB962C8B-B14F-4D97-AF65-F5344CB8AC3E}">
        <p14:creationId xmlns:p14="http://schemas.microsoft.com/office/powerpoint/2010/main" val="2265295979"/>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标题 1"/>
          <p:cNvSpPr>
            <a:spLocks noGrp="1"/>
          </p:cNvSpPr>
          <p:nvPr>
            <p:ph type="title"/>
          </p:nvPr>
        </p:nvSpPr>
        <p:spPr>
          <a:xfrm>
            <a:off x="576025" y="54787"/>
            <a:ext cx="10368440" cy="1080031"/>
          </a:xfrm>
        </p:spPr>
        <p:txBody>
          <a:bodyPr>
            <a:normAutofit/>
          </a:bodyPr>
          <a:lstStyle/>
          <a:p>
            <a:pPr algn="l"/>
            <a:r>
              <a:rPr lang="zh-CN" altLang="en-US" sz="2800" b="1" dirty="0">
                <a:latin typeface="微软雅黑" panose="020B0503020204020204" pitchFamily="34" charset="-122"/>
                <a:ea typeface="微软雅黑" panose="020B0503020204020204" pitchFamily="34" charset="-122"/>
              </a:rPr>
              <a:t>私有云监控</a:t>
            </a:r>
          </a:p>
        </p:txBody>
      </p:sp>
      <p:sp>
        <p:nvSpPr>
          <p:cNvPr id="3" name="文本框 4"/>
          <p:cNvSpPr txBox="1"/>
          <p:nvPr/>
        </p:nvSpPr>
        <p:spPr>
          <a:xfrm>
            <a:off x="6544235" y="997487"/>
            <a:ext cx="4398640" cy="1213730"/>
          </a:xfrm>
          <a:prstGeom prst="rect">
            <a:avLst/>
          </a:prstGeom>
          <a:ln w="12700">
            <a:miter lim="400000"/>
          </a:ln>
          <a:extLst>
            <a:ext uri="{C572A759-6A51-4108-AA02-DFA0A04FC94B}">
              <ma14:wrappingTextBoxFlag xmlns="" xmlns:ma14="http://schemas.microsoft.com/office/mac/drawingml/2011/main" val="1"/>
            </a:ext>
          </a:extLst>
        </p:spPr>
        <p:txBody>
          <a:bodyPr wrap="square" lIns="45719" rIns="45719">
            <a:spAutoFit/>
          </a:bodyPr>
          <a:lstStyle/>
          <a:p>
            <a:pPr>
              <a:lnSpc>
                <a:spcPct val="140000"/>
              </a:lnSpc>
              <a:defRPr sz="2400" spc="300">
                <a:latin typeface="思源黑体"/>
                <a:ea typeface="思源黑体"/>
                <a:cs typeface="思源黑体"/>
                <a:sym typeface="思源黑体"/>
              </a:defRPr>
            </a:pPr>
            <a:endParaRPr lang="en-US" altLang="zh-CN" sz="1800" dirty="0">
              <a:latin typeface="微软雅黑" panose="020B0503020204020204" pitchFamily="34" charset="-122"/>
              <a:ea typeface="微软雅黑" panose="020B0503020204020204" pitchFamily="34" charset="-122"/>
            </a:endParaRPr>
          </a:p>
          <a:p>
            <a:pPr>
              <a:lnSpc>
                <a:spcPct val="140000"/>
              </a:lnSpc>
              <a:defRPr sz="2400" spc="300">
                <a:latin typeface="思源黑体"/>
                <a:ea typeface="思源黑体"/>
                <a:cs typeface="思源黑体"/>
                <a:sym typeface="思源黑体"/>
              </a:defRPr>
            </a:pPr>
            <a:endParaRPr lang="en-US" altLang="zh-CN" sz="1800" dirty="0">
              <a:latin typeface="微软雅黑" panose="020B0503020204020204" pitchFamily="34" charset="-122"/>
              <a:ea typeface="微软雅黑" panose="020B0503020204020204" pitchFamily="34" charset="-122"/>
            </a:endParaRPr>
          </a:p>
          <a:p>
            <a:pPr>
              <a:lnSpc>
                <a:spcPct val="140000"/>
              </a:lnSpc>
              <a:defRPr sz="2400" spc="300">
                <a:latin typeface="思源黑体"/>
                <a:ea typeface="思源黑体"/>
                <a:cs typeface="思源黑体"/>
                <a:sym typeface="思源黑体"/>
              </a:defRPr>
            </a:pPr>
            <a:r>
              <a:rPr lang="en-US" altLang="zh-CN" sz="1800" dirty="0">
                <a:latin typeface="微软雅黑" panose="020B0503020204020204" pitchFamily="34" charset="-122"/>
                <a:ea typeface="微软雅黑" panose="020B0503020204020204" pitchFamily="34" charset="-122"/>
              </a:rPr>
              <a:t> </a:t>
            </a:r>
          </a:p>
        </p:txBody>
      </p:sp>
      <p:sp>
        <p:nvSpPr>
          <p:cNvPr id="4" name="矩形 3">
            <a:extLst>
              <a:ext uri="{FF2B5EF4-FFF2-40B4-BE49-F238E27FC236}">
                <a16:creationId xmlns:a16="http://schemas.microsoft.com/office/drawing/2014/main" id="{EFB9A016-508F-4B4F-A9ED-BC4F7AAD3CF3}"/>
              </a:ext>
            </a:extLst>
          </p:cNvPr>
          <p:cNvSpPr/>
          <p:nvPr/>
        </p:nvSpPr>
        <p:spPr>
          <a:xfrm>
            <a:off x="397326" y="1069675"/>
            <a:ext cx="10368440" cy="2893100"/>
          </a:xfrm>
          <a:prstGeom prst="rect">
            <a:avLst/>
          </a:prstGeom>
        </p:spPr>
        <p:txBody>
          <a:bodyPr wrap="square">
            <a:spAutoFit/>
          </a:bodyPr>
          <a:lstStyle/>
          <a:p>
            <a:r>
              <a:rPr lang="en-US" altLang="zh-CN" sz="1400" dirty="0" err="1">
                <a:solidFill>
                  <a:schemeClr val="tx1"/>
                </a:solidFill>
                <a:latin typeface="-apple-system"/>
              </a:rPr>
              <a:t>Thanos</a:t>
            </a:r>
            <a:r>
              <a:rPr lang="zh-CN" altLang="en-US" sz="1400" dirty="0">
                <a:solidFill>
                  <a:schemeClr val="tx1"/>
                </a:solidFill>
                <a:latin typeface="-apple-system"/>
              </a:rPr>
              <a:t>通过一种简单的可无缝接入当前系统的方案解决这些问题。其主要功能点通过</a:t>
            </a:r>
            <a:r>
              <a:rPr lang="en-US" altLang="zh-CN" sz="1400" dirty="0">
                <a:solidFill>
                  <a:schemeClr val="tx1"/>
                </a:solidFill>
                <a:latin typeface="-apple-system"/>
              </a:rPr>
              <a:t>Sidecar</a:t>
            </a:r>
            <a:r>
              <a:rPr lang="zh-CN" altLang="en-US" sz="1400" dirty="0">
                <a:solidFill>
                  <a:schemeClr val="tx1"/>
                </a:solidFill>
                <a:latin typeface="-apple-system"/>
              </a:rPr>
              <a:t>、</a:t>
            </a:r>
            <a:r>
              <a:rPr lang="en-US" altLang="zh-CN" sz="1400" dirty="0" err="1">
                <a:solidFill>
                  <a:schemeClr val="tx1"/>
                </a:solidFill>
                <a:latin typeface="-apple-system"/>
              </a:rPr>
              <a:t>Querier</a:t>
            </a:r>
            <a:r>
              <a:rPr lang="zh-CN" altLang="en-US" sz="1400" dirty="0">
                <a:solidFill>
                  <a:schemeClr val="tx1"/>
                </a:solidFill>
                <a:latin typeface="-apple-system"/>
              </a:rPr>
              <a:t>、</a:t>
            </a:r>
            <a:r>
              <a:rPr lang="en-US" altLang="zh-CN" sz="1400" dirty="0">
                <a:solidFill>
                  <a:schemeClr val="tx1"/>
                </a:solidFill>
                <a:latin typeface="-apple-system"/>
              </a:rPr>
              <a:t>Store</a:t>
            </a:r>
            <a:r>
              <a:rPr lang="zh-CN" altLang="en-US" sz="1400" dirty="0">
                <a:solidFill>
                  <a:schemeClr val="tx1"/>
                </a:solidFill>
                <a:latin typeface="-apple-system"/>
              </a:rPr>
              <a:t>和</a:t>
            </a:r>
            <a:r>
              <a:rPr lang="en-US" altLang="zh-CN" sz="1400" dirty="0">
                <a:solidFill>
                  <a:schemeClr val="tx1"/>
                </a:solidFill>
                <a:latin typeface="-apple-system"/>
              </a:rPr>
              <a:t>Compactor</a:t>
            </a:r>
            <a:r>
              <a:rPr lang="zh-CN" altLang="en-US" sz="1400" dirty="0">
                <a:solidFill>
                  <a:schemeClr val="tx1"/>
                </a:solidFill>
                <a:latin typeface="-apple-system"/>
              </a:rPr>
              <a:t>来实现</a:t>
            </a:r>
          </a:p>
          <a:p>
            <a:r>
              <a:rPr lang="zh-CN" altLang="en-US" sz="1400" dirty="0">
                <a:solidFill>
                  <a:schemeClr val="tx1"/>
                </a:solidFill>
                <a:latin typeface="-apple-system"/>
              </a:rPr>
              <a:t> </a:t>
            </a:r>
          </a:p>
          <a:p>
            <a:r>
              <a:rPr lang="en-US" altLang="zh-CN" sz="1400" dirty="0">
                <a:solidFill>
                  <a:schemeClr val="tx1"/>
                </a:solidFill>
                <a:latin typeface="-apple-system"/>
              </a:rPr>
              <a:t>Sidecar</a:t>
            </a:r>
          </a:p>
          <a:p>
            <a:r>
              <a:rPr lang="en-US" altLang="zh-CN" sz="1400" dirty="0">
                <a:solidFill>
                  <a:schemeClr val="tx1"/>
                </a:solidFill>
                <a:latin typeface="-apple-system"/>
              </a:rPr>
              <a:t>Sidecar</a:t>
            </a:r>
            <a:r>
              <a:rPr lang="zh-CN" altLang="en-US" sz="1400" dirty="0">
                <a:solidFill>
                  <a:schemeClr val="tx1"/>
                </a:solidFill>
                <a:latin typeface="-apple-system"/>
              </a:rPr>
              <a:t>作为一个单独的进程和已有的</a:t>
            </a:r>
            <a:r>
              <a:rPr lang="en-US" altLang="zh-CN" sz="1400" dirty="0">
                <a:solidFill>
                  <a:schemeClr val="tx1"/>
                </a:solidFill>
                <a:latin typeface="-apple-system"/>
              </a:rPr>
              <a:t>Prometheus</a:t>
            </a:r>
            <a:r>
              <a:rPr lang="zh-CN" altLang="en-US" sz="1400" dirty="0">
                <a:solidFill>
                  <a:schemeClr val="tx1"/>
                </a:solidFill>
                <a:latin typeface="-apple-system"/>
              </a:rPr>
              <a:t>实例运行在一个</a:t>
            </a:r>
            <a:r>
              <a:rPr lang="en-US" altLang="zh-CN" sz="1400" dirty="0">
                <a:solidFill>
                  <a:schemeClr val="tx1"/>
                </a:solidFill>
                <a:latin typeface="-apple-system"/>
              </a:rPr>
              <a:t>server</a:t>
            </a:r>
            <a:r>
              <a:rPr lang="zh-CN" altLang="en-US" sz="1400" dirty="0">
                <a:solidFill>
                  <a:schemeClr val="tx1"/>
                </a:solidFill>
                <a:latin typeface="-apple-system"/>
              </a:rPr>
              <a:t>上，互不影响。</a:t>
            </a:r>
            <a:r>
              <a:rPr lang="en-US" altLang="zh-CN" sz="1400" dirty="0">
                <a:solidFill>
                  <a:schemeClr val="tx1"/>
                </a:solidFill>
                <a:latin typeface="-apple-system"/>
              </a:rPr>
              <a:t>Sidecar</a:t>
            </a:r>
            <a:r>
              <a:rPr lang="zh-CN" altLang="en-US" sz="1400" dirty="0">
                <a:solidFill>
                  <a:schemeClr val="tx1"/>
                </a:solidFill>
                <a:latin typeface="-apple-system"/>
              </a:rPr>
              <a:t>可以视为一个</a:t>
            </a:r>
            <a:r>
              <a:rPr lang="en-US" altLang="zh-CN" sz="1400" dirty="0">
                <a:solidFill>
                  <a:schemeClr val="tx1"/>
                </a:solidFill>
                <a:latin typeface="-apple-system"/>
              </a:rPr>
              <a:t>Proxy</a:t>
            </a:r>
            <a:r>
              <a:rPr lang="zh-CN" altLang="en-US" sz="1400" dirty="0">
                <a:solidFill>
                  <a:schemeClr val="tx1"/>
                </a:solidFill>
                <a:latin typeface="-apple-system"/>
              </a:rPr>
              <a:t>组件，所有对</a:t>
            </a:r>
            <a:r>
              <a:rPr lang="en-US" altLang="zh-CN" sz="1400" dirty="0">
                <a:solidFill>
                  <a:schemeClr val="tx1"/>
                </a:solidFill>
                <a:latin typeface="-apple-system"/>
              </a:rPr>
              <a:t>Prometheus</a:t>
            </a:r>
            <a:r>
              <a:rPr lang="zh-CN" altLang="en-US" sz="1400" dirty="0">
                <a:solidFill>
                  <a:schemeClr val="tx1"/>
                </a:solidFill>
                <a:latin typeface="-apple-system"/>
              </a:rPr>
              <a:t>的访问都通过</a:t>
            </a:r>
            <a:r>
              <a:rPr lang="en-US" altLang="zh-CN" sz="1400" dirty="0">
                <a:solidFill>
                  <a:schemeClr val="tx1"/>
                </a:solidFill>
                <a:latin typeface="-apple-system"/>
              </a:rPr>
              <a:t>Sidecar</a:t>
            </a:r>
            <a:r>
              <a:rPr lang="zh-CN" altLang="en-US" sz="1400" dirty="0">
                <a:solidFill>
                  <a:schemeClr val="tx1"/>
                </a:solidFill>
                <a:latin typeface="-apple-system"/>
              </a:rPr>
              <a:t>来代理进行。通过</a:t>
            </a:r>
            <a:r>
              <a:rPr lang="en-US" altLang="zh-CN" sz="1400" dirty="0">
                <a:solidFill>
                  <a:schemeClr val="tx1"/>
                </a:solidFill>
                <a:latin typeface="-apple-system"/>
              </a:rPr>
              <a:t>Sidecar</a:t>
            </a:r>
            <a:r>
              <a:rPr lang="zh-CN" altLang="en-US" sz="1400" dirty="0">
                <a:solidFill>
                  <a:schemeClr val="tx1"/>
                </a:solidFill>
                <a:latin typeface="-apple-system"/>
              </a:rPr>
              <a:t>还可以将采集到的数据直接备份到云端对象存储服务器。「会消耗原有实例所在集群的资源，上线前可以先把原有</a:t>
            </a:r>
            <a:r>
              <a:rPr lang="en-US" altLang="zh-CN" sz="1400" dirty="0">
                <a:solidFill>
                  <a:schemeClr val="tx1"/>
                </a:solidFill>
                <a:latin typeface="-apple-system"/>
              </a:rPr>
              <a:t>server</a:t>
            </a:r>
            <a:r>
              <a:rPr lang="zh-CN" altLang="en-US" sz="1400" dirty="0">
                <a:solidFill>
                  <a:schemeClr val="tx1"/>
                </a:solidFill>
                <a:latin typeface="-apple-system"/>
              </a:rPr>
              <a:t>机器升配下</a:t>
            </a:r>
            <a:endParaRPr lang="en-US" altLang="zh-CN" sz="1400" dirty="0">
              <a:solidFill>
                <a:schemeClr val="tx1"/>
              </a:solidFill>
              <a:latin typeface="-apple-system"/>
            </a:endParaRPr>
          </a:p>
          <a:p>
            <a:endParaRPr lang="en-US" altLang="zh-CN" sz="1400" dirty="0">
              <a:solidFill>
                <a:schemeClr val="tx1"/>
              </a:solidFill>
              <a:latin typeface="-apple-system"/>
            </a:endParaRPr>
          </a:p>
          <a:p>
            <a:r>
              <a:rPr lang="en-US" altLang="zh-CN" sz="1400" dirty="0" err="1">
                <a:solidFill>
                  <a:schemeClr val="tx1"/>
                </a:solidFill>
              </a:rPr>
              <a:t>Querier</a:t>
            </a:r>
            <a:endParaRPr lang="en-US" altLang="zh-CN" sz="1400" dirty="0">
              <a:solidFill>
                <a:schemeClr val="tx1"/>
              </a:solidFill>
            </a:endParaRPr>
          </a:p>
          <a:p>
            <a:r>
              <a:rPr lang="zh-CN" altLang="en-US" sz="1400" dirty="0">
                <a:solidFill>
                  <a:schemeClr val="tx1"/>
                </a:solidFill>
              </a:rPr>
              <a:t>所有的</a:t>
            </a:r>
            <a:r>
              <a:rPr lang="en-US" altLang="zh-CN" sz="1400" dirty="0">
                <a:solidFill>
                  <a:schemeClr val="tx1"/>
                </a:solidFill>
              </a:rPr>
              <a:t>Sidecar</a:t>
            </a:r>
            <a:r>
              <a:rPr lang="zh-CN" altLang="en-US" sz="1400" dirty="0">
                <a:solidFill>
                  <a:schemeClr val="tx1"/>
                </a:solidFill>
              </a:rPr>
              <a:t>与</a:t>
            </a:r>
            <a:r>
              <a:rPr lang="en-US" altLang="zh-CN" sz="1400" dirty="0" err="1">
                <a:solidFill>
                  <a:schemeClr val="tx1"/>
                </a:solidFill>
              </a:rPr>
              <a:t>Querier</a:t>
            </a:r>
            <a:r>
              <a:rPr lang="zh-CN" altLang="en-US" sz="1400" dirty="0">
                <a:solidFill>
                  <a:schemeClr val="tx1"/>
                </a:solidFill>
              </a:rPr>
              <a:t>直连，同时</a:t>
            </a:r>
            <a:r>
              <a:rPr lang="en-US" altLang="zh-CN" sz="1400" dirty="0" err="1">
                <a:solidFill>
                  <a:schemeClr val="tx1"/>
                </a:solidFill>
              </a:rPr>
              <a:t>Querier</a:t>
            </a:r>
            <a:r>
              <a:rPr lang="zh-CN" altLang="en-US" sz="1400" dirty="0">
                <a:solidFill>
                  <a:schemeClr val="tx1"/>
                </a:solidFill>
              </a:rPr>
              <a:t>实现了一套</a:t>
            </a:r>
            <a:r>
              <a:rPr lang="en-US" altLang="zh-CN" sz="1400" dirty="0">
                <a:solidFill>
                  <a:schemeClr val="tx1"/>
                </a:solidFill>
              </a:rPr>
              <a:t>Prometheus</a:t>
            </a:r>
            <a:r>
              <a:rPr lang="zh-CN" altLang="en-US" sz="1400" dirty="0">
                <a:solidFill>
                  <a:schemeClr val="tx1"/>
                </a:solidFill>
              </a:rPr>
              <a:t>官方的</a:t>
            </a:r>
            <a:r>
              <a:rPr lang="en-US" altLang="zh-CN" sz="1400" dirty="0">
                <a:solidFill>
                  <a:schemeClr val="tx1"/>
                </a:solidFill>
              </a:rPr>
              <a:t>HTTP API</a:t>
            </a:r>
            <a:r>
              <a:rPr lang="zh-CN" altLang="en-US" sz="1400" dirty="0">
                <a:solidFill>
                  <a:schemeClr val="tx1"/>
                </a:solidFill>
              </a:rPr>
              <a:t>从而保证对外提供与</a:t>
            </a:r>
            <a:r>
              <a:rPr lang="en-US" altLang="zh-CN" sz="1400" dirty="0">
                <a:solidFill>
                  <a:schemeClr val="tx1"/>
                </a:solidFill>
              </a:rPr>
              <a:t>Prometheus</a:t>
            </a:r>
            <a:r>
              <a:rPr lang="zh-CN" altLang="en-US" sz="1400" dirty="0">
                <a:solidFill>
                  <a:schemeClr val="tx1"/>
                </a:solidFill>
              </a:rPr>
              <a:t>一致的数据源接口，</a:t>
            </a:r>
            <a:r>
              <a:rPr lang="en-US" altLang="zh-CN" sz="1400" dirty="0">
                <a:solidFill>
                  <a:schemeClr val="tx1"/>
                </a:solidFill>
              </a:rPr>
              <a:t>Grafana</a:t>
            </a:r>
            <a:r>
              <a:rPr lang="zh-CN" altLang="en-US" sz="1400" dirty="0">
                <a:solidFill>
                  <a:schemeClr val="tx1"/>
                </a:solidFill>
              </a:rPr>
              <a:t>可以通过同一个查询接口请求不同集群的数据，</a:t>
            </a:r>
            <a:r>
              <a:rPr lang="en-US" altLang="zh-CN" sz="1400" dirty="0" err="1">
                <a:solidFill>
                  <a:schemeClr val="tx1"/>
                </a:solidFill>
              </a:rPr>
              <a:t>Querier</a:t>
            </a:r>
            <a:r>
              <a:rPr lang="zh-CN" altLang="en-US" sz="1400" dirty="0">
                <a:solidFill>
                  <a:schemeClr val="tx1"/>
                </a:solidFill>
              </a:rPr>
              <a:t>负责找到对应的集群并通过</a:t>
            </a:r>
            <a:r>
              <a:rPr lang="en-US" altLang="zh-CN" sz="1400" dirty="0">
                <a:solidFill>
                  <a:schemeClr val="tx1"/>
                </a:solidFill>
              </a:rPr>
              <a:t>Sidecar</a:t>
            </a:r>
            <a:r>
              <a:rPr lang="zh-CN" altLang="en-US" sz="1400" dirty="0">
                <a:solidFill>
                  <a:schemeClr val="tx1"/>
                </a:solidFill>
              </a:rPr>
              <a:t>获取数据。</a:t>
            </a:r>
            <a:r>
              <a:rPr lang="en-US" altLang="zh-CN" sz="1400" dirty="0" err="1">
                <a:solidFill>
                  <a:schemeClr val="tx1"/>
                </a:solidFill>
              </a:rPr>
              <a:t>Querier</a:t>
            </a:r>
            <a:r>
              <a:rPr lang="zh-CN" altLang="en-US" sz="1400" dirty="0">
                <a:solidFill>
                  <a:schemeClr val="tx1"/>
                </a:solidFill>
              </a:rPr>
              <a:t>本身也是水平可扩展的，因而可以实现高可部署，而且</a:t>
            </a:r>
            <a:r>
              <a:rPr lang="en-US" altLang="zh-CN" sz="1400" dirty="0" err="1">
                <a:solidFill>
                  <a:schemeClr val="tx1"/>
                </a:solidFill>
              </a:rPr>
              <a:t>Querier</a:t>
            </a:r>
            <a:r>
              <a:rPr lang="zh-CN" altLang="en-US" sz="1400" dirty="0">
                <a:solidFill>
                  <a:schemeClr val="tx1"/>
                </a:solidFill>
              </a:rPr>
              <a:t>可以实现对高可部署的</a:t>
            </a:r>
            <a:r>
              <a:rPr lang="en-US" altLang="zh-CN" sz="1400" dirty="0">
                <a:solidFill>
                  <a:schemeClr val="tx1"/>
                </a:solidFill>
              </a:rPr>
              <a:t>Prometheus</a:t>
            </a:r>
            <a:r>
              <a:rPr lang="zh-CN" altLang="en-US" sz="1400" dirty="0">
                <a:solidFill>
                  <a:schemeClr val="tx1"/>
                </a:solidFill>
              </a:rPr>
              <a:t>的数据进行合并从而保证多次查询结果的一致性，从而解决全局视图和高可用的问题</a:t>
            </a:r>
          </a:p>
          <a:p>
            <a:endParaRPr lang="zh-CN" altLang="en-US" sz="1400" dirty="0">
              <a:solidFill>
                <a:srgbClr val="172B4D"/>
              </a:solidFill>
              <a:latin typeface="-apple-system"/>
            </a:endParaRPr>
          </a:p>
        </p:txBody>
      </p:sp>
    </p:spTree>
    <p:extLst>
      <p:ext uri="{BB962C8B-B14F-4D97-AF65-F5344CB8AC3E}">
        <p14:creationId xmlns:p14="http://schemas.microsoft.com/office/powerpoint/2010/main" val="211082916"/>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标题 1"/>
          <p:cNvSpPr>
            <a:spLocks noGrp="1"/>
          </p:cNvSpPr>
          <p:nvPr>
            <p:ph type="title"/>
          </p:nvPr>
        </p:nvSpPr>
        <p:spPr>
          <a:xfrm>
            <a:off x="576025" y="54787"/>
            <a:ext cx="10368440" cy="1080031"/>
          </a:xfrm>
        </p:spPr>
        <p:txBody>
          <a:bodyPr>
            <a:normAutofit/>
          </a:bodyPr>
          <a:lstStyle/>
          <a:p>
            <a:pPr algn="l"/>
            <a:r>
              <a:rPr lang="zh-CN" altLang="en-US" sz="2800" b="1" dirty="0">
                <a:latin typeface="微软雅黑" panose="020B0503020204020204" pitchFamily="34" charset="-122"/>
                <a:ea typeface="微软雅黑" panose="020B0503020204020204" pitchFamily="34" charset="-122"/>
              </a:rPr>
              <a:t>私有云监控</a:t>
            </a:r>
          </a:p>
        </p:txBody>
      </p:sp>
      <p:sp>
        <p:nvSpPr>
          <p:cNvPr id="3" name="文本框 4"/>
          <p:cNvSpPr txBox="1"/>
          <p:nvPr/>
        </p:nvSpPr>
        <p:spPr>
          <a:xfrm>
            <a:off x="6544235" y="997487"/>
            <a:ext cx="4398640" cy="1213730"/>
          </a:xfrm>
          <a:prstGeom prst="rect">
            <a:avLst/>
          </a:prstGeom>
          <a:ln w="12700">
            <a:miter lim="400000"/>
          </a:ln>
          <a:extLst>
            <a:ext uri="{C572A759-6A51-4108-AA02-DFA0A04FC94B}">
              <ma14:wrappingTextBoxFlag xmlns="" xmlns:ma14="http://schemas.microsoft.com/office/mac/drawingml/2011/main" val="1"/>
            </a:ext>
          </a:extLst>
        </p:spPr>
        <p:txBody>
          <a:bodyPr wrap="square" lIns="45719" rIns="45719">
            <a:spAutoFit/>
          </a:bodyPr>
          <a:lstStyle/>
          <a:p>
            <a:pPr>
              <a:lnSpc>
                <a:spcPct val="140000"/>
              </a:lnSpc>
              <a:defRPr sz="2400" spc="300">
                <a:latin typeface="思源黑体"/>
                <a:ea typeface="思源黑体"/>
                <a:cs typeface="思源黑体"/>
                <a:sym typeface="思源黑体"/>
              </a:defRPr>
            </a:pPr>
            <a:endParaRPr lang="en-US" altLang="zh-CN" sz="1800" dirty="0">
              <a:latin typeface="微软雅黑" panose="020B0503020204020204" pitchFamily="34" charset="-122"/>
              <a:ea typeface="微软雅黑" panose="020B0503020204020204" pitchFamily="34" charset="-122"/>
            </a:endParaRPr>
          </a:p>
          <a:p>
            <a:pPr>
              <a:lnSpc>
                <a:spcPct val="140000"/>
              </a:lnSpc>
              <a:defRPr sz="2400" spc="300">
                <a:latin typeface="思源黑体"/>
                <a:ea typeface="思源黑体"/>
                <a:cs typeface="思源黑体"/>
                <a:sym typeface="思源黑体"/>
              </a:defRPr>
            </a:pPr>
            <a:endParaRPr lang="en-US" altLang="zh-CN" sz="1800" dirty="0">
              <a:latin typeface="微软雅黑" panose="020B0503020204020204" pitchFamily="34" charset="-122"/>
              <a:ea typeface="微软雅黑" panose="020B0503020204020204" pitchFamily="34" charset="-122"/>
            </a:endParaRPr>
          </a:p>
          <a:p>
            <a:pPr>
              <a:lnSpc>
                <a:spcPct val="140000"/>
              </a:lnSpc>
              <a:defRPr sz="2400" spc="300">
                <a:latin typeface="思源黑体"/>
                <a:ea typeface="思源黑体"/>
                <a:cs typeface="思源黑体"/>
                <a:sym typeface="思源黑体"/>
              </a:defRPr>
            </a:pPr>
            <a:r>
              <a:rPr lang="en-US" altLang="zh-CN" sz="1800" dirty="0">
                <a:latin typeface="微软雅黑" panose="020B0503020204020204" pitchFamily="34" charset="-122"/>
                <a:ea typeface="微软雅黑" panose="020B0503020204020204" pitchFamily="34" charset="-122"/>
              </a:rPr>
              <a:t> </a:t>
            </a:r>
          </a:p>
        </p:txBody>
      </p:sp>
      <p:sp>
        <p:nvSpPr>
          <p:cNvPr id="4" name="矩形 3">
            <a:extLst>
              <a:ext uri="{FF2B5EF4-FFF2-40B4-BE49-F238E27FC236}">
                <a16:creationId xmlns:a16="http://schemas.microsoft.com/office/drawing/2014/main" id="{EFB9A016-508F-4B4F-A9ED-BC4F7AAD3CF3}"/>
              </a:ext>
            </a:extLst>
          </p:cNvPr>
          <p:cNvSpPr/>
          <p:nvPr/>
        </p:nvSpPr>
        <p:spPr>
          <a:xfrm>
            <a:off x="397326" y="1069675"/>
            <a:ext cx="10368440" cy="3539430"/>
          </a:xfrm>
          <a:prstGeom prst="rect">
            <a:avLst/>
          </a:prstGeom>
        </p:spPr>
        <p:txBody>
          <a:bodyPr wrap="square">
            <a:spAutoFit/>
          </a:bodyPr>
          <a:lstStyle/>
          <a:p>
            <a:r>
              <a:rPr lang="zh-CN" altLang="en-US" sz="1400" dirty="0"/>
              <a:t> </a:t>
            </a:r>
          </a:p>
          <a:p>
            <a:r>
              <a:rPr lang="en-US" altLang="zh-CN" sz="1400" dirty="0"/>
              <a:t>Store</a:t>
            </a:r>
          </a:p>
          <a:p>
            <a:r>
              <a:rPr lang="en-US" altLang="zh-CN" sz="1400" dirty="0"/>
              <a:t>Store</a:t>
            </a:r>
            <a:r>
              <a:rPr lang="zh-CN" altLang="en-US" sz="1400" dirty="0"/>
              <a:t>实现了一套和</a:t>
            </a:r>
            <a:r>
              <a:rPr lang="en-US" altLang="zh-CN" sz="1400" dirty="0"/>
              <a:t>Sidecar</a:t>
            </a:r>
            <a:r>
              <a:rPr lang="zh-CN" altLang="en-US" sz="1400" dirty="0"/>
              <a:t>完全一致的</a:t>
            </a:r>
            <a:r>
              <a:rPr lang="en-US" altLang="zh-CN" sz="1400" dirty="0"/>
              <a:t>API</a:t>
            </a:r>
            <a:r>
              <a:rPr lang="zh-CN" altLang="en-US" sz="1400" dirty="0"/>
              <a:t>提供给</a:t>
            </a:r>
            <a:r>
              <a:rPr lang="en-US" altLang="zh-CN" sz="1400" dirty="0" err="1"/>
              <a:t>Querier</a:t>
            </a:r>
            <a:r>
              <a:rPr lang="zh-CN" altLang="en-US" sz="1400" dirty="0"/>
              <a:t>用于查询</a:t>
            </a:r>
            <a:r>
              <a:rPr lang="en-US" altLang="zh-CN" sz="1400" dirty="0"/>
              <a:t>Sidecar</a:t>
            </a:r>
            <a:r>
              <a:rPr lang="zh-CN" altLang="en-US" sz="1400" dirty="0"/>
              <a:t>备份到云端对象存储的数据。因为</a:t>
            </a:r>
            <a:r>
              <a:rPr lang="en-US" altLang="zh-CN" sz="1400" dirty="0"/>
              <a:t>Sidecar</a:t>
            </a:r>
            <a:r>
              <a:rPr lang="zh-CN" altLang="en-US" sz="1400" dirty="0"/>
              <a:t>在完成数据备份后，</a:t>
            </a:r>
            <a:r>
              <a:rPr lang="en-US" altLang="zh-CN" sz="1400" dirty="0"/>
              <a:t>Prometheus</a:t>
            </a:r>
            <a:r>
              <a:rPr lang="zh-CN" altLang="en-US" sz="1400" dirty="0"/>
              <a:t>会清理掉本地数据保证本地空间可用。所以当监控人员需要调取历史数据时只能去对象存储空间获取，而</a:t>
            </a:r>
            <a:r>
              <a:rPr lang="en-US" altLang="zh-CN" sz="1400" dirty="0"/>
              <a:t>Store</a:t>
            </a:r>
            <a:r>
              <a:rPr lang="zh-CN" altLang="en-US" sz="1400" dirty="0"/>
              <a:t>就提供了这样一个接口。</a:t>
            </a:r>
            <a:r>
              <a:rPr lang="en-US" altLang="zh-CN" sz="1400" dirty="0"/>
              <a:t>Store Gateway</a:t>
            </a:r>
            <a:r>
              <a:rPr lang="zh-CN" altLang="en-US" sz="1400" dirty="0"/>
              <a:t>只会缓存对象存储的基本信息，例如存储块的索引，从而保证实现快速查询的同时占用较少本地空间。</a:t>
            </a:r>
          </a:p>
          <a:p>
            <a:r>
              <a:rPr lang="zh-CN" altLang="en-US" sz="1400" dirty="0"/>
              <a:t> </a:t>
            </a:r>
          </a:p>
          <a:p>
            <a:r>
              <a:rPr lang="en-US" altLang="zh-CN" sz="1400" dirty="0" err="1"/>
              <a:t>Comactor</a:t>
            </a:r>
            <a:endParaRPr lang="en-US" altLang="zh-CN" sz="1400" dirty="0"/>
          </a:p>
          <a:p>
            <a:r>
              <a:rPr lang="en-US" altLang="zh-CN" sz="1400" dirty="0"/>
              <a:t>Compactor</a:t>
            </a:r>
            <a:r>
              <a:rPr lang="zh-CN" altLang="en-US" sz="1400" dirty="0"/>
              <a:t>主要用于对采集到的数据进行压缩，实现将数据存储至对象存储时节省空间。</a:t>
            </a:r>
          </a:p>
          <a:p>
            <a:r>
              <a:rPr lang="zh-CN" altLang="en-US" sz="1400" dirty="0"/>
              <a:t> </a:t>
            </a:r>
          </a:p>
          <a:p>
            <a:r>
              <a:rPr lang="en-US" altLang="zh-CN" sz="1400" dirty="0"/>
              <a:t>Ruler</a:t>
            </a:r>
          </a:p>
          <a:p>
            <a:r>
              <a:rPr lang="en-US" altLang="zh-CN" sz="1400" dirty="0"/>
              <a:t>Ruler</a:t>
            </a:r>
            <a:r>
              <a:rPr lang="zh-CN" altLang="en-US" sz="1400" dirty="0"/>
              <a:t>主要是管理多个</a:t>
            </a:r>
            <a:r>
              <a:rPr lang="en-US" altLang="zh-CN" sz="1400" dirty="0" err="1"/>
              <a:t>AlertManager</a:t>
            </a:r>
            <a:r>
              <a:rPr lang="zh-CN" altLang="en-US" sz="1400" dirty="0"/>
              <a:t>告警规则配置统一管理的问题。</a:t>
            </a:r>
          </a:p>
          <a:p>
            <a:r>
              <a:rPr lang="zh-CN" altLang="en-US" sz="1400" dirty="0"/>
              <a:t> </a:t>
            </a:r>
          </a:p>
          <a:p>
            <a:r>
              <a:rPr lang="zh-CN" altLang="en-US" sz="1400" dirty="0"/>
              <a:t>优点：</a:t>
            </a:r>
          </a:p>
          <a:p>
            <a:r>
              <a:rPr lang="zh-CN" altLang="en-US" sz="1400" dirty="0"/>
              <a:t>对比官方的解决方案，这个东西可以支持跨集群查询、数据去重、历史数据查询、告警规则统一管理。</a:t>
            </a:r>
          </a:p>
          <a:p>
            <a:endParaRPr lang="zh-CN" altLang="en-US" sz="1400" dirty="0">
              <a:solidFill>
                <a:srgbClr val="172B4D"/>
              </a:solidFill>
              <a:latin typeface="-apple-system"/>
            </a:endParaRPr>
          </a:p>
        </p:txBody>
      </p:sp>
    </p:spTree>
    <p:extLst>
      <p:ext uri="{BB962C8B-B14F-4D97-AF65-F5344CB8AC3E}">
        <p14:creationId xmlns:p14="http://schemas.microsoft.com/office/powerpoint/2010/main" val="3442036798"/>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 name="文本框 3"/>
          <p:cNvSpPr txBox="1"/>
          <p:nvPr/>
        </p:nvSpPr>
        <p:spPr>
          <a:xfrm>
            <a:off x="231708" y="1332280"/>
            <a:ext cx="1030515" cy="3154710"/>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defRPr sz="19900" spc="300">
                <a:solidFill>
                  <a:srgbClr val="FFFFFF"/>
                </a:solidFill>
                <a:latin typeface="Impact"/>
                <a:ea typeface="Impact"/>
                <a:cs typeface="Impact"/>
                <a:sym typeface="Impact"/>
              </a:defRPr>
            </a:lvl1pPr>
          </a:lstStyle>
          <a:p>
            <a:r>
              <a:rPr lang="en-US" dirty="0"/>
              <a:t>2</a:t>
            </a:r>
            <a:endParaRPr dirty="0"/>
          </a:p>
        </p:txBody>
      </p:sp>
      <p:sp>
        <p:nvSpPr>
          <p:cNvPr id="156" name="文本框 4"/>
          <p:cNvSpPr txBox="1"/>
          <p:nvPr/>
        </p:nvSpPr>
        <p:spPr>
          <a:xfrm>
            <a:off x="3493256" y="2579616"/>
            <a:ext cx="4670507" cy="1569660"/>
          </a:xfrm>
          <a:prstGeom prst="rect">
            <a:avLst/>
          </a:prstGeom>
          <a:ln w="12700">
            <a:miter lim="400000"/>
          </a:ln>
          <a:extLst>
            <a:ext uri="{C572A759-6A51-4108-AA02-DFA0A04FC94B}">
              <ma14:wrappingTextBoxFlag xmlns:ma14="http://schemas.microsoft.com/office/mac/drawingml/2011/main" xmlns="" val="1"/>
            </a:ext>
          </a:extLst>
        </p:spPr>
        <p:txBody>
          <a:bodyPr wrap="none" lIns="45719" rIns="45719">
            <a:spAutoFit/>
          </a:bodyPr>
          <a:lstStyle/>
          <a:p>
            <a:pPr>
              <a:defRPr sz="4800" spc="300">
                <a:solidFill>
                  <a:srgbClr val="FFFFFF"/>
                </a:solidFill>
                <a:latin typeface="思源黑体"/>
                <a:ea typeface="思源黑体"/>
                <a:cs typeface="思源黑体"/>
                <a:sym typeface="思源黑体"/>
              </a:defRPr>
            </a:pPr>
            <a:r>
              <a:rPr lang="zh-CN" altLang="en-US" dirty="0">
                <a:latin typeface="微软雅黑" panose="020B0503020204020204" pitchFamily="34" charset="-122"/>
                <a:ea typeface="微软雅黑" panose="020B0503020204020204" pitchFamily="34" charset="-122"/>
              </a:rPr>
              <a:t>架构和组件说明</a:t>
            </a:r>
            <a:endParaRPr lang="en-US" altLang="zh-CN" dirty="0">
              <a:latin typeface="微软雅黑" panose="020B0503020204020204" pitchFamily="34" charset="-122"/>
              <a:ea typeface="微软雅黑" panose="020B0503020204020204" pitchFamily="34" charset="-122"/>
            </a:endParaRPr>
          </a:p>
          <a:p>
            <a:pPr>
              <a:defRPr sz="4800" spc="300">
                <a:solidFill>
                  <a:srgbClr val="FFFFFF"/>
                </a:solidFill>
                <a:latin typeface="思源黑体"/>
                <a:ea typeface="思源黑体"/>
                <a:cs typeface="思源黑体"/>
                <a:sym typeface="思源黑体"/>
              </a:defRPr>
            </a:pPr>
            <a:endParaRPr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722550255"/>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标题 1">
            <a:extLst>
              <a:ext uri="{FF2B5EF4-FFF2-40B4-BE49-F238E27FC236}">
                <a16:creationId xmlns:a16="http://schemas.microsoft.com/office/drawing/2014/main" id="{D4AA5856-8FF1-4206-95F6-37FBDC9AA8A2}"/>
              </a:ext>
            </a:extLst>
          </p:cNvPr>
          <p:cNvSpPr txBox="1">
            <a:spLocks/>
          </p:cNvSpPr>
          <p:nvPr/>
        </p:nvSpPr>
        <p:spPr>
          <a:xfrm>
            <a:off x="158707" y="113573"/>
            <a:ext cx="10368440" cy="1080031"/>
          </a:xfrm>
          <a:prstGeom prst="rect">
            <a:avLst/>
          </a:prstGeom>
          <a:ln w="12700">
            <a:miter lim="400000"/>
          </a:ln>
          <a:extLst>
            <a:ext uri="{C572A759-6A51-4108-AA02-DFA0A04FC94B}">
              <ma14:wrappingTextBoxFlag xmlns:ma14="http://schemas.microsoft.com/office/mac/drawingml/2011/main" xmlns="" val="1"/>
            </a:ext>
          </a:extLst>
        </p:spPr>
        <p:txBody>
          <a:bodyPr lIns="45719" rIns="45719" anchor="ctr">
            <a:normAutofit/>
          </a:bodyPr>
          <a:lstStyle>
            <a:lvl1pPr marL="0" marR="0" indent="0" algn="ctr" defTabSz="457200" rtl="0" eaLnBrk="1" latinLnBrk="0" hangingPunct="1">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Calibri"/>
                <a:ea typeface="Calibri"/>
                <a:cs typeface="Calibri"/>
                <a:sym typeface="Calibri"/>
              </a:defRPr>
            </a:lvl1pPr>
            <a:lvl2pPr marL="0" marR="0" indent="0" algn="ctr" defTabSz="457200" rtl="0" eaLnBrk="1" latinLnBrk="0" hangingPunct="1">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Calibri"/>
                <a:ea typeface="Calibri"/>
                <a:cs typeface="Calibri"/>
                <a:sym typeface="Calibri"/>
              </a:defRPr>
            </a:lvl2pPr>
            <a:lvl3pPr marL="0" marR="0" indent="0" algn="ctr" defTabSz="457200" rtl="0" eaLnBrk="1" latinLnBrk="0" hangingPunct="1">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Calibri"/>
                <a:ea typeface="Calibri"/>
                <a:cs typeface="Calibri"/>
                <a:sym typeface="Calibri"/>
              </a:defRPr>
            </a:lvl3pPr>
            <a:lvl4pPr marL="0" marR="0" indent="0" algn="ctr" defTabSz="457200" rtl="0" eaLnBrk="1" latinLnBrk="0" hangingPunct="1">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Calibri"/>
                <a:ea typeface="Calibri"/>
                <a:cs typeface="Calibri"/>
                <a:sym typeface="Calibri"/>
              </a:defRPr>
            </a:lvl4pPr>
            <a:lvl5pPr marL="0" marR="0" indent="0" algn="ctr" defTabSz="457200" rtl="0" eaLnBrk="1" latinLnBrk="0" hangingPunct="1">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Calibri"/>
                <a:ea typeface="Calibri"/>
                <a:cs typeface="Calibri"/>
                <a:sym typeface="Calibri"/>
              </a:defRPr>
            </a:lvl5pPr>
            <a:lvl6pPr marL="0" marR="0" indent="0" algn="ctr" defTabSz="457200" rtl="0" eaLnBrk="1" latinLnBrk="0" hangingPunct="1">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Calibri"/>
                <a:ea typeface="Calibri"/>
                <a:cs typeface="Calibri"/>
                <a:sym typeface="Calibri"/>
              </a:defRPr>
            </a:lvl6pPr>
            <a:lvl7pPr marL="0" marR="0" indent="0" algn="ctr" defTabSz="457200" rtl="0" eaLnBrk="1" latinLnBrk="0" hangingPunct="1">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Calibri"/>
                <a:ea typeface="Calibri"/>
                <a:cs typeface="Calibri"/>
                <a:sym typeface="Calibri"/>
              </a:defRPr>
            </a:lvl7pPr>
            <a:lvl8pPr marL="0" marR="0" indent="0" algn="ctr" defTabSz="457200" rtl="0" eaLnBrk="1" latinLnBrk="0" hangingPunct="1">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Calibri"/>
                <a:ea typeface="Calibri"/>
                <a:cs typeface="Calibri"/>
                <a:sym typeface="Calibri"/>
              </a:defRPr>
            </a:lvl8pPr>
            <a:lvl9pPr marL="0" marR="0" indent="0" algn="ctr" defTabSz="457200" rtl="0" eaLnBrk="1" latinLnBrk="0" hangingPunct="1">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Calibri"/>
                <a:ea typeface="Calibri"/>
                <a:cs typeface="Calibri"/>
                <a:sym typeface="Calibri"/>
              </a:defRPr>
            </a:lvl9pPr>
          </a:lstStyle>
          <a:p>
            <a:pPr algn="l"/>
            <a:r>
              <a:rPr lang="zh-CN" altLang="en-US" sz="2800" b="1" dirty="0">
                <a:latin typeface="微软雅黑" panose="020B0503020204020204" pitchFamily="34" charset="-122"/>
                <a:ea typeface="微软雅黑" panose="020B0503020204020204" pitchFamily="34" charset="-122"/>
              </a:rPr>
              <a:t>私有云监控系统架构</a:t>
            </a:r>
          </a:p>
        </p:txBody>
      </p:sp>
      <p:pic>
        <p:nvPicPr>
          <p:cNvPr id="1026" name="img_insert_161162845852308710697981394165" descr="52283F08@27B9675E">
            <a:extLst>
              <a:ext uri="{FF2B5EF4-FFF2-40B4-BE49-F238E27FC236}">
                <a16:creationId xmlns:a16="http://schemas.microsoft.com/office/drawing/2014/main" id="{DE084FC7-35B6-41DC-A603-1FF3E41FEE9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1810" y="1015877"/>
            <a:ext cx="9918089" cy="5077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5245593"/>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标题 1">
            <a:extLst>
              <a:ext uri="{FF2B5EF4-FFF2-40B4-BE49-F238E27FC236}">
                <a16:creationId xmlns:a16="http://schemas.microsoft.com/office/drawing/2014/main" id="{D4AA5856-8FF1-4206-95F6-37FBDC9AA8A2}"/>
              </a:ext>
            </a:extLst>
          </p:cNvPr>
          <p:cNvSpPr txBox="1">
            <a:spLocks/>
          </p:cNvSpPr>
          <p:nvPr/>
        </p:nvSpPr>
        <p:spPr>
          <a:xfrm>
            <a:off x="158707" y="113573"/>
            <a:ext cx="10368440" cy="1080031"/>
          </a:xfrm>
          <a:prstGeom prst="rect">
            <a:avLst/>
          </a:prstGeom>
          <a:ln w="12700">
            <a:miter lim="400000"/>
          </a:ln>
          <a:extLst>
            <a:ext uri="{C572A759-6A51-4108-AA02-DFA0A04FC94B}">
              <ma14:wrappingTextBoxFlag xmlns:ma14="http://schemas.microsoft.com/office/mac/drawingml/2011/main" xmlns="" val="1"/>
            </a:ext>
          </a:extLst>
        </p:spPr>
        <p:txBody>
          <a:bodyPr lIns="45719" rIns="45719" anchor="ctr">
            <a:normAutofit/>
          </a:bodyPr>
          <a:lstStyle>
            <a:lvl1pPr marL="0" marR="0" indent="0" algn="ctr" defTabSz="457200" rtl="0" eaLnBrk="1" latinLnBrk="0" hangingPunct="1">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Calibri"/>
                <a:ea typeface="Calibri"/>
                <a:cs typeface="Calibri"/>
                <a:sym typeface="Calibri"/>
              </a:defRPr>
            </a:lvl1pPr>
            <a:lvl2pPr marL="0" marR="0" indent="0" algn="ctr" defTabSz="457200" rtl="0" eaLnBrk="1" latinLnBrk="0" hangingPunct="1">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Calibri"/>
                <a:ea typeface="Calibri"/>
                <a:cs typeface="Calibri"/>
                <a:sym typeface="Calibri"/>
              </a:defRPr>
            </a:lvl2pPr>
            <a:lvl3pPr marL="0" marR="0" indent="0" algn="ctr" defTabSz="457200" rtl="0" eaLnBrk="1" latinLnBrk="0" hangingPunct="1">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Calibri"/>
                <a:ea typeface="Calibri"/>
                <a:cs typeface="Calibri"/>
                <a:sym typeface="Calibri"/>
              </a:defRPr>
            </a:lvl3pPr>
            <a:lvl4pPr marL="0" marR="0" indent="0" algn="ctr" defTabSz="457200" rtl="0" eaLnBrk="1" latinLnBrk="0" hangingPunct="1">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Calibri"/>
                <a:ea typeface="Calibri"/>
                <a:cs typeface="Calibri"/>
                <a:sym typeface="Calibri"/>
              </a:defRPr>
            </a:lvl4pPr>
            <a:lvl5pPr marL="0" marR="0" indent="0" algn="ctr" defTabSz="457200" rtl="0" eaLnBrk="1" latinLnBrk="0" hangingPunct="1">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Calibri"/>
                <a:ea typeface="Calibri"/>
                <a:cs typeface="Calibri"/>
                <a:sym typeface="Calibri"/>
              </a:defRPr>
            </a:lvl5pPr>
            <a:lvl6pPr marL="0" marR="0" indent="0" algn="ctr" defTabSz="457200" rtl="0" eaLnBrk="1" latinLnBrk="0" hangingPunct="1">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Calibri"/>
                <a:ea typeface="Calibri"/>
                <a:cs typeface="Calibri"/>
                <a:sym typeface="Calibri"/>
              </a:defRPr>
            </a:lvl6pPr>
            <a:lvl7pPr marL="0" marR="0" indent="0" algn="ctr" defTabSz="457200" rtl="0" eaLnBrk="1" latinLnBrk="0" hangingPunct="1">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Calibri"/>
                <a:ea typeface="Calibri"/>
                <a:cs typeface="Calibri"/>
                <a:sym typeface="Calibri"/>
              </a:defRPr>
            </a:lvl7pPr>
            <a:lvl8pPr marL="0" marR="0" indent="0" algn="ctr" defTabSz="457200" rtl="0" eaLnBrk="1" latinLnBrk="0" hangingPunct="1">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Calibri"/>
                <a:ea typeface="Calibri"/>
                <a:cs typeface="Calibri"/>
                <a:sym typeface="Calibri"/>
              </a:defRPr>
            </a:lvl8pPr>
            <a:lvl9pPr marL="0" marR="0" indent="0" algn="ctr" defTabSz="457200" rtl="0" eaLnBrk="1" latinLnBrk="0" hangingPunct="1">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Calibri"/>
                <a:ea typeface="Calibri"/>
                <a:cs typeface="Calibri"/>
                <a:sym typeface="Calibri"/>
              </a:defRPr>
            </a:lvl9pPr>
          </a:lstStyle>
          <a:p>
            <a:pPr algn="l"/>
            <a:r>
              <a:rPr lang="zh-CN" altLang="en-US" sz="2800" b="1" dirty="0">
                <a:latin typeface="微软雅黑" panose="020B0503020204020204" pitchFamily="34" charset="-122"/>
                <a:ea typeface="微软雅黑" panose="020B0503020204020204" pitchFamily="34" charset="-122"/>
              </a:rPr>
              <a:t>私有云监控系统架构</a:t>
            </a:r>
          </a:p>
        </p:txBody>
      </p:sp>
      <p:sp>
        <p:nvSpPr>
          <p:cNvPr id="2" name="矩形 1">
            <a:extLst>
              <a:ext uri="{FF2B5EF4-FFF2-40B4-BE49-F238E27FC236}">
                <a16:creationId xmlns:a16="http://schemas.microsoft.com/office/drawing/2014/main" id="{A040C039-8991-4D52-9EB1-DDCDF4AF5162}"/>
              </a:ext>
            </a:extLst>
          </p:cNvPr>
          <p:cNvSpPr/>
          <p:nvPr/>
        </p:nvSpPr>
        <p:spPr>
          <a:xfrm>
            <a:off x="543464" y="1319842"/>
            <a:ext cx="8095711" cy="4062651"/>
          </a:xfrm>
          <a:prstGeom prst="rect">
            <a:avLst/>
          </a:prstGeom>
        </p:spPr>
        <p:txBody>
          <a:bodyPr wrap="square">
            <a:spAutoFit/>
          </a:bodyPr>
          <a:lstStyle/>
          <a:p>
            <a:r>
              <a:rPr lang="en-US" altLang="zh-CN" sz="2400" dirty="0">
                <a:solidFill>
                  <a:srgbClr val="393939"/>
                </a:solidFill>
                <a:latin typeface=".PingFangSC"/>
                <a:ea typeface="宋体" panose="02010600030101010101" pitchFamily="2" charset="-122"/>
                <a:cs typeface="宋体" panose="02010600030101010101" pitchFamily="2" charset="-122"/>
              </a:rPr>
              <a:t/>
            </a:r>
            <a:br>
              <a:rPr lang="en-US" altLang="zh-CN" sz="2400" dirty="0">
                <a:solidFill>
                  <a:srgbClr val="393939"/>
                </a:solidFill>
                <a:latin typeface=".PingFangSC"/>
                <a:ea typeface="宋体" panose="02010600030101010101" pitchFamily="2" charset="-122"/>
                <a:cs typeface="宋体" panose="02010600030101010101" pitchFamily="2" charset="-122"/>
              </a:rPr>
            </a:br>
            <a:r>
              <a:rPr lang="zh-CN" altLang="en-US" sz="2400" dirty="0">
                <a:solidFill>
                  <a:srgbClr val="393939"/>
                </a:solidFill>
                <a:latin typeface=".SFNSText"/>
                <a:ea typeface="宋体" panose="02010600030101010101" pitchFamily="2" charset="-122"/>
                <a:cs typeface="宋体" panose="02010600030101010101" pitchFamily="2" charset="-122"/>
              </a:rPr>
              <a:t>管理节点</a:t>
            </a:r>
            <a:r>
              <a:rPr lang="en-US" altLang="zh-CN" sz="2400" dirty="0">
                <a:solidFill>
                  <a:srgbClr val="393939"/>
                </a:solidFill>
                <a:latin typeface=".PingFangSC"/>
                <a:ea typeface="宋体" panose="02010600030101010101" pitchFamily="2" charset="-122"/>
                <a:cs typeface="宋体" panose="02010600030101010101" pitchFamily="2" charset="-122"/>
              </a:rPr>
              <a:t>:  </a:t>
            </a:r>
          </a:p>
          <a:p>
            <a:r>
              <a:rPr lang="zh-CN" altLang="en-US" sz="2400" dirty="0">
                <a:solidFill>
                  <a:srgbClr val="393939"/>
                </a:solidFill>
                <a:latin typeface=".PingFangSC"/>
                <a:ea typeface="宋体" panose="02010600030101010101" pitchFamily="2" charset="-122"/>
                <a:cs typeface="宋体" panose="02010600030101010101" pitchFamily="2" charset="-122"/>
              </a:rPr>
              <a:t>主： </a:t>
            </a:r>
            <a:r>
              <a:rPr lang="en-US" altLang="zh-CN" sz="2400" dirty="0">
                <a:solidFill>
                  <a:srgbClr val="393939"/>
                </a:solidFill>
                <a:latin typeface=".PingFangSC"/>
                <a:ea typeface="宋体" panose="02010600030101010101" pitchFamily="2" charset="-122"/>
                <a:cs typeface="宋体" panose="02010600030101010101" pitchFamily="2" charset="-122"/>
              </a:rPr>
              <a:t>172.16.6.128 </a:t>
            </a:r>
          </a:p>
          <a:p>
            <a:r>
              <a:rPr lang="zh-CN" altLang="en-US" sz="2400" dirty="0">
                <a:solidFill>
                  <a:srgbClr val="393939"/>
                </a:solidFill>
                <a:latin typeface=".PingFangSC"/>
                <a:ea typeface="宋体" panose="02010600030101010101" pitchFamily="2" charset="-122"/>
                <a:cs typeface="宋体" panose="02010600030101010101" pitchFamily="2" charset="-122"/>
              </a:rPr>
              <a:t>备：</a:t>
            </a:r>
            <a:r>
              <a:rPr lang="en-US" altLang="zh-CN" sz="2400" dirty="0">
                <a:solidFill>
                  <a:srgbClr val="393939"/>
                </a:solidFill>
                <a:latin typeface=".PingFangSC"/>
                <a:ea typeface="宋体" panose="02010600030101010101" pitchFamily="2" charset="-122"/>
                <a:cs typeface="宋体" panose="02010600030101010101" pitchFamily="2" charset="-122"/>
              </a:rPr>
              <a:t> 172.16.6.129</a:t>
            </a:r>
          </a:p>
          <a:p>
            <a:r>
              <a:rPr lang="en-US" altLang="zh-CN" sz="2400" dirty="0">
                <a:solidFill>
                  <a:srgbClr val="393939"/>
                </a:solidFill>
                <a:latin typeface=".PingFangSC"/>
                <a:ea typeface="宋体" panose="02010600030101010101" pitchFamily="2" charset="-122"/>
                <a:cs typeface="宋体" panose="02010600030101010101" pitchFamily="2" charset="-122"/>
              </a:rPr>
              <a:t>VIP</a:t>
            </a:r>
            <a:r>
              <a:rPr lang="zh-CN" altLang="en-US" sz="2400" dirty="0">
                <a:solidFill>
                  <a:srgbClr val="393939"/>
                </a:solidFill>
                <a:latin typeface=".PingFangSC"/>
                <a:ea typeface="宋体" panose="02010600030101010101" pitchFamily="2" charset="-122"/>
                <a:cs typeface="宋体" panose="02010600030101010101" pitchFamily="2" charset="-122"/>
              </a:rPr>
              <a:t>：</a:t>
            </a:r>
            <a:r>
              <a:rPr lang="en-US" altLang="zh-CN" sz="2400" dirty="0">
                <a:solidFill>
                  <a:srgbClr val="393939"/>
                </a:solidFill>
                <a:latin typeface=".PingFangSC"/>
                <a:ea typeface="宋体" panose="02010600030101010101" pitchFamily="2" charset="-122"/>
                <a:cs typeface="宋体" panose="02010600030101010101" pitchFamily="2" charset="-122"/>
              </a:rPr>
              <a:t>172.16.6.130</a:t>
            </a:r>
          </a:p>
          <a:p>
            <a:endParaRPr lang="en-US" altLang="zh-CN" sz="2400" dirty="0">
              <a:solidFill>
                <a:srgbClr val="393939"/>
              </a:solidFill>
              <a:latin typeface=".PingFangSC"/>
              <a:ea typeface="宋体" panose="02010600030101010101" pitchFamily="2" charset="-122"/>
              <a:cs typeface="宋体" panose="02010600030101010101" pitchFamily="2" charset="-122"/>
            </a:endParaRPr>
          </a:p>
          <a:p>
            <a:r>
              <a:rPr lang="en-US" altLang="zh-CN" sz="2400" dirty="0">
                <a:solidFill>
                  <a:srgbClr val="393939"/>
                </a:solidFill>
                <a:latin typeface=".PingFangSC"/>
                <a:ea typeface="宋体" panose="02010600030101010101" pitchFamily="2" charset="-122"/>
                <a:cs typeface="宋体" panose="02010600030101010101" pitchFamily="2" charset="-122"/>
              </a:rPr>
              <a:t> </a:t>
            </a:r>
            <a:r>
              <a:rPr lang="en-US" altLang="zh-CN" dirty="0" err="1"/>
              <a:t>hercules</a:t>
            </a:r>
            <a:r>
              <a:rPr lang="en-US" altLang="zh-CN" dirty="0"/>
              <a:t>(6000)       </a:t>
            </a:r>
            <a:r>
              <a:rPr lang="zh-CN" altLang="en-US" dirty="0"/>
              <a:t>监控配置</a:t>
            </a:r>
            <a:r>
              <a:rPr lang="en-US" altLang="zh-CN" dirty="0"/>
              <a:t>&amp;</a:t>
            </a:r>
            <a:r>
              <a:rPr lang="zh-CN" altLang="en-US" dirty="0"/>
              <a:t>告警回调</a:t>
            </a:r>
            <a:endParaRPr lang="en-US" altLang="zh-CN" dirty="0"/>
          </a:p>
          <a:p>
            <a:r>
              <a:rPr lang="en-US" altLang="zh-CN" dirty="0"/>
              <a:t> </a:t>
            </a:r>
            <a:r>
              <a:rPr lang="en-US" altLang="zh-CN" dirty="0" err="1"/>
              <a:t>arguspaser</a:t>
            </a:r>
            <a:r>
              <a:rPr lang="en-US" altLang="zh-CN" dirty="0"/>
              <a:t> (6001)     </a:t>
            </a:r>
            <a:r>
              <a:rPr lang="zh-CN" altLang="en-US" dirty="0"/>
              <a:t>接收推送数据</a:t>
            </a:r>
            <a:endParaRPr lang="en-US" altLang="zh-CN" dirty="0"/>
          </a:p>
          <a:p>
            <a:r>
              <a:rPr lang="en-US" altLang="zh-CN" dirty="0"/>
              <a:t> </a:t>
            </a:r>
            <a:r>
              <a:rPr lang="en-US" altLang="zh-CN" dirty="0" err="1"/>
              <a:t>alertmanager</a:t>
            </a:r>
            <a:r>
              <a:rPr lang="en-US" altLang="zh-CN" dirty="0"/>
              <a:t> (6015)     </a:t>
            </a:r>
            <a:r>
              <a:rPr lang="zh-CN" altLang="en-US" dirty="0"/>
              <a:t>告警通知</a:t>
            </a:r>
            <a:endParaRPr lang="en-US" altLang="zh-CN" dirty="0"/>
          </a:p>
          <a:p>
            <a:r>
              <a:rPr lang="en-US" altLang="zh-CN" dirty="0"/>
              <a:t> </a:t>
            </a:r>
            <a:r>
              <a:rPr lang="en-US" altLang="zh-CN" dirty="0" err="1"/>
              <a:t>blackbox</a:t>
            </a:r>
            <a:r>
              <a:rPr lang="en-US" altLang="zh-CN" dirty="0"/>
              <a:t>(6012)          </a:t>
            </a:r>
            <a:r>
              <a:rPr lang="zh-CN" altLang="en-US" dirty="0"/>
              <a:t>主动拨测功能</a:t>
            </a:r>
            <a:endParaRPr lang="en-US" altLang="zh-CN" sz="2400" dirty="0">
              <a:solidFill>
                <a:srgbClr val="393939"/>
              </a:solidFill>
              <a:latin typeface=".PingFangSC"/>
              <a:ea typeface="宋体" panose="02010600030101010101" pitchFamily="2" charset="-122"/>
              <a:cs typeface="宋体" panose="02010600030101010101" pitchFamily="2" charset="-122"/>
            </a:endParaRPr>
          </a:p>
          <a:p>
            <a:endParaRPr lang="en-US" altLang="zh-CN" sz="2400" dirty="0">
              <a:solidFill>
                <a:srgbClr val="393939"/>
              </a:solidFill>
              <a:latin typeface=".SFNSText"/>
              <a:ea typeface="宋体" panose="02010600030101010101" pitchFamily="2" charset="-122"/>
              <a:cs typeface="宋体" panose="02010600030101010101" pitchFamily="2" charset="-122"/>
            </a:endParaRPr>
          </a:p>
        </p:txBody>
      </p:sp>
    </p:spTree>
    <p:extLst>
      <p:ext uri="{BB962C8B-B14F-4D97-AF65-F5344CB8AC3E}">
        <p14:creationId xmlns:p14="http://schemas.microsoft.com/office/powerpoint/2010/main" val="3186225616"/>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标题 1">
            <a:extLst>
              <a:ext uri="{FF2B5EF4-FFF2-40B4-BE49-F238E27FC236}">
                <a16:creationId xmlns:a16="http://schemas.microsoft.com/office/drawing/2014/main" id="{D4AA5856-8FF1-4206-95F6-37FBDC9AA8A2}"/>
              </a:ext>
            </a:extLst>
          </p:cNvPr>
          <p:cNvSpPr txBox="1">
            <a:spLocks/>
          </p:cNvSpPr>
          <p:nvPr/>
        </p:nvSpPr>
        <p:spPr>
          <a:xfrm>
            <a:off x="158707" y="113573"/>
            <a:ext cx="10368440" cy="1080031"/>
          </a:xfrm>
          <a:prstGeom prst="rect">
            <a:avLst/>
          </a:prstGeom>
          <a:ln w="12700">
            <a:miter lim="400000"/>
          </a:ln>
          <a:extLst>
            <a:ext uri="{C572A759-6A51-4108-AA02-DFA0A04FC94B}">
              <ma14:wrappingTextBoxFlag xmlns:ma14="http://schemas.microsoft.com/office/mac/drawingml/2011/main" xmlns="" val="1"/>
            </a:ext>
          </a:extLst>
        </p:spPr>
        <p:txBody>
          <a:bodyPr lIns="45719" rIns="45719" anchor="ctr">
            <a:normAutofit/>
          </a:bodyPr>
          <a:lstStyle>
            <a:lvl1pPr marL="0" marR="0" indent="0" algn="ctr" defTabSz="457200" rtl="0" eaLnBrk="1" latinLnBrk="0" hangingPunct="1">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Calibri"/>
                <a:ea typeface="Calibri"/>
                <a:cs typeface="Calibri"/>
                <a:sym typeface="Calibri"/>
              </a:defRPr>
            </a:lvl1pPr>
            <a:lvl2pPr marL="0" marR="0" indent="0" algn="ctr" defTabSz="457200" rtl="0" eaLnBrk="1" latinLnBrk="0" hangingPunct="1">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Calibri"/>
                <a:ea typeface="Calibri"/>
                <a:cs typeface="Calibri"/>
                <a:sym typeface="Calibri"/>
              </a:defRPr>
            </a:lvl2pPr>
            <a:lvl3pPr marL="0" marR="0" indent="0" algn="ctr" defTabSz="457200" rtl="0" eaLnBrk="1" latinLnBrk="0" hangingPunct="1">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Calibri"/>
                <a:ea typeface="Calibri"/>
                <a:cs typeface="Calibri"/>
                <a:sym typeface="Calibri"/>
              </a:defRPr>
            </a:lvl3pPr>
            <a:lvl4pPr marL="0" marR="0" indent="0" algn="ctr" defTabSz="457200" rtl="0" eaLnBrk="1" latinLnBrk="0" hangingPunct="1">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Calibri"/>
                <a:ea typeface="Calibri"/>
                <a:cs typeface="Calibri"/>
                <a:sym typeface="Calibri"/>
              </a:defRPr>
            </a:lvl4pPr>
            <a:lvl5pPr marL="0" marR="0" indent="0" algn="ctr" defTabSz="457200" rtl="0" eaLnBrk="1" latinLnBrk="0" hangingPunct="1">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Calibri"/>
                <a:ea typeface="Calibri"/>
                <a:cs typeface="Calibri"/>
                <a:sym typeface="Calibri"/>
              </a:defRPr>
            </a:lvl5pPr>
            <a:lvl6pPr marL="0" marR="0" indent="0" algn="ctr" defTabSz="457200" rtl="0" eaLnBrk="1" latinLnBrk="0" hangingPunct="1">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Calibri"/>
                <a:ea typeface="Calibri"/>
                <a:cs typeface="Calibri"/>
                <a:sym typeface="Calibri"/>
              </a:defRPr>
            </a:lvl6pPr>
            <a:lvl7pPr marL="0" marR="0" indent="0" algn="ctr" defTabSz="457200" rtl="0" eaLnBrk="1" latinLnBrk="0" hangingPunct="1">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Calibri"/>
                <a:ea typeface="Calibri"/>
                <a:cs typeface="Calibri"/>
                <a:sym typeface="Calibri"/>
              </a:defRPr>
            </a:lvl7pPr>
            <a:lvl8pPr marL="0" marR="0" indent="0" algn="ctr" defTabSz="457200" rtl="0" eaLnBrk="1" latinLnBrk="0" hangingPunct="1">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Calibri"/>
                <a:ea typeface="Calibri"/>
                <a:cs typeface="Calibri"/>
                <a:sym typeface="Calibri"/>
              </a:defRPr>
            </a:lvl8pPr>
            <a:lvl9pPr marL="0" marR="0" indent="0" algn="ctr" defTabSz="457200" rtl="0" eaLnBrk="1" latinLnBrk="0" hangingPunct="1">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Calibri"/>
                <a:ea typeface="Calibri"/>
                <a:cs typeface="Calibri"/>
                <a:sym typeface="Calibri"/>
              </a:defRPr>
            </a:lvl9pPr>
          </a:lstStyle>
          <a:p>
            <a:pPr algn="l"/>
            <a:r>
              <a:rPr lang="zh-CN" altLang="en-US" sz="2800" b="1" dirty="0">
                <a:latin typeface="微软雅黑" panose="020B0503020204020204" pitchFamily="34" charset="-122"/>
                <a:ea typeface="微软雅黑" panose="020B0503020204020204" pitchFamily="34" charset="-122"/>
              </a:rPr>
              <a:t>私有云监控系统架构</a:t>
            </a:r>
          </a:p>
        </p:txBody>
      </p:sp>
      <p:sp>
        <p:nvSpPr>
          <p:cNvPr id="2" name="矩形 1">
            <a:extLst>
              <a:ext uri="{FF2B5EF4-FFF2-40B4-BE49-F238E27FC236}">
                <a16:creationId xmlns:a16="http://schemas.microsoft.com/office/drawing/2014/main" id="{A040C039-8991-4D52-9EB1-DDCDF4AF5162}"/>
              </a:ext>
            </a:extLst>
          </p:cNvPr>
          <p:cNvSpPr/>
          <p:nvPr/>
        </p:nvSpPr>
        <p:spPr>
          <a:xfrm>
            <a:off x="543464" y="1319842"/>
            <a:ext cx="8095711" cy="4062651"/>
          </a:xfrm>
          <a:prstGeom prst="rect">
            <a:avLst/>
          </a:prstGeom>
        </p:spPr>
        <p:txBody>
          <a:bodyPr wrap="square">
            <a:spAutoFit/>
          </a:bodyPr>
          <a:lstStyle/>
          <a:p>
            <a:r>
              <a:rPr lang="en-US" altLang="zh-CN" sz="2400" dirty="0">
                <a:solidFill>
                  <a:srgbClr val="393939"/>
                </a:solidFill>
                <a:latin typeface=".PingFangSC"/>
                <a:ea typeface="宋体" panose="02010600030101010101" pitchFamily="2" charset="-122"/>
                <a:cs typeface="宋体" panose="02010600030101010101" pitchFamily="2" charset="-122"/>
              </a:rPr>
              <a:t/>
            </a:r>
            <a:br>
              <a:rPr lang="en-US" altLang="zh-CN" sz="2400" dirty="0">
                <a:solidFill>
                  <a:srgbClr val="393939"/>
                </a:solidFill>
                <a:latin typeface=".PingFangSC"/>
                <a:ea typeface="宋体" panose="02010600030101010101" pitchFamily="2" charset="-122"/>
                <a:cs typeface="宋体" panose="02010600030101010101" pitchFamily="2" charset="-122"/>
              </a:rPr>
            </a:br>
            <a:r>
              <a:rPr lang="zh-CN" altLang="en-US" sz="2400" dirty="0">
                <a:solidFill>
                  <a:srgbClr val="393939"/>
                </a:solidFill>
                <a:latin typeface=".SFNSText"/>
                <a:ea typeface="宋体" panose="02010600030101010101" pitchFamily="2" charset="-122"/>
                <a:cs typeface="宋体" panose="02010600030101010101" pitchFamily="2" charset="-122"/>
              </a:rPr>
              <a:t>数据节点</a:t>
            </a:r>
            <a:r>
              <a:rPr lang="en-US" altLang="zh-CN" sz="2400" dirty="0">
                <a:solidFill>
                  <a:srgbClr val="393939"/>
                </a:solidFill>
                <a:latin typeface=".PingFangSC"/>
                <a:ea typeface="宋体" panose="02010600030101010101" pitchFamily="2" charset="-122"/>
                <a:cs typeface="宋体" panose="02010600030101010101" pitchFamily="2" charset="-122"/>
              </a:rPr>
              <a:t>:  </a:t>
            </a:r>
          </a:p>
          <a:p>
            <a:r>
              <a:rPr lang="en-US" altLang="zh-CN" sz="2400" dirty="0">
                <a:solidFill>
                  <a:srgbClr val="393939"/>
                </a:solidFill>
                <a:latin typeface=".SFNSText"/>
                <a:ea typeface="宋体" panose="02010600030101010101" pitchFamily="2" charset="-122"/>
                <a:cs typeface="宋体" panose="02010600030101010101" pitchFamily="2" charset="-122"/>
              </a:rPr>
              <a:t>172.16.6.131   172.16.6.132</a:t>
            </a:r>
          </a:p>
          <a:p>
            <a:r>
              <a:rPr lang="en-US" altLang="zh-CN" sz="2400" dirty="0">
                <a:solidFill>
                  <a:srgbClr val="393939"/>
                </a:solidFill>
                <a:latin typeface=".SFNSText"/>
                <a:ea typeface="宋体" panose="02010600030101010101" pitchFamily="2" charset="-122"/>
                <a:cs typeface="宋体" panose="02010600030101010101" pitchFamily="2" charset="-122"/>
              </a:rPr>
              <a:t>172.16.6.133   172.16.6.134</a:t>
            </a:r>
          </a:p>
          <a:p>
            <a:r>
              <a:rPr lang="en-US" altLang="zh-CN" sz="2400" dirty="0">
                <a:solidFill>
                  <a:srgbClr val="393939"/>
                </a:solidFill>
                <a:latin typeface=".SFNSText"/>
                <a:ea typeface="宋体" panose="02010600030101010101" pitchFamily="2" charset="-122"/>
                <a:cs typeface="宋体" panose="02010600030101010101" pitchFamily="2" charset="-122"/>
              </a:rPr>
              <a:t>172.16.6.135   172.16.6.136</a:t>
            </a:r>
          </a:p>
          <a:p>
            <a:endParaRPr lang="en-US" altLang="zh-CN" sz="2400" dirty="0">
              <a:solidFill>
                <a:srgbClr val="393939"/>
              </a:solidFill>
              <a:latin typeface=".SFNSText"/>
              <a:ea typeface="宋体" panose="02010600030101010101" pitchFamily="2" charset="-122"/>
              <a:cs typeface="宋体" panose="02010600030101010101" pitchFamily="2" charset="-122"/>
            </a:endParaRPr>
          </a:p>
          <a:p>
            <a:r>
              <a:rPr lang="en-US" altLang="zh-CN" dirty="0" err="1"/>
              <a:t>thanos</a:t>
            </a:r>
            <a:r>
              <a:rPr lang="en-US" altLang="zh-CN" dirty="0"/>
              <a:t>-sidecar(10601)         Prometheus proxy</a:t>
            </a:r>
          </a:p>
          <a:p>
            <a:r>
              <a:rPr lang="en-US" altLang="zh-CN" dirty="0"/>
              <a:t>target-config(6080)             </a:t>
            </a:r>
            <a:r>
              <a:rPr lang="zh-CN" altLang="en-US" dirty="0"/>
              <a:t>注册监控</a:t>
            </a:r>
            <a:r>
              <a:rPr lang="en-US" altLang="zh-CN" dirty="0"/>
              <a:t>/</a:t>
            </a:r>
            <a:r>
              <a:rPr lang="zh-CN" altLang="en-US" dirty="0"/>
              <a:t>取消监控</a:t>
            </a:r>
            <a:endParaRPr lang="en-US" altLang="zh-CN" dirty="0"/>
          </a:p>
          <a:p>
            <a:r>
              <a:rPr lang="en-US" altLang="zh-CN" dirty="0" err="1"/>
              <a:t>prometheus</a:t>
            </a:r>
            <a:r>
              <a:rPr lang="en-US" altLang="zh-CN" dirty="0"/>
              <a:t>(6014)                       </a:t>
            </a:r>
            <a:r>
              <a:rPr lang="zh-CN" altLang="en-US" dirty="0"/>
              <a:t>数据采集</a:t>
            </a:r>
            <a:endParaRPr lang="en-US" altLang="zh-CN" sz="2400" dirty="0">
              <a:solidFill>
                <a:srgbClr val="393939"/>
              </a:solidFill>
              <a:latin typeface=".SFNSText"/>
              <a:ea typeface="宋体" panose="02010600030101010101" pitchFamily="2" charset="-122"/>
              <a:cs typeface="宋体" panose="02010600030101010101" pitchFamily="2" charset="-122"/>
            </a:endParaRPr>
          </a:p>
          <a:p>
            <a:endParaRPr lang="en-US" altLang="zh-CN" sz="2400" dirty="0">
              <a:solidFill>
                <a:srgbClr val="393939"/>
              </a:solidFill>
              <a:latin typeface=".SFNSText"/>
              <a:ea typeface="宋体" panose="02010600030101010101" pitchFamily="2" charset="-122"/>
              <a:cs typeface="宋体" panose="02010600030101010101" pitchFamily="2" charset="-122"/>
            </a:endParaRPr>
          </a:p>
          <a:p>
            <a:endParaRPr lang="en-US" altLang="zh-CN" sz="2400" dirty="0">
              <a:solidFill>
                <a:srgbClr val="393939"/>
              </a:solidFill>
              <a:latin typeface=".SFNSText"/>
              <a:ea typeface="宋体" panose="02010600030101010101" pitchFamily="2" charset="-122"/>
              <a:cs typeface="宋体" panose="02010600030101010101" pitchFamily="2" charset="-122"/>
            </a:endParaRPr>
          </a:p>
        </p:txBody>
      </p:sp>
    </p:spTree>
    <p:extLst>
      <p:ext uri="{BB962C8B-B14F-4D97-AF65-F5344CB8AC3E}">
        <p14:creationId xmlns:p14="http://schemas.microsoft.com/office/powerpoint/2010/main" val="523060277"/>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标题 1">
            <a:extLst>
              <a:ext uri="{FF2B5EF4-FFF2-40B4-BE49-F238E27FC236}">
                <a16:creationId xmlns:a16="http://schemas.microsoft.com/office/drawing/2014/main" id="{D4AA5856-8FF1-4206-95F6-37FBDC9AA8A2}"/>
              </a:ext>
            </a:extLst>
          </p:cNvPr>
          <p:cNvSpPr txBox="1">
            <a:spLocks/>
          </p:cNvSpPr>
          <p:nvPr/>
        </p:nvSpPr>
        <p:spPr>
          <a:xfrm>
            <a:off x="158707" y="113573"/>
            <a:ext cx="10368440" cy="1080031"/>
          </a:xfrm>
          <a:prstGeom prst="rect">
            <a:avLst/>
          </a:prstGeom>
          <a:ln w="12700">
            <a:miter lim="400000"/>
          </a:ln>
          <a:extLst>
            <a:ext uri="{C572A759-6A51-4108-AA02-DFA0A04FC94B}">
              <ma14:wrappingTextBoxFlag xmlns:ma14="http://schemas.microsoft.com/office/mac/drawingml/2011/main" xmlns="" val="1"/>
            </a:ext>
          </a:extLst>
        </p:spPr>
        <p:txBody>
          <a:bodyPr lIns="45719" rIns="45719" anchor="ctr">
            <a:normAutofit/>
          </a:bodyPr>
          <a:lstStyle>
            <a:lvl1pPr marL="0" marR="0" indent="0" algn="ctr" defTabSz="457200" rtl="0" eaLnBrk="1" latinLnBrk="0" hangingPunct="1">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Calibri"/>
                <a:ea typeface="Calibri"/>
                <a:cs typeface="Calibri"/>
                <a:sym typeface="Calibri"/>
              </a:defRPr>
            </a:lvl1pPr>
            <a:lvl2pPr marL="0" marR="0" indent="0" algn="ctr" defTabSz="457200" rtl="0" eaLnBrk="1" latinLnBrk="0" hangingPunct="1">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Calibri"/>
                <a:ea typeface="Calibri"/>
                <a:cs typeface="Calibri"/>
                <a:sym typeface="Calibri"/>
              </a:defRPr>
            </a:lvl2pPr>
            <a:lvl3pPr marL="0" marR="0" indent="0" algn="ctr" defTabSz="457200" rtl="0" eaLnBrk="1" latinLnBrk="0" hangingPunct="1">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Calibri"/>
                <a:ea typeface="Calibri"/>
                <a:cs typeface="Calibri"/>
                <a:sym typeface="Calibri"/>
              </a:defRPr>
            </a:lvl3pPr>
            <a:lvl4pPr marL="0" marR="0" indent="0" algn="ctr" defTabSz="457200" rtl="0" eaLnBrk="1" latinLnBrk="0" hangingPunct="1">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Calibri"/>
                <a:ea typeface="Calibri"/>
                <a:cs typeface="Calibri"/>
                <a:sym typeface="Calibri"/>
              </a:defRPr>
            </a:lvl4pPr>
            <a:lvl5pPr marL="0" marR="0" indent="0" algn="ctr" defTabSz="457200" rtl="0" eaLnBrk="1" latinLnBrk="0" hangingPunct="1">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Calibri"/>
                <a:ea typeface="Calibri"/>
                <a:cs typeface="Calibri"/>
                <a:sym typeface="Calibri"/>
              </a:defRPr>
            </a:lvl5pPr>
            <a:lvl6pPr marL="0" marR="0" indent="0" algn="ctr" defTabSz="457200" rtl="0" eaLnBrk="1" latinLnBrk="0" hangingPunct="1">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Calibri"/>
                <a:ea typeface="Calibri"/>
                <a:cs typeface="Calibri"/>
                <a:sym typeface="Calibri"/>
              </a:defRPr>
            </a:lvl6pPr>
            <a:lvl7pPr marL="0" marR="0" indent="0" algn="ctr" defTabSz="457200" rtl="0" eaLnBrk="1" latinLnBrk="0" hangingPunct="1">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Calibri"/>
                <a:ea typeface="Calibri"/>
                <a:cs typeface="Calibri"/>
                <a:sym typeface="Calibri"/>
              </a:defRPr>
            </a:lvl7pPr>
            <a:lvl8pPr marL="0" marR="0" indent="0" algn="ctr" defTabSz="457200" rtl="0" eaLnBrk="1" latinLnBrk="0" hangingPunct="1">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Calibri"/>
                <a:ea typeface="Calibri"/>
                <a:cs typeface="Calibri"/>
                <a:sym typeface="Calibri"/>
              </a:defRPr>
            </a:lvl8pPr>
            <a:lvl9pPr marL="0" marR="0" indent="0" algn="ctr" defTabSz="457200" rtl="0" eaLnBrk="1" latinLnBrk="0" hangingPunct="1">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Calibri"/>
                <a:ea typeface="Calibri"/>
                <a:cs typeface="Calibri"/>
                <a:sym typeface="Calibri"/>
              </a:defRPr>
            </a:lvl9pPr>
          </a:lstStyle>
          <a:p>
            <a:pPr algn="l"/>
            <a:r>
              <a:rPr lang="zh-CN" altLang="en-US" sz="2800" b="1" dirty="0">
                <a:latin typeface="微软雅黑" panose="020B0503020204020204" pitchFamily="34" charset="-122"/>
                <a:ea typeface="微软雅黑" panose="020B0503020204020204" pitchFamily="34" charset="-122"/>
              </a:rPr>
              <a:t>私有云监控系统架构</a:t>
            </a:r>
          </a:p>
        </p:txBody>
      </p:sp>
      <p:sp>
        <p:nvSpPr>
          <p:cNvPr id="2" name="矩形 1">
            <a:extLst>
              <a:ext uri="{FF2B5EF4-FFF2-40B4-BE49-F238E27FC236}">
                <a16:creationId xmlns:a16="http://schemas.microsoft.com/office/drawing/2014/main" id="{A040C039-8991-4D52-9EB1-DDCDF4AF5162}"/>
              </a:ext>
            </a:extLst>
          </p:cNvPr>
          <p:cNvSpPr/>
          <p:nvPr/>
        </p:nvSpPr>
        <p:spPr>
          <a:xfrm>
            <a:off x="543464" y="1319842"/>
            <a:ext cx="8095711" cy="3693319"/>
          </a:xfrm>
          <a:prstGeom prst="rect">
            <a:avLst/>
          </a:prstGeom>
        </p:spPr>
        <p:txBody>
          <a:bodyPr wrap="square">
            <a:spAutoFit/>
          </a:bodyPr>
          <a:lstStyle/>
          <a:p>
            <a:r>
              <a:rPr lang="en-US" altLang="zh-CN" sz="2400" dirty="0">
                <a:solidFill>
                  <a:srgbClr val="393939"/>
                </a:solidFill>
                <a:latin typeface=".PingFangSC"/>
                <a:ea typeface="宋体" panose="02010600030101010101" pitchFamily="2" charset="-122"/>
                <a:cs typeface="宋体" panose="02010600030101010101" pitchFamily="2" charset="-122"/>
              </a:rPr>
              <a:t/>
            </a:r>
            <a:br>
              <a:rPr lang="en-US" altLang="zh-CN" sz="2400" dirty="0">
                <a:solidFill>
                  <a:srgbClr val="393939"/>
                </a:solidFill>
                <a:latin typeface=".PingFangSC"/>
                <a:ea typeface="宋体" panose="02010600030101010101" pitchFamily="2" charset="-122"/>
                <a:cs typeface="宋体" panose="02010600030101010101" pitchFamily="2" charset="-122"/>
              </a:rPr>
            </a:br>
            <a:r>
              <a:rPr lang="zh-CN" altLang="en-US" sz="2400" dirty="0">
                <a:solidFill>
                  <a:srgbClr val="393939"/>
                </a:solidFill>
                <a:latin typeface=".SFNSText"/>
                <a:ea typeface="宋体" panose="02010600030101010101" pitchFamily="2" charset="-122"/>
                <a:cs typeface="宋体" panose="02010600030101010101" pitchFamily="2" charset="-122"/>
              </a:rPr>
              <a:t>告警节点</a:t>
            </a:r>
            <a:r>
              <a:rPr lang="en-US" altLang="zh-CN" sz="2400" dirty="0">
                <a:solidFill>
                  <a:srgbClr val="393939"/>
                </a:solidFill>
                <a:latin typeface=".PingFangSC"/>
                <a:ea typeface="宋体" panose="02010600030101010101" pitchFamily="2" charset="-122"/>
                <a:cs typeface="宋体" panose="02010600030101010101" pitchFamily="2" charset="-122"/>
              </a:rPr>
              <a:t>:  </a:t>
            </a:r>
          </a:p>
          <a:p>
            <a:r>
              <a:rPr lang="en-US" altLang="zh-CN" sz="2400" dirty="0">
                <a:solidFill>
                  <a:srgbClr val="393939"/>
                </a:solidFill>
                <a:latin typeface=".SFNSText"/>
                <a:ea typeface="宋体" panose="02010600030101010101" pitchFamily="2" charset="-122"/>
                <a:cs typeface="宋体" panose="02010600030101010101" pitchFamily="2" charset="-122"/>
              </a:rPr>
              <a:t>172.16.6.128</a:t>
            </a:r>
          </a:p>
          <a:p>
            <a:r>
              <a:rPr lang="en-US" altLang="zh-CN" sz="2400" dirty="0">
                <a:solidFill>
                  <a:srgbClr val="393939"/>
                </a:solidFill>
                <a:latin typeface=".SFNSText"/>
                <a:ea typeface="宋体" panose="02010600030101010101" pitchFamily="2" charset="-122"/>
                <a:cs typeface="宋体" panose="02010600030101010101" pitchFamily="2" charset="-122"/>
              </a:rPr>
              <a:t>172.16.6.129</a:t>
            </a:r>
          </a:p>
          <a:p>
            <a:r>
              <a:rPr lang="en-US" altLang="zh-CN" sz="2400" dirty="0">
                <a:solidFill>
                  <a:srgbClr val="393939"/>
                </a:solidFill>
                <a:latin typeface=".SFNSText"/>
                <a:ea typeface="宋体" panose="02010600030101010101" pitchFamily="2" charset="-122"/>
                <a:cs typeface="宋体" panose="02010600030101010101" pitchFamily="2" charset="-122"/>
              </a:rPr>
              <a:t>172.16.6.137</a:t>
            </a:r>
          </a:p>
          <a:p>
            <a:endParaRPr lang="en-US" altLang="zh-CN" sz="2400" dirty="0">
              <a:solidFill>
                <a:srgbClr val="393939"/>
              </a:solidFill>
              <a:latin typeface=".SFNSText"/>
              <a:ea typeface="宋体" panose="02010600030101010101" pitchFamily="2" charset="-122"/>
              <a:cs typeface="宋体" panose="02010600030101010101" pitchFamily="2" charset="-122"/>
            </a:endParaRPr>
          </a:p>
          <a:p>
            <a:r>
              <a:rPr lang="en-US" altLang="zh-CN" dirty="0" err="1"/>
              <a:t>thanos</a:t>
            </a:r>
            <a:r>
              <a:rPr lang="en-US" altLang="zh-CN" dirty="0"/>
              <a:t>-query ( 6088)            </a:t>
            </a:r>
            <a:r>
              <a:rPr lang="zh-CN" altLang="en-US" dirty="0"/>
              <a:t>数据查询</a:t>
            </a:r>
            <a:endParaRPr lang="en-US" altLang="zh-CN" dirty="0"/>
          </a:p>
          <a:p>
            <a:r>
              <a:rPr lang="en-US" altLang="zh-CN" dirty="0"/>
              <a:t>rule-config(6090)               </a:t>
            </a:r>
            <a:r>
              <a:rPr lang="zh-CN" altLang="en-US" dirty="0"/>
              <a:t>告警规则配置</a:t>
            </a:r>
            <a:endParaRPr lang="en-US" altLang="zh-CN" dirty="0"/>
          </a:p>
          <a:p>
            <a:r>
              <a:rPr lang="en-US" altLang="zh-CN" dirty="0" err="1"/>
              <a:t>thanos</a:t>
            </a:r>
            <a:r>
              <a:rPr lang="en-US" altLang="zh-CN" dirty="0"/>
              <a:t>- ruler(10802)         </a:t>
            </a:r>
            <a:r>
              <a:rPr lang="zh-CN" altLang="en-US" dirty="0"/>
              <a:t>告警规则计算</a:t>
            </a:r>
            <a:endParaRPr lang="en-US" altLang="zh-CN" sz="2400" dirty="0">
              <a:solidFill>
                <a:srgbClr val="393939"/>
              </a:solidFill>
              <a:latin typeface=".SFNSText"/>
              <a:ea typeface="宋体" panose="02010600030101010101" pitchFamily="2" charset="-122"/>
              <a:cs typeface="宋体" panose="02010600030101010101" pitchFamily="2" charset="-122"/>
            </a:endParaRPr>
          </a:p>
          <a:p>
            <a:endParaRPr lang="en-US" altLang="zh-CN" sz="2400" dirty="0">
              <a:solidFill>
                <a:srgbClr val="393939"/>
              </a:solidFill>
              <a:latin typeface=".SFNSText"/>
              <a:ea typeface="宋体" panose="02010600030101010101" pitchFamily="2" charset="-122"/>
              <a:cs typeface="宋体" panose="02010600030101010101" pitchFamily="2" charset="-122"/>
            </a:endParaRPr>
          </a:p>
        </p:txBody>
      </p:sp>
    </p:spTree>
    <p:extLst>
      <p:ext uri="{BB962C8B-B14F-4D97-AF65-F5344CB8AC3E}">
        <p14:creationId xmlns:p14="http://schemas.microsoft.com/office/powerpoint/2010/main" val="7363102"/>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 name="文本框 3"/>
          <p:cNvSpPr txBox="1"/>
          <p:nvPr/>
        </p:nvSpPr>
        <p:spPr>
          <a:xfrm>
            <a:off x="231708" y="1332280"/>
            <a:ext cx="1030515" cy="3154710"/>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defRPr sz="19900" spc="300">
                <a:solidFill>
                  <a:srgbClr val="FFFFFF"/>
                </a:solidFill>
                <a:latin typeface="Impact"/>
                <a:ea typeface="Impact"/>
                <a:cs typeface="Impact"/>
                <a:sym typeface="Impact"/>
              </a:defRPr>
            </a:lvl1pPr>
          </a:lstStyle>
          <a:p>
            <a:r>
              <a:rPr lang="en-US" altLang="zh-CN" dirty="0"/>
              <a:t>3</a:t>
            </a:r>
            <a:endParaRPr dirty="0"/>
          </a:p>
        </p:txBody>
      </p:sp>
      <p:sp>
        <p:nvSpPr>
          <p:cNvPr id="156" name="文本框 4"/>
          <p:cNvSpPr txBox="1"/>
          <p:nvPr/>
        </p:nvSpPr>
        <p:spPr>
          <a:xfrm>
            <a:off x="3493256" y="2579616"/>
            <a:ext cx="2708432" cy="1569660"/>
          </a:xfrm>
          <a:prstGeom prst="rect">
            <a:avLst/>
          </a:prstGeom>
          <a:ln w="12700">
            <a:miter lim="400000"/>
          </a:ln>
          <a:extLst>
            <a:ext uri="{C572A759-6A51-4108-AA02-DFA0A04FC94B}">
              <ma14:wrappingTextBoxFlag xmlns:ma14="http://schemas.microsoft.com/office/mac/drawingml/2011/main" xmlns="" val="1"/>
            </a:ext>
          </a:extLst>
        </p:spPr>
        <p:txBody>
          <a:bodyPr wrap="none" lIns="45719" rIns="45719">
            <a:spAutoFit/>
          </a:bodyPr>
          <a:lstStyle/>
          <a:p>
            <a:pPr>
              <a:defRPr sz="4800" spc="300">
                <a:solidFill>
                  <a:srgbClr val="FFFFFF"/>
                </a:solidFill>
                <a:latin typeface="思源黑体"/>
                <a:ea typeface="思源黑体"/>
                <a:cs typeface="思源黑体"/>
                <a:sym typeface="思源黑体"/>
              </a:defRPr>
            </a:pPr>
            <a:r>
              <a:rPr lang="zh-CN" altLang="en-US" dirty="0">
                <a:latin typeface="微软雅黑" panose="020B0503020204020204" pitchFamily="34" charset="-122"/>
                <a:ea typeface="微软雅黑" panose="020B0503020204020204" pitchFamily="34" charset="-122"/>
              </a:rPr>
              <a:t>集群运维</a:t>
            </a:r>
            <a:endParaRPr lang="en-US" altLang="zh-CN" dirty="0">
              <a:latin typeface="微软雅黑" panose="020B0503020204020204" pitchFamily="34" charset="-122"/>
              <a:ea typeface="微软雅黑" panose="020B0503020204020204" pitchFamily="34" charset="-122"/>
            </a:endParaRPr>
          </a:p>
          <a:p>
            <a:pPr>
              <a:defRPr sz="4800" spc="300">
                <a:solidFill>
                  <a:srgbClr val="FFFFFF"/>
                </a:solidFill>
                <a:latin typeface="思源黑体"/>
                <a:ea typeface="思源黑体"/>
                <a:cs typeface="思源黑体"/>
                <a:sym typeface="思源黑体"/>
              </a:defRPr>
            </a:pPr>
            <a:endParaRPr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235696870"/>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标题 1">
            <a:extLst>
              <a:ext uri="{FF2B5EF4-FFF2-40B4-BE49-F238E27FC236}">
                <a16:creationId xmlns:a16="http://schemas.microsoft.com/office/drawing/2014/main" id="{D4AA5856-8FF1-4206-95F6-37FBDC9AA8A2}"/>
              </a:ext>
            </a:extLst>
          </p:cNvPr>
          <p:cNvSpPr txBox="1">
            <a:spLocks/>
          </p:cNvSpPr>
          <p:nvPr/>
        </p:nvSpPr>
        <p:spPr>
          <a:xfrm>
            <a:off x="158707" y="113573"/>
            <a:ext cx="10368440" cy="1080031"/>
          </a:xfrm>
          <a:prstGeom prst="rect">
            <a:avLst/>
          </a:prstGeom>
          <a:ln w="12700">
            <a:miter lim="400000"/>
          </a:ln>
          <a:extLst>
            <a:ext uri="{C572A759-6A51-4108-AA02-DFA0A04FC94B}">
              <ma14:wrappingTextBoxFlag xmlns:ma14="http://schemas.microsoft.com/office/mac/drawingml/2011/main" xmlns="" val="1"/>
            </a:ext>
          </a:extLst>
        </p:spPr>
        <p:txBody>
          <a:bodyPr lIns="45719" rIns="45719" anchor="ctr">
            <a:normAutofit/>
          </a:bodyPr>
          <a:lstStyle>
            <a:lvl1pPr marL="0" marR="0" indent="0" algn="ctr" defTabSz="457200" rtl="0" eaLnBrk="1" latinLnBrk="0" hangingPunct="1">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Calibri"/>
                <a:ea typeface="Calibri"/>
                <a:cs typeface="Calibri"/>
                <a:sym typeface="Calibri"/>
              </a:defRPr>
            </a:lvl1pPr>
            <a:lvl2pPr marL="0" marR="0" indent="0" algn="ctr" defTabSz="457200" rtl="0" eaLnBrk="1" latinLnBrk="0" hangingPunct="1">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Calibri"/>
                <a:ea typeface="Calibri"/>
                <a:cs typeface="Calibri"/>
                <a:sym typeface="Calibri"/>
              </a:defRPr>
            </a:lvl2pPr>
            <a:lvl3pPr marL="0" marR="0" indent="0" algn="ctr" defTabSz="457200" rtl="0" eaLnBrk="1" latinLnBrk="0" hangingPunct="1">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Calibri"/>
                <a:ea typeface="Calibri"/>
                <a:cs typeface="Calibri"/>
                <a:sym typeface="Calibri"/>
              </a:defRPr>
            </a:lvl3pPr>
            <a:lvl4pPr marL="0" marR="0" indent="0" algn="ctr" defTabSz="457200" rtl="0" eaLnBrk="1" latinLnBrk="0" hangingPunct="1">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Calibri"/>
                <a:ea typeface="Calibri"/>
                <a:cs typeface="Calibri"/>
                <a:sym typeface="Calibri"/>
              </a:defRPr>
            </a:lvl4pPr>
            <a:lvl5pPr marL="0" marR="0" indent="0" algn="ctr" defTabSz="457200" rtl="0" eaLnBrk="1" latinLnBrk="0" hangingPunct="1">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Calibri"/>
                <a:ea typeface="Calibri"/>
                <a:cs typeface="Calibri"/>
                <a:sym typeface="Calibri"/>
              </a:defRPr>
            </a:lvl5pPr>
            <a:lvl6pPr marL="0" marR="0" indent="0" algn="ctr" defTabSz="457200" rtl="0" eaLnBrk="1" latinLnBrk="0" hangingPunct="1">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Calibri"/>
                <a:ea typeface="Calibri"/>
                <a:cs typeface="Calibri"/>
                <a:sym typeface="Calibri"/>
              </a:defRPr>
            </a:lvl6pPr>
            <a:lvl7pPr marL="0" marR="0" indent="0" algn="ctr" defTabSz="457200" rtl="0" eaLnBrk="1" latinLnBrk="0" hangingPunct="1">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Calibri"/>
                <a:ea typeface="Calibri"/>
                <a:cs typeface="Calibri"/>
                <a:sym typeface="Calibri"/>
              </a:defRPr>
            </a:lvl7pPr>
            <a:lvl8pPr marL="0" marR="0" indent="0" algn="ctr" defTabSz="457200" rtl="0" eaLnBrk="1" latinLnBrk="0" hangingPunct="1">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Calibri"/>
                <a:ea typeface="Calibri"/>
                <a:cs typeface="Calibri"/>
                <a:sym typeface="Calibri"/>
              </a:defRPr>
            </a:lvl8pPr>
            <a:lvl9pPr marL="0" marR="0" indent="0" algn="ctr" defTabSz="457200" rtl="0" eaLnBrk="1" latinLnBrk="0" hangingPunct="1">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Calibri"/>
                <a:ea typeface="Calibri"/>
                <a:cs typeface="Calibri"/>
                <a:sym typeface="Calibri"/>
              </a:defRPr>
            </a:lvl9pPr>
          </a:lstStyle>
          <a:p>
            <a:pPr algn="l"/>
            <a:r>
              <a:rPr lang="zh-CN" altLang="en-US" sz="2800" b="1" dirty="0">
                <a:latin typeface="微软雅黑" panose="020B0503020204020204" pitchFamily="34" charset="-122"/>
                <a:ea typeface="微软雅黑" panose="020B0503020204020204" pitchFamily="34" charset="-122"/>
              </a:rPr>
              <a:t>自监控</a:t>
            </a:r>
          </a:p>
        </p:txBody>
      </p:sp>
      <p:sp>
        <p:nvSpPr>
          <p:cNvPr id="2" name="矩形 1">
            <a:extLst>
              <a:ext uri="{FF2B5EF4-FFF2-40B4-BE49-F238E27FC236}">
                <a16:creationId xmlns:a16="http://schemas.microsoft.com/office/drawing/2014/main" id="{A040C039-8991-4D52-9EB1-DDCDF4AF5162}"/>
              </a:ext>
            </a:extLst>
          </p:cNvPr>
          <p:cNvSpPr/>
          <p:nvPr/>
        </p:nvSpPr>
        <p:spPr>
          <a:xfrm>
            <a:off x="543464" y="1319842"/>
            <a:ext cx="8095711" cy="2677656"/>
          </a:xfrm>
          <a:prstGeom prst="rect">
            <a:avLst/>
          </a:prstGeom>
        </p:spPr>
        <p:txBody>
          <a:bodyPr wrap="square">
            <a:spAutoFit/>
          </a:bodyPr>
          <a:lstStyle/>
          <a:p>
            <a:r>
              <a:rPr lang="zh-CN" altLang="en-US" sz="2400" dirty="0">
                <a:solidFill>
                  <a:srgbClr val="393939"/>
                </a:solidFill>
                <a:latin typeface=".SFNSText"/>
                <a:ea typeface="宋体" panose="02010600030101010101" pitchFamily="2" charset="-122"/>
                <a:cs typeface="宋体" panose="02010600030101010101" pitchFamily="2" charset="-122"/>
              </a:rPr>
              <a:t>监控配置：</a:t>
            </a:r>
            <a:endParaRPr lang="en-US" altLang="zh-CN" sz="2400" dirty="0">
              <a:solidFill>
                <a:srgbClr val="393939"/>
              </a:solidFill>
              <a:latin typeface=".SFNSText"/>
              <a:ea typeface="宋体" panose="02010600030101010101" pitchFamily="2" charset="-122"/>
              <a:cs typeface="宋体" panose="02010600030101010101" pitchFamily="2" charset="-122"/>
            </a:endParaRPr>
          </a:p>
          <a:p>
            <a:endParaRPr lang="en-US" altLang="zh-CN" sz="2400" dirty="0">
              <a:solidFill>
                <a:srgbClr val="393939"/>
              </a:solidFill>
              <a:latin typeface=".SFNSText"/>
              <a:ea typeface="宋体" panose="02010600030101010101" pitchFamily="2" charset="-122"/>
              <a:cs typeface="宋体" panose="02010600030101010101" pitchFamily="2" charset="-122"/>
            </a:endParaRPr>
          </a:p>
          <a:p>
            <a:r>
              <a:rPr lang="zh-CN" altLang="en-US" sz="2400" dirty="0">
                <a:solidFill>
                  <a:srgbClr val="393939"/>
                </a:solidFill>
                <a:latin typeface=".SFNSText"/>
                <a:ea typeface="宋体" panose="02010600030101010101" pitchFamily="2" charset="-122"/>
                <a:cs typeface="宋体" panose="02010600030101010101" pitchFamily="2" charset="-122"/>
              </a:rPr>
              <a:t>所有节点的</a:t>
            </a:r>
            <a:r>
              <a:rPr lang="en-US" altLang="zh-CN" sz="2400" dirty="0" err="1">
                <a:solidFill>
                  <a:srgbClr val="393939"/>
                </a:solidFill>
                <a:latin typeface=".SFNSText"/>
                <a:ea typeface="宋体" panose="02010600030101010101" pitchFamily="2" charset="-122"/>
                <a:cs typeface="宋体" panose="02010600030101010101" pitchFamily="2" charset="-122"/>
              </a:rPr>
              <a:t>cpu</a:t>
            </a:r>
            <a:r>
              <a:rPr lang="en-US" altLang="zh-CN" sz="2400" dirty="0">
                <a:solidFill>
                  <a:srgbClr val="393939"/>
                </a:solidFill>
                <a:latin typeface=".SFNSText"/>
                <a:ea typeface="宋体" panose="02010600030101010101" pitchFamily="2" charset="-122"/>
                <a:cs typeface="宋体" panose="02010600030101010101" pitchFamily="2" charset="-122"/>
              </a:rPr>
              <a:t>/</a:t>
            </a:r>
            <a:r>
              <a:rPr lang="zh-CN" altLang="en-US" sz="2400" dirty="0">
                <a:solidFill>
                  <a:srgbClr val="393939"/>
                </a:solidFill>
                <a:latin typeface=".SFNSText"/>
                <a:ea typeface="宋体" panose="02010600030101010101" pitchFamily="2" charset="-122"/>
                <a:cs typeface="宋体" panose="02010600030101010101" pitchFamily="2" charset="-122"/>
              </a:rPr>
              <a:t>内存</a:t>
            </a:r>
            <a:r>
              <a:rPr lang="en-US" altLang="zh-CN" sz="2400" dirty="0">
                <a:solidFill>
                  <a:srgbClr val="393939"/>
                </a:solidFill>
                <a:latin typeface=".SFNSText"/>
                <a:ea typeface="宋体" panose="02010600030101010101" pitchFamily="2" charset="-122"/>
                <a:cs typeface="宋体" panose="02010600030101010101" pitchFamily="2" charset="-122"/>
              </a:rPr>
              <a:t>/</a:t>
            </a:r>
            <a:r>
              <a:rPr lang="zh-CN" altLang="en-US" sz="2400" dirty="0">
                <a:solidFill>
                  <a:srgbClr val="393939"/>
                </a:solidFill>
                <a:latin typeface=".SFNSText"/>
                <a:ea typeface="宋体" panose="02010600030101010101" pitchFamily="2" charset="-122"/>
                <a:cs typeface="宋体" panose="02010600030101010101" pitchFamily="2" charset="-122"/>
              </a:rPr>
              <a:t>磁盘使用率</a:t>
            </a:r>
            <a:endParaRPr lang="en-US" altLang="zh-CN" sz="2400" dirty="0">
              <a:solidFill>
                <a:srgbClr val="393939"/>
              </a:solidFill>
              <a:latin typeface=".SFNSText"/>
              <a:ea typeface="宋体" panose="02010600030101010101" pitchFamily="2" charset="-122"/>
              <a:cs typeface="宋体" panose="02010600030101010101" pitchFamily="2" charset="-122"/>
            </a:endParaRPr>
          </a:p>
          <a:p>
            <a:r>
              <a:rPr lang="zh-CN" altLang="en-US" sz="2400" dirty="0">
                <a:solidFill>
                  <a:srgbClr val="393939"/>
                </a:solidFill>
                <a:latin typeface=".SFNSText"/>
                <a:ea typeface="宋体" panose="02010600030101010101" pitchFamily="2" charset="-122"/>
                <a:cs typeface="宋体" panose="02010600030101010101" pitchFamily="2" charset="-122"/>
              </a:rPr>
              <a:t>各个节点的服务状态</a:t>
            </a:r>
            <a:r>
              <a:rPr lang="en-US" altLang="zh-CN" sz="2400" dirty="0">
                <a:solidFill>
                  <a:srgbClr val="393939"/>
                </a:solidFill>
                <a:latin typeface=".SFNSText"/>
                <a:ea typeface="宋体" panose="02010600030101010101" pitchFamily="2" charset="-122"/>
                <a:cs typeface="宋体" panose="02010600030101010101" pitchFamily="2" charset="-122"/>
              </a:rPr>
              <a:t> </a:t>
            </a:r>
          </a:p>
          <a:p>
            <a:endParaRPr lang="en-US" altLang="zh-CN" sz="2400" dirty="0">
              <a:solidFill>
                <a:srgbClr val="393939"/>
              </a:solidFill>
              <a:latin typeface=".SFNSText"/>
              <a:ea typeface="宋体" panose="02010600030101010101" pitchFamily="2" charset="-122"/>
              <a:cs typeface="宋体" panose="02010600030101010101" pitchFamily="2" charset="-122"/>
            </a:endParaRPr>
          </a:p>
          <a:p>
            <a:endParaRPr lang="en-US" altLang="zh-CN" sz="2400" dirty="0">
              <a:solidFill>
                <a:srgbClr val="393939"/>
              </a:solidFill>
              <a:latin typeface=".SFNSText"/>
              <a:ea typeface="宋体" panose="02010600030101010101" pitchFamily="2" charset="-122"/>
              <a:cs typeface="宋体" panose="02010600030101010101" pitchFamily="2" charset="-122"/>
            </a:endParaRPr>
          </a:p>
          <a:p>
            <a:r>
              <a:rPr lang="zh-CN" altLang="en-US" sz="2400" dirty="0">
                <a:solidFill>
                  <a:srgbClr val="393939"/>
                </a:solidFill>
                <a:latin typeface=".SFNSText"/>
                <a:ea typeface="宋体" panose="02010600030101010101" pitchFamily="2" charset="-122"/>
                <a:cs typeface="宋体" panose="02010600030101010101" pitchFamily="2" charset="-122"/>
              </a:rPr>
              <a:t>使用碧桂园的</a:t>
            </a:r>
            <a:r>
              <a:rPr lang="en-US" altLang="zh-CN" sz="2400" dirty="0" err="1">
                <a:solidFill>
                  <a:srgbClr val="393939"/>
                </a:solidFill>
                <a:latin typeface=".SFNSText"/>
                <a:ea typeface="宋体" panose="02010600030101010101" pitchFamily="2" charset="-122"/>
                <a:cs typeface="宋体" panose="02010600030101010101" pitchFamily="2" charset="-122"/>
              </a:rPr>
              <a:t>zabbix</a:t>
            </a:r>
            <a:r>
              <a:rPr lang="zh-CN" altLang="en-US" sz="2400" dirty="0">
                <a:solidFill>
                  <a:srgbClr val="393939"/>
                </a:solidFill>
                <a:latin typeface=".SFNSText"/>
                <a:ea typeface="宋体" panose="02010600030101010101" pitchFamily="2" charset="-122"/>
                <a:cs typeface="宋体" panose="02010600030101010101" pitchFamily="2" charset="-122"/>
              </a:rPr>
              <a:t>对以上服务进行监控</a:t>
            </a:r>
            <a:endParaRPr lang="en-US" altLang="zh-CN" sz="2400" dirty="0">
              <a:solidFill>
                <a:srgbClr val="393939"/>
              </a:solidFill>
              <a:latin typeface=".SFNSText"/>
              <a:ea typeface="宋体" panose="02010600030101010101" pitchFamily="2" charset="-122"/>
              <a:cs typeface="宋体" panose="02010600030101010101" pitchFamily="2" charset="-122"/>
            </a:endParaRPr>
          </a:p>
        </p:txBody>
      </p:sp>
    </p:spTree>
    <p:extLst>
      <p:ext uri="{BB962C8B-B14F-4D97-AF65-F5344CB8AC3E}">
        <p14:creationId xmlns:p14="http://schemas.microsoft.com/office/powerpoint/2010/main" val="2943638098"/>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标题 1"/>
          <p:cNvSpPr>
            <a:spLocks noGrp="1"/>
          </p:cNvSpPr>
          <p:nvPr>
            <p:ph type="title"/>
          </p:nvPr>
        </p:nvSpPr>
        <p:spPr>
          <a:xfrm>
            <a:off x="397326" y="54787"/>
            <a:ext cx="10547139" cy="1080031"/>
          </a:xfrm>
        </p:spPr>
        <p:txBody>
          <a:bodyPr>
            <a:normAutofit/>
          </a:bodyPr>
          <a:lstStyle/>
          <a:p>
            <a:pPr algn="l"/>
            <a:r>
              <a:rPr lang="zh-CN" altLang="en-US" sz="2800" b="1" dirty="0">
                <a:latin typeface="微软雅黑" panose="020B0503020204020204" pitchFamily="34" charset="-122"/>
                <a:ea typeface="微软雅黑" panose="020B0503020204020204" pitchFamily="34" charset="-122"/>
              </a:rPr>
              <a:t>常规运维操作</a:t>
            </a:r>
          </a:p>
        </p:txBody>
      </p:sp>
      <p:sp>
        <p:nvSpPr>
          <p:cNvPr id="3" name="文本框 4"/>
          <p:cNvSpPr txBox="1"/>
          <p:nvPr/>
        </p:nvSpPr>
        <p:spPr>
          <a:xfrm>
            <a:off x="6544235" y="997487"/>
            <a:ext cx="4398640" cy="1213730"/>
          </a:xfrm>
          <a:prstGeom prst="rect">
            <a:avLst/>
          </a:prstGeom>
          <a:ln w="12700">
            <a:miter lim="400000"/>
          </a:ln>
          <a:extLst>
            <a:ext uri="{C572A759-6A51-4108-AA02-DFA0A04FC94B}">
              <ma14:wrappingTextBoxFlag xmlns="" xmlns:ma14="http://schemas.microsoft.com/office/mac/drawingml/2011/main" val="1"/>
            </a:ext>
          </a:extLst>
        </p:spPr>
        <p:txBody>
          <a:bodyPr wrap="square" lIns="45719" rIns="45719">
            <a:spAutoFit/>
          </a:bodyPr>
          <a:lstStyle/>
          <a:p>
            <a:pPr>
              <a:lnSpc>
                <a:spcPct val="140000"/>
              </a:lnSpc>
              <a:defRPr sz="2400" spc="300">
                <a:latin typeface="思源黑体"/>
                <a:ea typeface="思源黑体"/>
                <a:cs typeface="思源黑体"/>
                <a:sym typeface="思源黑体"/>
              </a:defRPr>
            </a:pPr>
            <a:endParaRPr lang="en-US" altLang="zh-CN" sz="1800" dirty="0">
              <a:latin typeface="微软雅黑" panose="020B0503020204020204" pitchFamily="34" charset="-122"/>
              <a:ea typeface="微软雅黑" panose="020B0503020204020204" pitchFamily="34" charset="-122"/>
            </a:endParaRPr>
          </a:p>
          <a:p>
            <a:pPr>
              <a:lnSpc>
                <a:spcPct val="140000"/>
              </a:lnSpc>
              <a:defRPr sz="2400" spc="300">
                <a:latin typeface="思源黑体"/>
                <a:ea typeface="思源黑体"/>
                <a:cs typeface="思源黑体"/>
                <a:sym typeface="思源黑体"/>
              </a:defRPr>
            </a:pPr>
            <a:endParaRPr lang="en-US" altLang="zh-CN" sz="1800" dirty="0">
              <a:latin typeface="微软雅黑" panose="020B0503020204020204" pitchFamily="34" charset="-122"/>
              <a:ea typeface="微软雅黑" panose="020B0503020204020204" pitchFamily="34" charset="-122"/>
            </a:endParaRPr>
          </a:p>
          <a:p>
            <a:pPr>
              <a:lnSpc>
                <a:spcPct val="140000"/>
              </a:lnSpc>
              <a:defRPr sz="2400" spc="300">
                <a:latin typeface="思源黑体"/>
                <a:ea typeface="思源黑体"/>
                <a:cs typeface="思源黑体"/>
                <a:sym typeface="思源黑体"/>
              </a:defRPr>
            </a:pPr>
            <a:r>
              <a:rPr lang="en-US" altLang="zh-CN" sz="1800" dirty="0">
                <a:latin typeface="微软雅黑" panose="020B0503020204020204" pitchFamily="34" charset="-122"/>
                <a:ea typeface="微软雅黑" panose="020B0503020204020204" pitchFamily="34" charset="-122"/>
              </a:rPr>
              <a:t> </a:t>
            </a:r>
          </a:p>
        </p:txBody>
      </p:sp>
      <p:sp>
        <p:nvSpPr>
          <p:cNvPr id="4" name="矩形 3">
            <a:extLst>
              <a:ext uri="{FF2B5EF4-FFF2-40B4-BE49-F238E27FC236}">
                <a16:creationId xmlns:a16="http://schemas.microsoft.com/office/drawing/2014/main" id="{EFB9A016-508F-4B4F-A9ED-BC4F7AAD3CF3}"/>
              </a:ext>
            </a:extLst>
          </p:cNvPr>
          <p:cNvSpPr/>
          <p:nvPr/>
        </p:nvSpPr>
        <p:spPr>
          <a:xfrm>
            <a:off x="397326" y="1069675"/>
            <a:ext cx="10368440" cy="307777"/>
          </a:xfrm>
          <a:prstGeom prst="rect">
            <a:avLst/>
          </a:prstGeom>
        </p:spPr>
        <p:txBody>
          <a:bodyPr wrap="square">
            <a:spAutoFit/>
          </a:bodyPr>
          <a:lstStyle/>
          <a:p>
            <a:endParaRPr lang="zh-CN" altLang="en-US" sz="1400" dirty="0">
              <a:solidFill>
                <a:srgbClr val="172B4D"/>
              </a:solidFill>
              <a:latin typeface="-apple-system"/>
            </a:endParaRPr>
          </a:p>
        </p:txBody>
      </p:sp>
      <p:sp>
        <p:nvSpPr>
          <p:cNvPr id="5" name="矩形 4">
            <a:extLst>
              <a:ext uri="{FF2B5EF4-FFF2-40B4-BE49-F238E27FC236}">
                <a16:creationId xmlns:a16="http://schemas.microsoft.com/office/drawing/2014/main" id="{874A2FB8-D08A-4148-9C13-4B0C21585C91}"/>
              </a:ext>
            </a:extLst>
          </p:cNvPr>
          <p:cNvSpPr/>
          <p:nvPr/>
        </p:nvSpPr>
        <p:spPr>
          <a:xfrm>
            <a:off x="397326" y="1069675"/>
            <a:ext cx="10632324" cy="4801314"/>
          </a:xfrm>
          <a:prstGeom prst="rect">
            <a:avLst/>
          </a:prstGeom>
        </p:spPr>
        <p:txBody>
          <a:bodyPr wrap="square">
            <a:spAutoFit/>
          </a:bodyPr>
          <a:lstStyle/>
          <a:p>
            <a:r>
              <a:rPr lang="zh-CN" altLang="zh-CN" sz="1800" dirty="0">
                <a:solidFill>
                  <a:srgbClr val="DF402A"/>
                </a:solidFill>
                <a:latin typeface=".PingFangSC"/>
                <a:ea typeface="宋体" panose="02010600030101010101" pitchFamily="2" charset="-122"/>
                <a:cs typeface="宋体" panose="02010600030101010101" pitchFamily="2" charset="-122"/>
              </a:rPr>
              <a:t>注册监控</a:t>
            </a:r>
            <a:r>
              <a:rPr lang="en-US" altLang="zh-CN" sz="1800" dirty="0">
                <a:solidFill>
                  <a:srgbClr val="DF402A"/>
                </a:solidFill>
                <a:latin typeface=".PingFangSC"/>
                <a:ea typeface="宋体" panose="02010600030101010101" pitchFamily="2" charset="-122"/>
                <a:cs typeface="宋体" panose="02010600030101010101" pitchFamily="2" charset="-122"/>
              </a:rPr>
              <a:t>:</a:t>
            </a:r>
            <a:endParaRPr lang="zh-CN" altLang="zh-CN" sz="1800" dirty="0">
              <a:latin typeface="宋体" panose="02010600030101010101" pitchFamily="2" charset="-122"/>
              <a:ea typeface="宋体" panose="02010600030101010101" pitchFamily="2" charset="-122"/>
              <a:cs typeface="宋体" panose="02010600030101010101" pitchFamily="2" charset="-122"/>
            </a:endParaRPr>
          </a:p>
          <a:p>
            <a:r>
              <a:rPr lang="zh-CN" altLang="zh-CN" sz="1800" dirty="0">
                <a:solidFill>
                  <a:srgbClr val="393939"/>
                </a:solidFill>
                <a:latin typeface=".PingFangSC"/>
                <a:ea typeface="宋体" panose="02010600030101010101" pitchFamily="2" charset="-122"/>
                <a:cs typeface="宋体" panose="02010600030101010101" pitchFamily="2" charset="-122"/>
              </a:rPr>
              <a:t>要看</a:t>
            </a:r>
            <a:r>
              <a:rPr lang="en-US" altLang="zh-CN" sz="1800" dirty="0" err="1">
                <a:solidFill>
                  <a:srgbClr val="393939"/>
                </a:solidFill>
                <a:latin typeface=".SFNSText"/>
                <a:ea typeface="宋体" panose="02010600030101010101" pitchFamily="2" charset="-122"/>
                <a:cs typeface="宋体" panose="02010600030101010101" pitchFamily="2" charset="-122"/>
              </a:rPr>
              <a:t>hercules</a:t>
            </a:r>
            <a:r>
              <a:rPr lang="zh-CN" altLang="zh-CN" sz="1800" dirty="0">
                <a:solidFill>
                  <a:srgbClr val="393939"/>
                </a:solidFill>
                <a:latin typeface=".PingFangSC"/>
                <a:ea typeface="宋体" panose="02010600030101010101" pitchFamily="2" charset="-122"/>
                <a:cs typeface="宋体" panose="02010600030101010101" pitchFamily="2" charset="-122"/>
              </a:rPr>
              <a:t>的</a:t>
            </a:r>
            <a:r>
              <a:rPr lang="en-US" altLang="zh-CN" sz="1800" dirty="0" err="1">
                <a:solidFill>
                  <a:srgbClr val="393939"/>
                </a:solidFill>
                <a:latin typeface=".SFNSText"/>
                <a:ea typeface="宋体" panose="02010600030101010101" pitchFamily="2" charset="-122"/>
                <a:cs typeface="宋体" panose="02010600030101010101" pitchFamily="2" charset="-122"/>
              </a:rPr>
              <a:t>cfg.json</a:t>
            </a:r>
            <a:r>
              <a:rPr lang="zh-CN" altLang="zh-CN" sz="1800" dirty="0">
                <a:solidFill>
                  <a:srgbClr val="393939"/>
                </a:solidFill>
                <a:latin typeface=".PingFangSC"/>
                <a:ea typeface="宋体" panose="02010600030101010101" pitchFamily="2" charset="-122"/>
                <a:cs typeface="宋体" panose="02010600030101010101" pitchFamily="2" charset="-122"/>
              </a:rPr>
              <a:t>上</a:t>
            </a:r>
            <a:r>
              <a:rPr lang="en-US" altLang="zh-CN" sz="1800" dirty="0" err="1">
                <a:solidFill>
                  <a:srgbClr val="393939"/>
                </a:solidFill>
                <a:latin typeface=".SFNSText"/>
                <a:ea typeface="宋体" panose="02010600030101010101" pitchFamily="2" charset="-122"/>
                <a:cs typeface="宋体" panose="02010600030101010101" pitchFamily="2" charset="-122"/>
              </a:rPr>
              <a:t>thanos</a:t>
            </a:r>
            <a:r>
              <a:rPr lang="zh-CN" altLang="zh-CN" sz="1800" dirty="0">
                <a:solidFill>
                  <a:srgbClr val="393939"/>
                </a:solidFill>
                <a:latin typeface=".PingFangSC"/>
                <a:ea typeface="宋体" panose="02010600030101010101" pitchFamily="2" charset="-122"/>
                <a:cs typeface="宋体" panose="02010600030101010101" pitchFamily="2" charset="-122"/>
              </a:rPr>
              <a:t>的</a:t>
            </a:r>
            <a:r>
              <a:rPr lang="en-US" altLang="zh-CN" sz="1800" dirty="0" err="1">
                <a:solidFill>
                  <a:srgbClr val="393939"/>
                </a:solidFill>
                <a:latin typeface=".SFNSText"/>
                <a:ea typeface="宋体" panose="02010600030101010101" pitchFamily="2" charset="-122"/>
                <a:cs typeface="宋体" panose="02010600030101010101" pitchFamily="2" charset="-122"/>
              </a:rPr>
              <a:t>register_targets</a:t>
            </a:r>
            <a:r>
              <a:rPr lang="zh-CN" altLang="zh-CN" sz="1800" dirty="0">
                <a:solidFill>
                  <a:srgbClr val="393939"/>
                </a:solidFill>
                <a:latin typeface=".PingFangSC"/>
                <a:ea typeface="宋体" panose="02010600030101010101" pitchFamily="2" charset="-122"/>
                <a:cs typeface="宋体" panose="02010600030101010101" pitchFamily="2" charset="-122"/>
              </a:rPr>
              <a:t>指向哪个</a:t>
            </a:r>
            <a:r>
              <a:rPr lang="en-US" altLang="zh-CN" sz="1800" dirty="0" err="1">
                <a:solidFill>
                  <a:srgbClr val="393939"/>
                </a:solidFill>
                <a:latin typeface=".SFNSText"/>
                <a:ea typeface="宋体" panose="02010600030101010101" pitchFamily="2" charset="-122"/>
                <a:cs typeface="宋体" panose="02010600030101010101" pitchFamily="2" charset="-122"/>
              </a:rPr>
              <a:t>prometheus</a:t>
            </a:r>
            <a:r>
              <a:rPr lang="zh-CN" altLang="zh-CN" sz="1800" dirty="0">
                <a:solidFill>
                  <a:srgbClr val="393939"/>
                </a:solidFill>
                <a:latin typeface=".PingFangSC"/>
                <a:ea typeface="宋体" panose="02010600030101010101" pitchFamily="2" charset="-122"/>
                <a:cs typeface="宋体" panose="02010600030101010101" pitchFamily="2" charset="-122"/>
              </a:rPr>
              <a:t>上</a:t>
            </a:r>
            <a:r>
              <a:rPr lang="zh-CN" altLang="zh-CN" sz="1800" dirty="0">
                <a:solidFill>
                  <a:srgbClr val="393939"/>
                </a:solidFill>
                <a:latin typeface="宋体" panose="02010600030101010101" pitchFamily="2" charset="-122"/>
                <a:ea typeface="微软雅黑" panose="020B0503020204020204" pitchFamily="34" charset="-122"/>
                <a:cs typeface="微软雅黑" panose="020B0503020204020204" pitchFamily="34" charset="-122"/>
              </a:rPr>
              <a:t>⾯</a:t>
            </a:r>
            <a:r>
              <a:rPr lang="zh-CN" altLang="zh-CN" sz="1800" dirty="0">
                <a:solidFill>
                  <a:srgbClr val="393939"/>
                </a:solidFill>
                <a:latin typeface="宋体" panose="02010600030101010101" pitchFamily="2" charset="-122"/>
                <a:ea typeface="宋体" panose="02010600030101010101" pitchFamily="2" charset="-122"/>
                <a:cs typeface="宋体" panose="02010600030101010101" pitchFamily="2" charset="-122"/>
              </a:rPr>
              <a:t>面写的哪个，</a:t>
            </a:r>
            <a:r>
              <a:rPr lang="zh-CN" altLang="zh-CN" sz="1800" dirty="0">
                <a:solidFill>
                  <a:srgbClr val="393939"/>
                </a:solidFill>
                <a:latin typeface="宋体" panose="02010600030101010101" pitchFamily="2" charset="-122"/>
                <a:ea typeface=".PingFangSC"/>
                <a:cs typeface="宋体" panose="02010600030101010101" pitchFamily="2" charset="-122"/>
              </a:rPr>
              <a:t> </a:t>
            </a:r>
            <a:r>
              <a:rPr lang="zh-CN" altLang="zh-CN" sz="1800" dirty="0">
                <a:solidFill>
                  <a:srgbClr val="393939"/>
                </a:solidFill>
                <a:latin typeface=".PingFangSC"/>
                <a:ea typeface="宋体" panose="02010600030101010101" pitchFamily="2" charset="-122"/>
                <a:cs typeface="宋体" panose="02010600030101010101" pitchFamily="2" charset="-122"/>
              </a:rPr>
              <a:t>就会注册监控到哪台</a:t>
            </a:r>
            <a:r>
              <a:rPr lang="en-US" altLang="zh-CN" sz="1800" dirty="0" err="1">
                <a:solidFill>
                  <a:srgbClr val="393939"/>
                </a:solidFill>
                <a:latin typeface=".SFNSText"/>
                <a:ea typeface="宋体" panose="02010600030101010101" pitchFamily="2" charset="-122"/>
                <a:cs typeface="宋体" panose="02010600030101010101" pitchFamily="2" charset="-122"/>
              </a:rPr>
              <a:t>prometheus</a:t>
            </a:r>
            <a:r>
              <a:rPr lang="zh-CN" altLang="zh-CN" sz="1800" dirty="0">
                <a:solidFill>
                  <a:srgbClr val="393939"/>
                </a:solidFill>
                <a:latin typeface=".PingFangSC"/>
                <a:ea typeface="宋体" panose="02010600030101010101" pitchFamily="2" charset="-122"/>
                <a:cs typeface="宋体" panose="02010600030101010101" pitchFamily="2" charset="-122"/>
              </a:rPr>
              <a:t>上。要注意那台机器器的内存和</a:t>
            </a:r>
            <a:r>
              <a:rPr lang="en-US" altLang="zh-CN" sz="1800" dirty="0">
                <a:solidFill>
                  <a:srgbClr val="393939"/>
                </a:solidFill>
                <a:latin typeface=".SFNSText"/>
                <a:ea typeface="宋体" panose="02010600030101010101" pitchFamily="2" charset="-122"/>
                <a:cs typeface="宋体" panose="02010600030101010101" pitchFamily="2" charset="-122"/>
              </a:rPr>
              <a:t>CPU</a:t>
            </a:r>
            <a:br>
              <a:rPr lang="en-US" altLang="zh-CN" sz="1800" dirty="0">
                <a:solidFill>
                  <a:srgbClr val="393939"/>
                </a:solidFill>
                <a:latin typeface=".SFNSText"/>
                <a:ea typeface="宋体" panose="02010600030101010101" pitchFamily="2" charset="-122"/>
                <a:cs typeface="宋体" panose="02010600030101010101" pitchFamily="2" charset="-122"/>
              </a:rPr>
            </a:br>
            <a:r>
              <a:rPr lang="zh-CN" altLang="zh-CN" sz="1800" dirty="0">
                <a:solidFill>
                  <a:srgbClr val="393939"/>
                </a:solidFill>
                <a:latin typeface=".PingFangSC"/>
                <a:ea typeface="宋体" panose="02010600030101010101" pitchFamily="2" charset="-122"/>
                <a:cs typeface="宋体" panose="02010600030101010101" pitchFamily="2" charset="-122"/>
              </a:rPr>
              <a:t>所以不不建议</a:t>
            </a:r>
            <a:r>
              <a:rPr lang="zh-CN" altLang="zh-CN" sz="1800" dirty="0">
                <a:solidFill>
                  <a:srgbClr val="393939"/>
                </a:solidFill>
                <a:latin typeface="宋体" panose="02010600030101010101" pitchFamily="2" charset="-122"/>
                <a:ea typeface="宋体" panose="02010600030101010101" pitchFamily="2" charset="-122"/>
                <a:cs typeface="宋体" panose="02010600030101010101" pitchFamily="2" charset="-122"/>
              </a:rPr>
              <a:t>大批量量注册，</a:t>
            </a:r>
            <a:r>
              <a:rPr lang="zh-CN" altLang="zh-CN" sz="1800" dirty="0">
                <a:solidFill>
                  <a:srgbClr val="393939"/>
                </a:solidFill>
                <a:latin typeface="宋体" panose="02010600030101010101" pitchFamily="2" charset="-122"/>
                <a:ea typeface=".PingFangSC"/>
                <a:cs typeface="宋体" panose="02010600030101010101" pitchFamily="2" charset="-122"/>
              </a:rPr>
              <a:t> </a:t>
            </a:r>
            <a:r>
              <a:rPr lang="zh-CN" altLang="zh-CN" sz="1800" dirty="0">
                <a:solidFill>
                  <a:srgbClr val="393939"/>
                </a:solidFill>
                <a:latin typeface=".PingFangSC"/>
                <a:ea typeface="宋体" panose="02010600030101010101" pitchFamily="2" charset="-122"/>
                <a:cs typeface="宋体" panose="02010600030101010101" pitchFamily="2" charset="-122"/>
              </a:rPr>
              <a:t>要注册</a:t>
            </a:r>
            <a:r>
              <a:rPr lang="zh-CN" altLang="zh-CN" sz="1800" dirty="0">
                <a:solidFill>
                  <a:srgbClr val="393939"/>
                </a:solidFill>
                <a:latin typeface="宋体" panose="02010600030101010101" pitchFamily="2" charset="-122"/>
                <a:ea typeface="宋体" panose="02010600030101010101" pitchFamily="2" charset="-122"/>
                <a:cs typeface="宋体" panose="02010600030101010101" pitchFamily="2" charset="-122"/>
              </a:rPr>
              <a:t>一批后看看</a:t>
            </a:r>
            <a:r>
              <a:rPr lang="en-US" altLang="zh-CN" sz="1800" dirty="0">
                <a:solidFill>
                  <a:srgbClr val="393939"/>
                </a:solidFill>
                <a:latin typeface=".SFNSText"/>
                <a:ea typeface="宋体" panose="02010600030101010101" pitchFamily="2" charset="-122"/>
                <a:cs typeface="宋体" panose="02010600030101010101" pitchFamily="2" charset="-122"/>
              </a:rPr>
              <a:t>CPU/</a:t>
            </a:r>
            <a:r>
              <a:rPr lang="zh-CN" altLang="zh-CN" sz="1800" dirty="0">
                <a:solidFill>
                  <a:srgbClr val="393939"/>
                </a:solidFill>
                <a:latin typeface=".PingFangSC"/>
                <a:ea typeface="宋体" panose="02010600030101010101" pitchFamily="2" charset="-122"/>
                <a:cs typeface="宋体" panose="02010600030101010101" pitchFamily="2" charset="-122"/>
              </a:rPr>
              <a:t>内存后再注册。</a:t>
            </a:r>
            <a:r>
              <a:rPr lang="zh-CN" altLang="zh-CN" sz="1800" dirty="0">
                <a:solidFill>
                  <a:srgbClr val="393939"/>
                </a:solidFill>
                <a:latin typeface="宋体" panose="02010600030101010101" pitchFamily="2" charset="-122"/>
                <a:ea typeface=".PingFangSC"/>
                <a:cs typeface="宋体" panose="02010600030101010101" pitchFamily="2" charset="-122"/>
              </a:rPr>
              <a:t> </a:t>
            </a:r>
            <a:r>
              <a:rPr lang="zh-CN" altLang="zh-CN" sz="1800" dirty="0">
                <a:solidFill>
                  <a:srgbClr val="393939"/>
                </a:solidFill>
                <a:latin typeface=".PingFangSC"/>
                <a:ea typeface="宋体" panose="02010600030101010101" pitchFamily="2" charset="-122"/>
                <a:cs typeface="宋体" panose="02010600030101010101" pitchFamily="2" charset="-122"/>
              </a:rPr>
              <a:t>如果那台机器器</a:t>
            </a:r>
            <a:r>
              <a:rPr lang="en-US" altLang="zh-CN" sz="1800" dirty="0">
                <a:solidFill>
                  <a:srgbClr val="393939"/>
                </a:solidFill>
                <a:latin typeface=".SFNSText"/>
                <a:ea typeface="宋体" panose="02010600030101010101" pitchFamily="2" charset="-122"/>
                <a:cs typeface="宋体" panose="02010600030101010101" pitchFamily="2" charset="-122"/>
              </a:rPr>
              <a:t>CPU</a:t>
            </a:r>
            <a:r>
              <a:rPr lang="zh-CN" altLang="zh-CN" sz="1800" dirty="0">
                <a:solidFill>
                  <a:srgbClr val="393939"/>
                </a:solidFill>
                <a:latin typeface=".PingFangSC"/>
                <a:ea typeface="宋体" panose="02010600030101010101" pitchFamily="2" charset="-122"/>
                <a:cs typeface="宋体" panose="02010600030101010101" pitchFamily="2" charset="-122"/>
              </a:rPr>
              <a:t>内存</a:t>
            </a:r>
            <a:r>
              <a:rPr lang="zh-CN" altLang="zh-CN" sz="1800" dirty="0">
                <a:solidFill>
                  <a:srgbClr val="393939"/>
                </a:solidFill>
                <a:latin typeface="宋体" panose="02010600030101010101" pitchFamily="2" charset="-122"/>
                <a:ea typeface="微软雅黑" panose="020B0503020204020204" pitchFamily="34" charset="-122"/>
                <a:cs typeface="微软雅黑" panose="020B0503020204020204" pitchFamily="34" charset="-122"/>
              </a:rPr>
              <a:t>⾼</a:t>
            </a:r>
            <a:r>
              <a:rPr lang="zh-CN" altLang="zh-CN" sz="1800" dirty="0">
                <a:solidFill>
                  <a:srgbClr val="393939"/>
                </a:solidFill>
                <a:latin typeface="宋体" panose="02010600030101010101" pitchFamily="2" charset="-122"/>
                <a:ea typeface="宋体" panose="02010600030101010101" pitchFamily="2" charset="-122"/>
                <a:cs typeface="宋体" panose="02010600030101010101" pitchFamily="2" charset="-122"/>
              </a:rPr>
              <a:t>高，可以</a:t>
            </a:r>
            <a:r>
              <a:rPr lang="en-US" altLang="zh-CN" sz="1800" dirty="0" err="1">
                <a:solidFill>
                  <a:srgbClr val="393939"/>
                </a:solidFill>
                <a:latin typeface=".SFNSText"/>
                <a:ea typeface="宋体" panose="02010600030101010101" pitchFamily="2" charset="-122"/>
                <a:cs typeface="宋体" panose="02010600030101010101" pitchFamily="2" charset="-122"/>
              </a:rPr>
              <a:t>hercules</a:t>
            </a:r>
            <a:r>
              <a:rPr lang="zh-CN" altLang="zh-CN" sz="1800" dirty="0">
                <a:solidFill>
                  <a:srgbClr val="393939"/>
                </a:solidFill>
                <a:latin typeface=".PingFangSC"/>
                <a:ea typeface="宋体" panose="02010600030101010101" pitchFamily="2" charset="-122"/>
                <a:cs typeface="宋体" panose="02010600030101010101" pitchFamily="2" charset="-122"/>
              </a:rPr>
              <a:t>改</a:t>
            </a:r>
            <a:r>
              <a:rPr lang="zh-CN" altLang="zh-CN" sz="1800" dirty="0">
                <a:solidFill>
                  <a:srgbClr val="393939"/>
                </a:solidFill>
                <a:latin typeface="宋体" panose="02010600030101010101" pitchFamily="2" charset="-122"/>
                <a:ea typeface="宋体" panose="02010600030101010101" pitchFamily="2" charset="-122"/>
                <a:cs typeface="宋体" panose="02010600030101010101" pitchFamily="2" charset="-122"/>
              </a:rPr>
              <a:t>一下</a:t>
            </a:r>
            <a:r>
              <a:rPr lang="en-US" altLang="zh-CN" sz="1800" dirty="0" err="1">
                <a:solidFill>
                  <a:srgbClr val="393939"/>
                </a:solidFill>
                <a:latin typeface=".SFNSText"/>
                <a:ea typeface="宋体" panose="02010600030101010101" pitchFamily="2" charset="-122"/>
                <a:cs typeface="宋体" panose="02010600030101010101" pitchFamily="2" charset="-122"/>
              </a:rPr>
              <a:t>register_targets</a:t>
            </a:r>
            <a:r>
              <a:rPr lang="zh-CN" altLang="zh-CN" sz="1800" dirty="0">
                <a:solidFill>
                  <a:srgbClr val="393939"/>
                </a:solidFill>
                <a:latin typeface=".PingFangSC"/>
                <a:ea typeface="宋体" panose="02010600030101010101" pitchFamily="2" charset="-122"/>
                <a:cs typeface="宋体" panose="02010600030101010101" pitchFamily="2" charset="-122"/>
              </a:rPr>
              <a:t>指向其他</a:t>
            </a:r>
            <a:r>
              <a:rPr lang="en-US" altLang="zh-CN" sz="1800" dirty="0">
                <a:solidFill>
                  <a:srgbClr val="393939"/>
                </a:solidFill>
                <a:latin typeface=".SFNSText"/>
                <a:ea typeface="宋体" panose="02010600030101010101" pitchFamily="2" charset="-122"/>
                <a:cs typeface="宋体" panose="02010600030101010101" pitchFamily="2" charset="-122"/>
              </a:rPr>
              <a:t>Prometheus</a:t>
            </a:r>
          </a:p>
          <a:p>
            <a:endParaRPr lang="zh-CN" altLang="zh-CN" sz="1800" dirty="0">
              <a:latin typeface="宋体" panose="02010600030101010101" pitchFamily="2" charset="-122"/>
              <a:ea typeface="宋体" panose="02010600030101010101" pitchFamily="2" charset="-122"/>
              <a:cs typeface="宋体" panose="02010600030101010101" pitchFamily="2" charset="-122"/>
            </a:endParaRPr>
          </a:p>
          <a:p>
            <a:r>
              <a:rPr lang="zh-CN" altLang="zh-CN" sz="1800" dirty="0">
                <a:solidFill>
                  <a:srgbClr val="DF402A"/>
                </a:solidFill>
                <a:latin typeface=".PingFangSC"/>
                <a:ea typeface="宋体" panose="02010600030101010101" pitchFamily="2" charset="-122"/>
                <a:cs typeface="宋体" panose="02010600030101010101" pitchFamily="2" charset="-122"/>
              </a:rPr>
              <a:t>取消监控</a:t>
            </a:r>
            <a:r>
              <a:rPr lang="en-US" altLang="zh-CN" sz="1800" dirty="0">
                <a:solidFill>
                  <a:srgbClr val="DF402A"/>
                </a:solidFill>
                <a:latin typeface=".PingFangSC"/>
                <a:ea typeface="宋体" panose="02010600030101010101" pitchFamily="2" charset="-122"/>
                <a:cs typeface="宋体" panose="02010600030101010101" pitchFamily="2" charset="-122"/>
              </a:rPr>
              <a:t>:</a:t>
            </a:r>
            <a:endParaRPr lang="zh-CN" altLang="zh-CN" sz="1800" dirty="0">
              <a:latin typeface="宋体" panose="02010600030101010101" pitchFamily="2" charset="-122"/>
              <a:ea typeface="宋体" panose="02010600030101010101" pitchFamily="2" charset="-122"/>
              <a:cs typeface="宋体" panose="02010600030101010101" pitchFamily="2" charset="-122"/>
            </a:endParaRPr>
          </a:p>
          <a:p>
            <a:r>
              <a:rPr lang="zh-CN" altLang="zh-CN" sz="1800" dirty="0">
                <a:solidFill>
                  <a:srgbClr val="393939"/>
                </a:solidFill>
                <a:latin typeface=".PingFangSC"/>
                <a:ea typeface="宋体" panose="02010600030101010101" pitchFamily="2" charset="-122"/>
                <a:cs typeface="宋体" panose="02010600030101010101" pitchFamily="2" charset="-122"/>
              </a:rPr>
              <a:t>如果</a:t>
            </a:r>
            <a:r>
              <a:rPr lang="zh-CN" altLang="zh-CN" sz="1800" dirty="0">
                <a:solidFill>
                  <a:srgbClr val="393939"/>
                </a:solidFill>
                <a:latin typeface="宋体" panose="02010600030101010101" pitchFamily="2" charset="-122"/>
                <a:ea typeface="微软雅黑" panose="020B0503020204020204" pitchFamily="34" charset="-122"/>
                <a:cs typeface="微软雅黑" panose="020B0503020204020204" pitchFamily="34" charset="-122"/>
              </a:rPr>
              <a:t>⼀</a:t>
            </a:r>
            <a:r>
              <a:rPr lang="zh-CN" altLang="zh-CN" sz="1800" dirty="0">
                <a:solidFill>
                  <a:srgbClr val="393939"/>
                </a:solidFill>
                <a:latin typeface="宋体" panose="02010600030101010101" pitchFamily="2" charset="-122"/>
                <a:ea typeface="宋体" panose="02010600030101010101" pitchFamily="2" charset="-122"/>
                <a:cs typeface="宋体" panose="02010600030101010101" pitchFamily="2" charset="-122"/>
              </a:rPr>
              <a:t>一台</a:t>
            </a:r>
            <a:r>
              <a:rPr lang="en-US" altLang="zh-CN" sz="1800" dirty="0" err="1">
                <a:solidFill>
                  <a:srgbClr val="393939"/>
                </a:solidFill>
                <a:latin typeface=".SFNSText"/>
                <a:ea typeface="宋体" panose="02010600030101010101" pitchFamily="2" charset="-122"/>
                <a:cs typeface="宋体" panose="02010600030101010101" pitchFamily="2" charset="-122"/>
              </a:rPr>
              <a:t>prometheus</a:t>
            </a:r>
            <a:r>
              <a:rPr lang="zh-CN" altLang="zh-CN" sz="1800" dirty="0">
                <a:solidFill>
                  <a:srgbClr val="393939"/>
                </a:solidFill>
                <a:latin typeface=".PingFangSC"/>
                <a:ea typeface="宋体" panose="02010600030101010101" pitchFamily="2" charset="-122"/>
                <a:cs typeface="宋体" panose="02010600030101010101" pitchFamily="2" charset="-122"/>
              </a:rPr>
              <a:t>内存</a:t>
            </a:r>
            <a:r>
              <a:rPr lang="en-US" altLang="zh-CN" sz="1800" dirty="0">
                <a:solidFill>
                  <a:srgbClr val="393939"/>
                </a:solidFill>
                <a:latin typeface=".SFNSText"/>
                <a:ea typeface="宋体" panose="02010600030101010101" pitchFamily="2" charset="-122"/>
                <a:cs typeface="宋体" panose="02010600030101010101" pitchFamily="2" charset="-122"/>
              </a:rPr>
              <a:t>/ CPU </a:t>
            </a:r>
            <a:r>
              <a:rPr lang="zh-CN" altLang="zh-CN" sz="1800" dirty="0">
                <a:solidFill>
                  <a:srgbClr val="393939"/>
                </a:solidFill>
                <a:latin typeface="宋体" panose="02010600030101010101" pitchFamily="2" charset="-122"/>
                <a:ea typeface="宋体" panose="02010600030101010101" pitchFamily="2" charset="-122"/>
                <a:cs typeface="宋体" panose="02010600030101010101" pitchFamily="2" charset="-122"/>
              </a:rPr>
              <a:t>高，</a:t>
            </a:r>
            <a:r>
              <a:rPr lang="zh-CN" altLang="zh-CN" sz="1800" dirty="0">
                <a:solidFill>
                  <a:srgbClr val="393939"/>
                </a:solidFill>
                <a:latin typeface="宋体" panose="02010600030101010101" pitchFamily="2" charset="-122"/>
                <a:ea typeface=".PingFangSC"/>
                <a:cs typeface="宋体" panose="02010600030101010101" pitchFamily="2" charset="-122"/>
              </a:rPr>
              <a:t> </a:t>
            </a:r>
            <a:r>
              <a:rPr lang="zh-CN" altLang="zh-CN" sz="1800" dirty="0">
                <a:solidFill>
                  <a:srgbClr val="393939"/>
                </a:solidFill>
                <a:latin typeface=".PingFangSC"/>
                <a:ea typeface="宋体" panose="02010600030101010101" pitchFamily="2" charset="-122"/>
                <a:cs typeface="宋体" panose="02010600030101010101" pitchFamily="2" charset="-122"/>
              </a:rPr>
              <a:t>可以取消注册</a:t>
            </a:r>
            <a:r>
              <a:rPr lang="zh-CN" altLang="zh-CN" sz="1800" dirty="0">
                <a:solidFill>
                  <a:srgbClr val="393939"/>
                </a:solidFill>
                <a:latin typeface="宋体" panose="02010600030101010101" pitchFamily="2" charset="-122"/>
                <a:ea typeface="宋体" panose="02010600030101010101" pitchFamily="2" charset="-122"/>
                <a:cs typeface="宋体" panose="02010600030101010101" pitchFamily="2" charset="-122"/>
              </a:rPr>
              <a:t>一些机器</a:t>
            </a:r>
            <a:r>
              <a:rPr lang="zh-CN" altLang="zh-CN" sz="1800" dirty="0">
                <a:solidFill>
                  <a:srgbClr val="393939"/>
                </a:solidFill>
                <a:latin typeface=".PingFangSC"/>
                <a:ea typeface="宋体" panose="02010600030101010101" pitchFamily="2" charset="-122"/>
                <a:cs typeface="宋体" panose="02010600030101010101" pitchFamily="2" charset="-122"/>
              </a:rPr>
              <a:t>然后再重新注册到其他</a:t>
            </a:r>
            <a:r>
              <a:rPr lang="en-US" altLang="zh-CN" sz="1800" dirty="0" err="1">
                <a:solidFill>
                  <a:srgbClr val="393939"/>
                </a:solidFill>
                <a:latin typeface=".SFNSText"/>
                <a:ea typeface="宋体" panose="02010600030101010101" pitchFamily="2" charset="-122"/>
                <a:cs typeface="宋体" panose="02010600030101010101" pitchFamily="2" charset="-122"/>
              </a:rPr>
              <a:t>prometheus</a:t>
            </a:r>
            <a:r>
              <a:rPr lang="zh-CN" altLang="zh-CN" sz="1800" dirty="0">
                <a:solidFill>
                  <a:srgbClr val="393939"/>
                </a:solidFill>
                <a:latin typeface=".PingFangSC"/>
                <a:ea typeface="宋体" panose="02010600030101010101" pitchFamily="2" charset="-122"/>
                <a:cs typeface="宋体" panose="02010600030101010101" pitchFamily="2" charset="-122"/>
              </a:rPr>
              <a:t>上</a:t>
            </a:r>
            <a:r>
              <a:rPr lang="en-US" altLang="zh-CN" sz="1800" dirty="0">
                <a:solidFill>
                  <a:srgbClr val="393939"/>
                </a:solidFill>
                <a:latin typeface=".PingFangSC"/>
                <a:ea typeface="宋体" panose="02010600030101010101" pitchFamily="2" charset="-122"/>
                <a:cs typeface="宋体" panose="02010600030101010101" pitchFamily="2" charset="-122"/>
              </a:rPr>
              <a:t/>
            </a:r>
            <a:br>
              <a:rPr lang="en-US" altLang="zh-CN" sz="1800" dirty="0">
                <a:solidFill>
                  <a:srgbClr val="393939"/>
                </a:solidFill>
                <a:latin typeface=".PingFangSC"/>
                <a:ea typeface="宋体" panose="02010600030101010101" pitchFamily="2" charset="-122"/>
                <a:cs typeface="宋体" panose="02010600030101010101" pitchFamily="2" charset="-122"/>
              </a:rPr>
            </a:br>
            <a:r>
              <a:rPr lang="zh-CN" altLang="zh-CN" sz="1800" dirty="0">
                <a:solidFill>
                  <a:srgbClr val="393939"/>
                </a:solidFill>
                <a:latin typeface=".PingFangSC"/>
                <a:ea typeface="宋体" panose="02010600030101010101" pitchFamily="2" charset="-122"/>
                <a:cs typeface="宋体" panose="02010600030101010101" pitchFamily="2" charset="-122"/>
              </a:rPr>
              <a:t>可以看那台机器器</a:t>
            </a:r>
            <a:r>
              <a:rPr lang="en-US" altLang="zh-CN" sz="1800" dirty="0" err="1">
                <a:solidFill>
                  <a:srgbClr val="393939"/>
                </a:solidFill>
                <a:latin typeface=".SFNSText"/>
                <a:ea typeface="宋体" panose="02010600030101010101" pitchFamily="2" charset="-122"/>
                <a:cs typeface="宋体" panose="02010600030101010101" pitchFamily="2" charset="-122"/>
              </a:rPr>
              <a:t>prometheus</a:t>
            </a:r>
            <a:r>
              <a:rPr lang="zh-CN" altLang="zh-CN" sz="1800" dirty="0">
                <a:solidFill>
                  <a:srgbClr val="393939"/>
                </a:solidFill>
                <a:latin typeface=".PingFangSC"/>
                <a:ea typeface="宋体" panose="02010600030101010101" pitchFamily="2" charset="-122"/>
                <a:cs typeface="宋体" panose="02010600030101010101" pitchFamily="2" charset="-122"/>
              </a:rPr>
              <a:t>原</a:t>
            </a:r>
            <a:r>
              <a:rPr lang="zh-CN" altLang="zh-CN" sz="1800" dirty="0">
                <a:solidFill>
                  <a:srgbClr val="393939"/>
                </a:solidFill>
                <a:latin typeface="宋体" panose="02010600030101010101" pitchFamily="2" charset="-122"/>
                <a:ea typeface="微软雅黑" panose="020B0503020204020204" pitchFamily="34" charset="-122"/>
                <a:cs typeface="微软雅黑" panose="020B0503020204020204" pitchFamily="34" charset="-122"/>
              </a:rPr>
              <a:t>⽣</a:t>
            </a:r>
            <a:r>
              <a:rPr lang="zh-CN" altLang="zh-CN" sz="1800" dirty="0">
                <a:solidFill>
                  <a:srgbClr val="393939"/>
                </a:solidFill>
                <a:latin typeface="宋体" panose="02010600030101010101" pitchFamily="2" charset="-122"/>
                <a:ea typeface="宋体" panose="02010600030101010101" pitchFamily="2" charset="-122"/>
                <a:cs typeface="宋体" panose="02010600030101010101" pitchFamily="2" charset="-122"/>
              </a:rPr>
              <a:t>生</a:t>
            </a:r>
            <a:r>
              <a:rPr lang="en-US" altLang="zh-CN" sz="1800" dirty="0">
                <a:solidFill>
                  <a:srgbClr val="393939"/>
                </a:solidFill>
                <a:latin typeface=".SFNSText"/>
                <a:ea typeface="宋体" panose="02010600030101010101" pitchFamily="2" charset="-122"/>
                <a:cs typeface="宋体" panose="02010600030101010101" pitchFamily="2" charset="-122"/>
              </a:rPr>
              <a:t>targets</a:t>
            </a:r>
            <a:r>
              <a:rPr lang="zh-CN" altLang="zh-CN" sz="1800" dirty="0">
                <a:solidFill>
                  <a:srgbClr val="393939"/>
                </a:solidFill>
                <a:latin typeface=".PingFangSC"/>
                <a:ea typeface="宋体" panose="02010600030101010101" pitchFamily="2" charset="-122"/>
                <a:cs typeface="宋体" panose="02010600030101010101" pitchFamily="2" charset="-122"/>
              </a:rPr>
              <a:t>界</a:t>
            </a:r>
            <a:r>
              <a:rPr lang="zh-CN" altLang="zh-CN" sz="1800" dirty="0">
                <a:solidFill>
                  <a:srgbClr val="393939"/>
                </a:solidFill>
                <a:latin typeface="宋体" panose="02010600030101010101" pitchFamily="2" charset="-122"/>
                <a:ea typeface="微软雅黑" panose="020B0503020204020204" pitchFamily="34" charset="-122"/>
                <a:cs typeface="微软雅黑" panose="020B0503020204020204" pitchFamily="34" charset="-122"/>
              </a:rPr>
              <a:t>⾯</a:t>
            </a:r>
            <a:r>
              <a:rPr lang="zh-CN" altLang="zh-CN" sz="1800" dirty="0">
                <a:solidFill>
                  <a:srgbClr val="393939"/>
                </a:solidFill>
                <a:latin typeface="宋体" panose="02010600030101010101" pitchFamily="2" charset="-122"/>
                <a:ea typeface="宋体" panose="02010600030101010101" pitchFamily="2" charset="-122"/>
                <a:cs typeface="宋体" panose="02010600030101010101" pitchFamily="2" charset="-122"/>
              </a:rPr>
              <a:t>面有哪些机器</a:t>
            </a:r>
            <a:endParaRPr lang="en-US" altLang="zh-CN" sz="1800" dirty="0">
              <a:solidFill>
                <a:srgbClr val="393939"/>
              </a:solidFill>
              <a:latin typeface="宋体" panose="02010600030101010101" pitchFamily="2" charset="-122"/>
              <a:ea typeface="宋体" panose="02010600030101010101" pitchFamily="2" charset="-122"/>
              <a:cs typeface="宋体" panose="02010600030101010101" pitchFamily="2" charset="-122"/>
            </a:endParaRPr>
          </a:p>
          <a:p>
            <a:endParaRPr lang="zh-CN" altLang="zh-CN" sz="1800" dirty="0">
              <a:latin typeface="宋体" panose="02010600030101010101" pitchFamily="2" charset="-122"/>
              <a:ea typeface="宋体" panose="02010600030101010101" pitchFamily="2" charset="-122"/>
              <a:cs typeface="宋体" panose="02010600030101010101" pitchFamily="2" charset="-122"/>
            </a:endParaRPr>
          </a:p>
          <a:p>
            <a:r>
              <a:rPr lang="zh-CN" altLang="zh-CN" sz="1800" dirty="0">
                <a:solidFill>
                  <a:srgbClr val="DF402A"/>
                </a:solidFill>
                <a:latin typeface=".PingFangSC"/>
                <a:ea typeface="宋体" panose="02010600030101010101" pitchFamily="2" charset="-122"/>
                <a:cs typeface="宋体" panose="02010600030101010101" pitchFamily="2" charset="-122"/>
              </a:rPr>
              <a:t>问题排查</a:t>
            </a:r>
            <a:r>
              <a:rPr lang="en-US" altLang="zh-CN" sz="1800" dirty="0">
                <a:solidFill>
                  <a:srgbClr val="DF402A"/>
                </a:solidFill>
                <a:latin typeface=".PingFangSC"/>
                <a:ea typeface="宋体" panose="02010600030101010101" pitchFamily="2" charset="-122"/>
                <a:cs typeface="宋体" panose="02010600030101010101" pitchFamily="2" charset="-122"/>
              </a:rPr>
              <a:t>:</a:t>
            </a:r>
            <a:r>
              <a:rPr lang="en-US" altLang="zh-CN" sz="1800" dirty="0">
                <a:solidFill>
                  <a:srgbClr val="393939"/>
                </a:solidFill>
                <a:latin typeface=".PingFangSC"/>
                <a:ea typeface="宋体" panose="02010600030101010101" pitchFamily="2" charset="-122"/>
                <a:cs typeface="宋体" panose="02010600030101010101" pitchFamily="2" charset="-122"/>
              </a:rPr>
              <a:t/>
            </a:r>
            <a:br>
              <a:rPr lang="en-US" altLang="zh-CN" sz="1800" dirty="0">
                <a:solidFill>
                  <a:srgbClr val="393939"/>
                </a:solidFill>
                <a:latin typeface=".PingFangSC"/>
                <a:ea typeface="宋体" panose="02010600030101010101" pitchFamily="2" charset="-122"/>
                <a:cs typeface="宋体" panose="02010600030101010101" pitchFamily="2" charset="-122"/>
              </a:rPr>
            </a:br>
            <a:r>
              <a:rPr lang="zh-CN" altLang="zh-CN" sz="1800" dirty="0">
                <a:solidFill>
                  <a:srgbClr val="393939"/>
                </a:solidFill>
                <a:latin typeface=".PingFangSC"/>
                <a:ea typeface="宋体" panose="02010600030101010101" pitchFamily="2" charset="-122"/>
                <a:cs typeface="宋体" panose="02010600030101010101" pitchFamily="2" charset="-122"/>
              </a:rPr>
              <a:t>排查顺序</a:t>
            </a:r>
            <a:r>
              <a:rPr lang="en-US" altLang="zh-CN" sz="1800" dirty="0">
                <a:solidFill>
                  <a:srgbClr val="393939"/>
                </a:solidFill>
                <a:latin typeface=".PingFangSC"/>
                <a:ea typeface="宋体" panose="02010600030101010101" pitchFamily="2" charset="-122"/>
                <a:cs typeface="宋体" panose="02010600030101010101" pitchFamily="2" charset="-122"/>
              </a:rPr>
              <a:t>: </a:t>
            </a:r>
            <a:r>
              <a:rPr lang="en-US" altLang="zh-CN" sz="1800" dirty="0" err="1">
                <a:solidFill>
                  <a:srgbClr val="393939"/>
                </a:solidFill>
                <a:latin typeface=".SFNSText"/>
                <a:ea typeface="宋体" panose="02010600030101010101" pitchFamily="2" charset="-122"/>
                <a:cs typeface="宋体" panose="02010600030101010101" pitchFamily="2" charset="-122"/>
              </a:rPr>
              <a:t>hercules</a:t>
            </a:r>
            <a:r>
              <a:rPr lang="zh-CN" altLang="zh-CN" sz="1800" dirty="0">
                <a:solidFill>
                  <a:srgbClr val="393939"/>
                </a:solidFill>
                <a:latin typeface="宋体" panose="02010600030101010101" pitchFamily="2" charset="-122"/>
                <a:ea typeface="微软雅黑" panose="020B0503020204020204" pitchFamily="34" charset="-122"/>
                <a:cs typeface="微软雅黑" panose="020B0503020204020204" pitchFamily="34" charset="-122"/>
              </a:rPr>
              <a:t>⽇</a:t>
            </a:r>
            <a:r>
              <a:rPr lang="zh-CN" altLang="zh-CN" sz="1800" dirty="0">
                <a:solidFill>
                  <a:srgbClr val="393939"/>
                </a:solidFill>
                <a:latin typeface="宋体" panose="02010600030101010101" pitchFamily="2" charset="-122"/>
                <a:ea typeface="宋体" panose="02010600030101010101" pitchFamily="2" charset="-122"/>
                <a:cs typeface="宋体" panose="02010600030101010101" pitchFamily="2" charset="-122"/>
              </a:rPr>
              <a:t>日志是否正常</a:t>
            </a:r>
            <a:r>
              <a:rPr lang="en-US" altLang="zh-CN" sz="1800" dirty="0">
                <a:solidFill>
                  <a:srgbClr val="393939"/>
                </a:solidFill>
                <a:latin typeface=".PingFangSC"/>
                <a:ea typeface="宋体" panose="02010600030101010101" pitchFamily="2" charset="-122"/>
                <a:cs typeface="宋体" panose="02010600030101010101" pitchFamily="2" charset="-122"/>
              </a:rPr>
              <a:t> </a:t>
            </a:r>
            <a:r>
              <a:rPr lang="en-US" altLang="zh-CN" sz="1800" dirty="0">
                <a:solidFill>
                  <a:srgbClr val="393939"/>
                </a:solidFill>
                <a:latin typeface=".SFNSText"/>
                <a:ea typeface="宋体" panose="02010600030101010101" pitchFamily="2" charset="-122"/>
                <a:cs typeface="宋体" panose="02010600030101010101" pitchFamily="2" charset="-122"/>
              </a:rPr>
              <a:t>-&gt;</a:t>
            </a:r>
            <a:r>
              <a:rPr lang="en-US" altLang="zh-CN" sz="1800" dirty="0" err="1">
                <a:solidFill>
                  <a:srgbClr val="393939"/>
                </a:solidFill>
                <a:latin typeface=".SFNSText"/>
                <a:ea typeface="宋体" panose="02010600030101010101" pitchFamily="2" charset="-122"/>
                <a:cs typeface="宋体" panose="02010600030101010101" pitchFamily="2" charset="-122"/>
              </a:rPr>
              <a:t>thanos</a:t>
            </a:r>
            <a:r>
              <a:rPr lang="en-US" altLang="zh-CN" sz="1800" dirty="0">
                <a:solidFill>
                  <a:srgbClr val="393939"/>
                </a:solidFill>
                <a:latin typeface=".SFNSText"/>
                <a:ea typeface="宋体" panose="02010600030101010101" pitchFamily="2" charset="-122"/>
                <a:cs typeface="宋体" panose="02010600030101010101" pitchFamily="2" charset="-122"/>
              </a:rPr>
              <a:t>-query</a:t>
            </a:r>
            <a:r>
              <a:rPr lang="zh-CN" altLang="zh-CN" sz="1800" dirty="0">
                <a:solidFill>
                  <a:srgbClr val="393939"/>
                </a:solidFill>
                <a:latin typeface="宋体" panose="02010600030101010101" pitchFamily="2" charset="-122"/>
                <a:ea typeface="宋体" panose="02010600030101010101" pitchFamily="2" charset="-122"/>
                <a:cs typeface="宋体" panose="02010600030101010101" pitchFamily="2" charset="-122"/>
              </a:rPr>
              <a:t>日志是否正常</a:t>
            </a:r>
            <a:r>
              <a:rPr lang="en-US" altLang="zh-CN" sz="1800" dirty="0">
                <a:solidFill>
                  <a:srgbClr val="393939"/>
                </a:solidFill>
                <a:latin typeface=".PingFangSC"/>
                <a:ea typeface="宋体" panose="02010600030101010101" pitchFamily="2" charset="-122"/>
                <a:cs typeface="宋体" panose="02010600030101010101" pitchFamily="2" charset="-122"/>
              </a:rPr>
              <a:t>(</a:t>
            </a:r>
            <a:r>
              <a:rPr lang="zh-CN" altLang="zh-CN" sz="1800" dirty="0">
                <a:solidFill>
                  <a:srgbClr val="393939"/>
                </a:solidFill>
                <a:latin typeface=".PingFangSC"/>
                <a:ea typeface="宋体" panose="02010600030101010101" pitchFamily="2" charset="-122"/>
                <a:cs typeface="宋体" panose="02010600030101010101" pitchFamily="2" charset="-122"/>
              </a:rPr>
              <a:t>会报错哪台</a:t>
            </a:r>
            <a:r>
              <a:rPr lang="en-US" altLang="zh-CN" sz="1800" dirty="0" err="1">
                <a:solidFill>
                  <a:srgbClr val="393939"/>
                </a:solidFill>
                <a:latin typeface=".SFNSText"/>
                <a:ea typeface="宋体" panose="02010600030101010101" pitchFamily="2" charset="-122"/>
                <a:cs typeface="宋体" panose="02010600030101010101" pitchFamily="2" charset="-122"/>
              </a:rPr>
              <a:t>prometheus</a:t>
            </a:r>
            <a:r>
              <a:rPr lang="zh-CN" altLang="zh-CN" sz="1800" dirty="0">
                <a:solidFill>
                  <a:srgbClr val="393939"/>
                </a:solidFill>
                <a:latin typeface=".PingFangSC"/>
                <a:ea typeface="宋体" panose="02010600030101010101" pitchFamily="2" charset="-122"/>
                <a:cs typeface="宋体" panose="02010600030101010101" pitchFamily="2" charset="-122"/>
              </a:rPr>
              <a:t>连接不不上</a:t>
            </a:r>
            <a:r>
              <a:rPr lang="en-US" altLang="zh-CN" sz="1800" dirty="0">
                <a:solidFill>
                  <a:srgbClr val="393939"/>
                </a:solidFill>
                <a:latin typeface=".PingFangSC"/>
                <a:ea typeface="宋体" panose="02010600030101010101" pitchFamily="2" charset="-122"/>
                <a:cs typeface="宋体" panose="02010600030101010101" pitchFamily="2" charset="-122"/>
              </a:rPr>
              <a:t>)</a:t>
            </a:r>
            <a:br>
              <a:rPr lang="en-US" altLang="zh-CN" sz="1800" dirty="0">
                <a:solidFill>
                  <a:srgbClr val="393939"/>
                </a:solidFill>
                <a:latin typeface=".PingFangSC"/>
                <a:ea typeface="宋体" panose="02010600030101010101" pitchFamily="2" charset="-122"/>
                <a:cs typeface="宋体" panose="02010600030101010101" pitchFamily="2" charset="-122"/>
              </a:rPr>
            </a:br>
            <a:r>
              <a:rPr lang="en-US" altLang="zh-CN" sz="1800" dirty="0">
                <a:solidFill>
                  <a:srgbClr val="393939"/>
                </a:solidFill>
                <a:latin typeface=".SFNSText"/>
                <a:ea typeface="宋体" panose="02010600030101010101" pitchFamily="2" charset="-122"/>
                <a:cs typeface="宋体" panose="02010600030101010101" pitchFamily="2" charset="-122"/>
              </a:rPr>
              <a:t>-&gt; </a:t>
            </a:r>
            <a:r>
              <a:rPr lang="zh-CN" altLang="zh-CN" sz="1800" dirty="0">
                <a:solidFill>
                  <a:srgbClr val="393939"/>
                </a:solidFill>
                <a:latin typeface=".PingFangSC"/>
                <a:ea typeface="宋体" panose="02010600030101010101" pitchFamily="2" charset="-122"/>
                <a:cs typeface="宋体" panose="02010600030101010101" pitchFamily="2" charset="-122"/>
              </a:rPr>
              <a:t>连不不上的机器器上的</a:t>
            </a:r>
            <a:r>
              <a:rPr lang="en-US" altLang="zh-CN" sz="1800" dirty="0" err="1">
                <a:solidFill>
                  <a:srgbClr val="393939"/>
                </a:solidFill>
                <a:latin typeface=".SFNSText"/>
                <a:ea typeface="宋体" panose="02010600030101010101" pitchFamily="2" charset="-122"/>
                <a:cs typeface="宋体" panose="02010600030101010101" pitchFamily="2" charset="-122"/>
              </a:rPr>
              <a:t>thanos</a:t>
            </a:r>
            <a:r>
              <a:rPr lang="en-US" altLang="zh-CN" sz="1800" dirty="0">
                <a:solidFill>
                  <a:srgbClr val="393939"/>
                </a:solidFill>
                <a:latin typeface=".SFNSText"/>
                <a:ea typeface="宋体" panose="02010600030101010101" pitchFamily="2" charset="-122"/>
                <a:cs typeface="宋体" panose="02010600030101010101" pitchFamily="2" charset="-122"/>
              </a:rPr>
              <a:t>-sidecar</a:t>
            </a:r>
            <a:r>
              <a:rPr lang="zh-CN" altLang="zh-CN" sz="1800" dirty="0">
                <a:solidFill>
                  <a:srgbClr val="393939"/>
                </a:solidFill>
                <a:latin typeface="宋体" panose="02010600030101010101" pitchFamily="2" charset="-122"/>
                <a:ea typeface="微软雅黑" panose="020B0503020204020204" pitchFamily="34" charset="-122"/>
                <a:cs typeface="微软雅黑" panose="020B0503020204020204" pitchFamily="34" charset="-122"/>
              </a:rPr>
              <a:t>⽇</a:t>
            </a:r>
            <a:r>
              <a:rPr lang="zh-CN" altLang="zh-CN" sz="1800" dirty="0">
                <a:solidFill>
                  <a:srgbClr val="393939"/>
                </a:solidFill>
                <a:latin typeface="宋体" panose="02010600030101010101" pitchFamily="2" charset="-122"/>
                <a:ea typeface="宋体" panose="02010600030101010101" pitchFamily="2" charset="-122"/>
                <a:cs typeface="宋体" panose="02010600030101010101" pitchFamily="2" charset="-122"/>
              </a:rPr>
              <a:t>日志</a:t>
            </a:r>
            <a:r>
              <a:rPr lang="en-US" altLang="zh-CN" sz="1800" dirty="0">
                <a:solidFill>
                  <a:srgbClr val="393939"/>
                </a:solidFill>
                <a:latin typeface=".PingFangSC"/>
                <a:ea typeface="宋体" panose="02010600030101010101" pitchFamily="2" charset="-122"/>
                <a:cs typeface="宋体" panose="02010600030101010101" pitchFamily="2" charset="-122"/>
              </a:rPr>
              <a:t> </a:t>
            </a:r>
            <a:r>
              <a:rPr lang="en-US" altLang="zh-CN" sz="1800" dirty="0">
                <a:solidFill>
                  <a:srgbClr val="393939"/>
                </a:solidFill>
                <a:latin typeface=".SFNSText"/>
                <a:ea typeface="宋体" panose="02010600030101010101" pitchFamily="2" charset="-122"/>
                <a:cs typeface="宋体" panose="02010600030101010101" pitchFamily="2" charset="-122"/>
              </a:rPr>
              <a:t>-&gt; </a:t>
            </a:r>
            <a:r>
              <a:rPr lang="zh-CN" altLang="zh-CN" sz="1800" dirty="0">
                <a:solidFill>
                  <a:srgbClr val="393939"/>
                </a:solidFill>
                <a:latin typeface=".PingFangSC"/>
                <a:ea typeface="宋体" panose="02010600030101010101" pitchFamily="2" charset="-122"/>
                <a:cs typeface="宋体" panose="02010600030101010101" pitchFamily="2" charset="-122"/>
              </a:rPr>
              <a:t>连不不上的机器器的</a:t>
            </a:r>
            <a:r>
              <a:rPr lang="en-US" altLang="zh-CN" sz="1800" dirty="0" err="1">
                <a:solidFill>
                  <a:srgbClr val="393939"/>
                </a:solidFill>
                <a:latin typeface=".SFNSText"/>
                <a:ea typeface="宋体" panose="02010600030101010101" pitchFamily="2" charset="-122"/>
                <a:cs typeface="宋体" panose="02010600030101010101" pitchFamily="2" charset="-122"/>
              </a:rPr>
              <a:t>prometheus</a:t>
            </a:r>
            <a:r>
              <a:rPr lang="zh-CN" altLang="zh-CN" sz="1800" dirty="0">
                <a:solidFill>
                  <a:srgbClr val="393939"/>
                </a:solidFill>
                <a:latin typeface="宋体" panose="02010600030101010101" pitchFamily="2" charset="-122"/>
                <a:ea typeface="宋体" panose="02010600030101010101" pitchFamily="2" charset="-122"/>
                <a:cs typeface="宋体" panose="02010600030101010101" pitchFamily="2" charset="-122"/>
              </a:rPr>
              <a:t>日志</a:t>
            </a:r>
            <a:endParaRPr lang="en-US" altLang="zh-CN" sz="1800" dirty="0">
              <a:solidFill>
                <a:srgbClr val="393939"/>
              </a:solidFill>
              <a:latin typeface="宋体" panose="02010600030101010101" pitchFamily="2" charset="-122"/>
              <a:ea typeface="宋体" panose="02010600030101010101" pitchFamily="2" charset="-122"/>
              <a:cs typeface="宋体" panose="02010600030101010101" pitchFamily="2" charset="-122"/>
            </a:endParaRPr>
          </a:p>
          <a:p>
            <a:endParaRPr lang="zh-CN" altLang="zh-CN" sz="1800" dirty="0">
              <a:latin typeface="宋体" panose="02010600030101010101" pitchFamily="2" charset="-122"/>
              <a:ea typeface="宋体" panose="02010600030101010101" pitchFamily="2" charset="-122"/>
              <a:cs typeface="宋体" panose="02010600030101010101" pitchFamily="2" charset="-122"/>
            </a:endParaRPr>
          </a:p>
          <a:p>
            <a:r>
              <a:rPr lang="zh-CN" altLang="zh-CN" sz="1800" dirty="0">
                <a:solidFill>
                  <a:srgbClr val="DF402A"/>
                </a:solidFill>
                <a:latin typeface=".PingFangSC"/>
                <a:ea typeface="宋体" panose="02010600030101010101" pitchFamily="2" charset="-122"/>
                <a:cs typeface="宋体" panose="02010600030101010101" pitchFamily="2" charset="-122"/>
              </a:rPr>
              <a:t>修改告警呼出</a:t>
            </a:r>
            <a:r>
              <a:rPr lang="zh-CN" altLang="zh-CN" sz="1800" dirty="0">
                <a:solidFill>
                  <a:srgbClr val="DF402A"/>
                </a:solidFill>
                <a:latin typeface="宋体" panose="02010600030101010101" pitchFamily="2" charset="-122"/>
                <a:ea typeface="微软雅黑" panose="020B0503020204020204" pitchFamily="34" charset="-122"/>
                <a:cs typeface="微软雅黑" panose="020B0503020204020204" pitchFamily="34" charset="-122"/>
              </a:rPr>
              <a:t>⽅</a:t>
            </a:r>
            <a:r>
              <a:rPr lang="zh-CN" altLang="zh-CN" sz="1800" dirty="0">
                <a:solidFill>
                  <a:srgbClr val="DF402A"/>
                </a:solidFill>
                <a:latin typeface="宋体" panose="02010600030101010101" pitchFamily="2" charset="-122"/>
                <a:ea typeface="宋体" panose="02010600030101010101" pitchFamily="2" charset="-122"/>
                <a:cs typeface="宋体" panose="02010600030101010101" pitchFamily="2" charset="-122"/>
              </a:rPr>
              <a:t>方式</a:t>
            </a:r>
            <a:r>
              <a:rPr lang="en-US" altLang="zh-CN" sz="1800" dirty="0">
                <a:solidFill>
                  <a:srgbClr val="DF402A"/>
                </a:solidFill>
                <a:latin typeface=".PingFangSC"/>
                <a:ea typeface="宋体" panose="02010600030101010101" pitchFamily="2" charset="-122"/>
                <a:cs typeface="宋体" panose="02010600030101010101" pitchFamily="2" charset="-122"/>
              </a:rPr>
              <a:t>:</a:t>
            </a:r>
            <a:endParaRPr lang="zh-CN" altLang="zh-CN" sz="1800" dirty="0">
              <a:latin typeface="宋体" panose="02010600030101010101" pitchFamily="2" charset="-122"/>
              <a:ea typeface="宋体" panose="02010600030101010101" pitchFamily="2" charset="-122"/>
              <a:cs typeface="宋体" panose="02010600030101010101" pitchFamily="2" charset="-122"/>
            </a:endParaRPr>
          </a:p>
          <a:p>
            <a:r>
              <a:rPr lang="en-US" altLang="zh-CN" sz="1800" dirty="0" err="1">
                <a:solidFill>
                  <a:srgbClr val="393939"/>
                </a:solidFill>
                <a:latin typeface=".SFNSText"/>
                <a:ea typeface="宋体" panose="02010600030101010101" pitchFamily="2" charset="-122"/>
                <a:cs typeface="宋体" panose="02010600030101010101" pitchFamily="2" charset="-122"/>
              </a:rPr>
              <a:t>hercules</a:t>
            </a:r>
            <a:r>
              <a:rPr lang="zh-CN" altLang="zh-CN" sz="1800" dirty="0">
                <a:solidFill>
                  <a:srgbClr val="393939"/>
                </a:solidFill>
                <a:latin typeface=".PingFangSC"/>
                <a:ea typeface="宋体" panose="02010600030101010101" pitchFamily="2" charset="-122"/>
                <a:cs typeface="宋体" panose="02010600030101010101" pitchFamily="2" charset="-122"/>
              </a:rPr>
              <a:t>的</a:t>
            </a:r>
            <a:r>
              <a:rPr lang="en-US" altLang="zh-CN" sz="1800" dirty="0" err="1">
                <a:solidFill>
                  <a:srgbClr val="393939"/>
                </a:solidFill>
                <a:latin typeface=".SFNSText"/>
                <a:ea typeface="宋体" panose="02010600030101010101" pitchFamily="2" charset="-122"/>
                <a:cs typeface="宋体" panose="02010600030101010101" pitchFamily="2" charset="-122"/>
              </a:rPr>
              <a:t>cfg.json</a:t>
            </a:r>
            <a:r>
              <a:rPr lang="zh-CN" altLang="en-US" sz="1800" dirty="0">
                <a:solidFill>
                  <a:srgbClr val="393939"/>
                </a:solidFill>
                <a:latin typeface=".SFNSText"/>
                <a:ea typeface="宋体" panose="02010600030101010101" pitchFamily="2" charset="-122"/>
                <a:cs typeface="宋体" panose="02010600030101010101" pitchFamily="2" charset="-122"/>
              </a:rPr>
              <a:t>里</a:t>
            </a:r>
            <a:r>
              <a:rPr lang="en-US" altLang="zh-CN" sz="1800" dirty="0" err="1">
                <a:solidFill>
                  <a:srgbClr val="393939"/>
                </a:solidFill>
                <a:latin typeface=".SFNSText"/>
                <a:ea typeface="宋体" panose="02010600030101010101" pitchFamily="2" charset="-122"/>
                <a:cs typeface="宋体" panose="02010600030101010101" pitchFamily="2" charset="-122"/>
              </a:rPr>
              <a:t>sms</a:t>
            </a:r>
            <a:r>
              <a:rPr lang="zh-CN" altLang="zh-CN" sz="1800" dirty="0">
                <a:solidFill>
                  <a:srgbClr val="393939"/>
                </a:solidFill>
                <a:latin typeface=".PingFangSC"/>
                <a:ea typeface="宋体" panose="02010600030101010101" pitchFamily="2" charset="-122"/>
                <a:cs typeface="宋体" panose="02010600030101010101" pitchFamily="2" charset="-122"/>
              </a:rPr>
              <a:t>的</a:t>
            </a:r>
            <a:r>
              <a:rPr lang="en-US" altLang="zh-CN" sz="1800" dirty="0">
                <a:solidFill>
                  <a:srgbClr val="393939"/>
                </a:solidFill>
                <a:latin typeface=".SFNSText"/>
                <a:ea typeface="宋体" panose="02010600030101010101" pitchFamily="2" charset="-122"/>
                <a:cs typeface="宋体" panose="02010600030101010101" pitchFamily="2" charset="-122"/>
              </a:rPr>
              <a:t>type</a:t>
            </a:r>
            <a:r>
              <a:rPr lang="zh-CN" altLang="zh-CN" sz="1800" dirty="0">
                <a:solidFill>
                  <a:srgbClr val="393939"/>
                </a:solidFill>
                <a:latin typeface=".PingFangSC"/>
                <a:ea typeface="宋体" panose="02010600030101010101" pitchFamily="2" charset="-122"/>
                <a:cs typeface="宋体" panose="02010600030101010101" pitchFamily="2" charset="-122"/>
              </a:rPr>
              <a:t>，</a:t>
            </a:r>
            <a:r>
              <a:rPr lang="en-US" altLang="zh-CN" sz="1800" dirty="0">
                <a:solidFill>
                  <a:srgbClr val="393939"/>
                </a:solidFill>
                <a:latin typeface=".PingFangSC"/>
                <a:ea typeface="宋体" panose="02010600030101010101" pitchFamily="2" charset="-122"/>
                <a:cs typeface="宋体" panose="02010600030101010101" pitchFamily="2" charset="-122"/>
              </a:rPr>
              <a:t> </a:t>
            </a:r>
            <a:r>
              <a:rPr lang="en-US" altLang="zh-CN" sz="1800" dirty="0">
                <a:solidFill>
                  <a:srgbClr val="393939"/>
                </a:solidFill>
                <a:latin typeface=".SFNSText"/>
                <a:ea typeface="宋体" panose="02010600030101010101" pitchFamily="2" charset="-122"/>
                <a:cs typeface="宋体" panose="02010600030101010101" pitchFamily="2" charset="-122"/>
              </a:rPr>
              <a:t>mail</a:t>
            </a:r>
            <a:r>
              <a:rPr lang="zh-CN" altLang="zh-CN" sz="1800" dirty="0">
                <a:solidFill>
                  <a:srgbClr val="393939"/>
                </a:solidFill>
                <a:latin typeface=".PingFangSC"/>
                <a:ea typeface="宋体" panose="02010600030101010101" pitchFamily="2" charset="-122"/>
                <a:cs typeface="宋体" panose="02010600030101010101" pitchFamily="2" charset="-122"/>
              </a:rPr>
              <a:t>的</a:t>
            </a:r>
            <a:r>
              <a:rPr lang="en-US" altLang="zh-CN" sz="1800" dirty="0">
                <a:solidFill>
                  <a:srgbClr val="393939"/>
                </a:solidFill>
                <a:latin typeface=".SFNSText"/>
                <a:ea typeface="宋体" panose="02010600030101010101" pitchFamily="2" charset="-122"/>
                <a:cs typeface="宋体" panose="02010600030101010101" pitchFamily="2" charset="-122"/>
              </a:rPr>
              <a:t>type</a:t>
            </a:r>
            <a:r>
              <a:rPr lang="zh-CN" altLang="zh-CN" sz="1800" dirty="0">
                <a:solidFill>
                  <a:srgbClr val="393939"/>
                </a:solidFill>
                <a:latin typeface=".PingFangSC"/>
                <a:ea typeface="宋体" panose="02010600030101010101" pitchFamily="2" charset="-122"/>
                <a:cs typeface="宋体" panose="02010600030101010101" pitchFamily="2" charset="-122"/>
              </a:rPr>
              <a:t>，</a:t>
            </a:r>
            <a:r>
              <a:rPr lang="en-US" altLang="zh-CN" sz="1800" dirty="0">
                <a:solidFill>
                  <a:srgbClr val="393939"/>
                </a:solidFill>
                <a:latin typeface=".PingFangSC"/>
                <a:ea typeface="宋体" panose="02010600030101010101" pitchFamily="2" charset="-122"/>
                <a:cs typeface="宋体" panose="02010600030101010101" pitchFamily="2" charset="-122"/>
              </a:rPr>
              <a:t> </a:t>
            </a:r>
            <a:r>
              <a:rPr lang="en-US" altLang="zh-CN" sz="1800" dirty="0" err="1">
                <a:solidFill>
                  <a:srgbClr val="393939"/>
                </a:solidFill>
                <a:latin typeface=".SFNSText"/>
                <a:ea typeface="宋体" panose="02010600030101010101" pitchFamily="2" charset="-122"/>
                <a:cs typeface="宋体" panose="02010600030101010101" pitchFamily="2" charset="-122"/>
              </a:rPr>
              <a:t>im</a:t>
            </a:r>
            <a:r>
              <a:rPr lang="zh-CN" altLang="zh-CN" sz="1800" dirty="0">
                <a:solidFill>
                  <a:srgbClr val="393939"/>
                </a:solidFill>
                <a:latin typeface=".PingFangSC"/>
                <a:ea typeface="宋体" panose="02010600030101010101" pitchFamily="2" charset="-122"/>
                <a:cs typeface="宋体" panose="02010600030101010101" pitchFamily="2" charset="-122"/>
              </a:rPr>
              <a:t>的</a:t>
            </a:r>
            <a:r>
              <a:rPr lang="en-US" altLang="zh-CN" sz="1800" dirty="0">
                <a:solidFill>
                  <a:srgbClr val="393939"/>
                </a:solidFill>
                <a:latin typeface=".SFNSText"/>
                <a:ea typeface="宋体" panose="02010600030101010101" pitchFamily="2" charset="-122"/>
                <a:cs typeface="宋体" panose="02010600030101010101" pitchFamily="2" charset="-122"/>
              </a:rPr>
              <a:t>type </a:t>
            </a:r>
            <a:r>
              <a:rPr lang="zh-CN" altLang="zh-CN" sz="1800" dirty="0">
                <a:solidFill>
                  <a:srgbClr val="393939"/>
                </a:solidFill>
                <a:latin typeface=".PingFangSC"/>
                <a:ea typeface="宋体" panose="02010600030101010101" pitchFamily="2" charset="-122"/>
                <a:cs typeface="宋体" panose="02010600030101010101" pitchFamily="2" charset="-122"/>
              </a:rPr>
              <a:t>改成</a:t>
            </a:r>
            <a:r>
              <a:rPr lang="en-US" altLang="zh-CN" sz="1800" dirty="0">
                <a:solidFill>
                  <a:srgbClr val="393939"/>
                </a:solidFill>
                <a:latin typeface=".SFNSText"/>
                <a:ea typeface="宋体" panose="02010600030101010101" pitchFamily="2" charset="-122"/>
                <a:cs typeface="宋体" panose="02010600030101010101" pitchFamily="2" charset="-122"/>
              </a:rPr>
              <a:t>CMPMESSAGE</a:t>
            </a:r>
            <a:r>
              <a:rPr lang="zh-CN" altLang="zh-CN" sz="1800" dirty="0">
                <a:solidFill>
                  <a:srgbClr val="393939"/>
                </a:solidFill>
                <a:latin typeface=".PingFangSC"/>
                <a:ea typeface="宋体" panose="02010600030101010101" pitchFamily="2" charset="-122"/>
                <a:cs typeface="宋体" panose="02010600030101010101" pitchFamily="2" charset="-122"/>
              </a:rPr>
              <a:t>就是开启，</a:t>
            </a:r>
            <a:r>
              <a:rPr lang="zh-CN" altLang="zh-CN" sz="1800" dirty="0">
                <a:solidFill>
                  <a:srgbClr val="393939"/>
                </a:solidFill>
                <a:ea typeface=".PingFangSC"/>
                <a:cs typeface="宋体" panose="02010600030101010101" pitchFamily="2" charset="-122"/>
              </a:rPr>
              <a:t> </a:t>
            </a:r>
            <a:r>
              <a:rPr lang="zh-CN" altLang="zh-CN" sz="1800" dirty="0">
                <a:solidFill>
                  <a:srgbClr val="393939"/>
                </a:solidFill>
                <a:latin typeface=".PingFangSC"/>
                <a:ea typeface="宋体" panose="02010600030101010101" pitchFamily="2" charset="-122"/>
                <a:cs typeface="宋体" panose="02010600030101010101" pitchFamily="2" charset="-122"/>
              </a:rPr>
              <a:t>改成</a:t>
            </a:r>
            <a:r>
              <a:rPr lang="en-US" altLang="zh-CN" sz="1800" dirty="0">
                <a:solidFill>
                  <a:srgbClr val="393939"/>
                </a:solidFill>
                <a:latin typeface=".SFNSText"/>
                <a:ea typeface="宋体" panose="02010600030101010101" pitchFamily="2" charset="-122"/>
                <a:cs typeface="宋体" panose="02010600030101010101" pitchFamily="2" charset="-122"/>
              </a:rPr>
              <a:t>DISABLE</a:t>
            </a:r>
            <a:r>
              <a:rPr lang="zh-CN" altLang="zh-CN" sz="1800" dirty="0">
                <a:solidFill>
                  <a:srgbClr val="393939"/>
                </a:solidFill>
                <a:latin typeface=".PingFangSC"/>
                <a:ea typeface="宋体" panose="02010600030101010101" pitchFamily="2" charset="-122"/>
                <a:cs typeface="宋体" panose="02010600030101010101" pitchFamily="2" charset="-122"/>
              </a:rPr>
              <a:t>就是关闭，</a:t>
            </a:r>
            <a:r>
              <a:rPr lang="zh-CN" altLang="zh-CN" sz="1800" dirty="0">
                <a:solidFill>
                  <a:srgbClr val="393939"/>
                </a:solidFill>
                <a:ea typeface=".PingFangSC"/>
                <a:cs typeface="宋体" panose="02010600030101010101" pitchFamily="2" charset="-122"/>
              </a:rPr>
              <a:t> </a:t>
            </a:r>
            <a:r>
              <a:rPr lang="zh-CN" altLang="zh-CN" sz="1800" dirty="0">
                <a:solidFill>
                  <a:srgbClr val="393939"/>
                </a:solidFill>
                <a:latin typeface=".PingFangSC"/>
                <a:ea typeface="宋体" panose="02010600030101010101" pitchFamily="2" charset="-122"/>
                <a:cs typeface="宋体" panose="02010600030101010101" pitchFamily="2" charset="-122"/>
              </a:rPr>
              <a:t>这些都是独</a:t>
            </a:r>
            <a:r>
              <a:rPr lang="zh-CN" altLang="zh-CN" sz="1800" dirty="0">
                <a:solidFill>
                  <a:srgbClr val="393939"/>
                </a:solidFill>
                <a:ea typeface="宋体" panose="02010600030101010101" pitchFamily="2" charset="-122"/>
                <a:cs typeface="宋体" panose="02010600030101010101" pitchFamily="2" charset="-122"/>
              </a:rPr>
              <a:t>立的，可以选择开哪些，</a:t>
            </a:r>
            <a:r>
              <a:rPr lang="zh-CN" altLang="zh-CN" sz="1800" dirty="0">
                <a:solidFill>
                  <a:srgbClr val="393939"/>
                </a:solidFill>
                <a:ea typeface=".PingFangSC"/>
                <a:cs typeface="宋体" panose="02010600030101010101" pitchFamily="2" charset="-122"/>
              </a:rPr>
              <a:t> </a:t>
            </a:r>
            <a:r>
              <a:rPr lang="zh-CN" altLang="zh-CN" sz="1800" dirty="0">
                <a:solidFill>
                  <a:srgbClr val="393939"/>
                </a:solidFill>
                <a:latin typeface=".PingFangSC"/>
                <a:ea typeface="宋体" panose="02010600030101010101" pitchFamily="2" charset="-122"/>
                <a:cs typeface="宋体" panose="02010600030101010101" pitchFamily="2" charset="-122"/>
              </a:rPr>
              <a:t>不开哪些。</a:t>
            </a:r>
            <a:r>
              <a:rPr lang="zh-CN" altLang="zh-CN" sz="1800" dirty="0">
                <a:solidFill>
                  <a:srgbClr val="393939"/>
                </a:solidFill>
                <a:ea typeface=".PingFangSC"/>
                <a:cs typeface="宋体" panose="02010600030101010101" pitchFamily="2" charset="-122"/>
              </a:rPr>
              <a:t> </a:t>
            </a:r>
            <a:r>
              <a:rPr lang="zh-CN" altLang="zh-CN" sz="1800" dirty="0">
                <a:solidFill>
                  <a:srgbClr val="393939"/>
                </a:solidFill>
                <a:latin typeface=".PingFangSC"/>
                <a:ea typeface="宋体" panose="02010600030101010101" pitchFamily="2" charset="-122"/>
                <a:cs typeface="宋体" panose="02010600030101010101" pitchFamily="2" charset="-122"/>
              </a:rPr>
              <a:t>之后</a:t>
            </a:r>
            <a:r>
              <a:rPr lang="en-US" altLang="zh-CN" sz="1800" dirty="0" err="1">
                <a:solidFill>
                  <a:srgbClr val="393939"/>
                </a:solidFill>
                <a:latin typeface=".SFNSText"/>
                <a:ea typeface="宋体" panose="02010600030101010101" pitchFamily="2" charset="-122"/>
                <a:cs typeface="宋体" panose="02010600030101010101" pitchFamily="2" charset="-122"/>
              </a:rPr>
              <a:t>systemctl</a:t>
            </a:r>
            <a:r>
              <a:rPr lang="en-US" altLang="zh-CN" sz="1800" dirty="0">
                <a:solidFill>
                  <a:srgbClr val="393939"/>
                </a:solidFill>
                <a:latin typeface=".SFNSText"/>
                <a:ea typeface="宋体" panose="02010600030101010101" pitchFamily="2" charset="-122"/>
                <a:cs typeface="宋体" panose="02010600030101010101" pitchFamily="2" charset="-122"/>
              </a:rPr>
              <a:t> restart </a:t>
            </a:r>
            <a:r>
              <a:rPr lang="en-US" altLang="zh-CN" sz="1800" dirty="0" err="1">
                <a:solidFill>
                  <a:srgbClr val="393939"/>
                </a:solidFill>
                <a:latin typeface=".SFNSText"/>
                <a:ea typeface="宋体" panose="02010600030101010101" pitchFamily="2" charset="-122"/>
                <a:cs typeface="宋体" panose="02010600030101010101" pitchFamily="2" charset="-122"/>
              </a:rPr>
              <a:t>hercules</a:t>
            </a:r>
            <a:endParaRPr lang="zh-CN" altLang="en-US" sz="1800" dirty="0"/>
          </a:p>
        </p:txBody>
      </p:sp>
    </p:spTree>
    <p:extLst>
      <p:ext uri="{BB962C8B-B14F-4D97-AF65-F5344CB8AC3E}">
        <p14:creationId xmlns:p14="http://schemas.microsoft.com/office/powerpoint/2010/main" val="2560209625"/>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 name="文本框 3"/>
          <p:cNvSpPr txBox="1"/>
          <p:nvPr/>
        </p:nvSpPr>
        <p:spPr>
          <a:xfrm>
            <a:off x="231708" y="1332280"/>
            <a:ext cx="1030515" cy="3154710"/>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defRPr sz="19900" spc="300">
                <a:solidFill>
                  <a:srgbClr val="FFFFFF"/>
                </a:solidFill>
                <a:latin typeface="Impact"/>
                <a:ea typeface="Impact"/>
                <a:cs typeface="Impact"/>
                <a:sym typeface="Impact"/>
              </a:defRPr>
            </a:lvl1pPr>
          </a:lstStyle>
          <a:p>
            <a:r>
              <a:rPr lang="en-US" altLang="zh-CN" dirty="0"/>
              <a:t>4</a:t>
            </a:r>
            <a:endParaRPr dirty="0"/>
          </a:p>
        </p:txBody>
      </p:sp>
      <p:sp>
        <p:nvSpPr>
          <p:cNvPr id="156" name="文本框 4"/>
          <p:cNvSpPr txBox="1"/>
          <p:nvPr/>
        </p:nvSpPr>
        <p:spPr>
          <a:xfrm>
            <a:off x="3493256" y="2579616"/>
            <a:ext cx="1103826" cy="1569660"/>
          </a:xfrm>
          <a:prstGeom prst="rect">
            <a:avLst/>
          </a:prstGeom>
          <a:ln w="12700">
            <a:miter lim="400000"/>
          </a:ln>
          <a:extLst>
            <a:ext uri="{C572A759-6A51-4108-AA02-DFA0A04FC94B}">
              <ma14:wrappingTextBoxFlag xmlns:ma14="http://schemas.microsoft.com/office/mac/drawingml/2011/main" xmlns="" val="1"/>
            </a:ext>
          </a:extLst>
        </p:spPr>
        <p:txBody>
          <a:bodyPr wrap="none" lIns="45719" rIns="45719">
            <a:spAutoFit/>
          </a:bodyPr>
          <a:lstStyle/>
          <a:p>
            <a:pPr>
              <a:defRPr sz="4800" spc="300">
                <a:solidFill>
                  <a:srgbClr val="FFFFFF"/>
                </a:solidFill>
                <a:latin typeface="思源黑体"/>
                <a:ea typeface="思源黑体"/>
                <a:cs typeface="思源黑体"/>
                <a:sym typeface="思源黑体"/>
              </a:defRPr>
            </a:pPr>
            <a:r>
              <a:rPr lang="en-US" altLang="zh-CN" dirty="0">
                <a:latin typeface="微软雅黑" panose="020B0503020204020204" pitchFamily="34" charset="-122"/>
                <a:ea typeface="微软雅黑" panose="020B0503020204020204" pitchFamily="34" charset="-122"/>
              </a:rPr>
              <a:t>QA</a:t>
            </a:r>
          </a:p>
          <a:p>
            <a:pPr>
              <a:defRPr sz="4800" spc="300">
                <a:solidFill>
                  <a:srgbClr val="FFFFFF"/>
                </a:solidFill>
                <a:latin typeface="思源黑体"/>
                <a:ea typeface="思源黑体"/>
                <a:cs typeface="思源黑体"/>
                <a:sym typeface="思源黑体"/>
              </a:defRPr>
            </a:pPr>
            <a:endParaRPr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063088411"/>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51" name="图片 8" descr="图片 8"/>
          <p:cNvPicPr>
            <a:picLocks noChangeAspect="1"/>
          </p:cNvPicPr>
          <p:nvPr/>
        </p:nvPicPr>
        <p:blipFill>
          <a:blip r:embed="rId2">
            <a:extLst/>
          </a:blip>
          <a:stretch>
            <a:fillRect/>
          </a:stretch>
        </p:blipFill>
        <p:spPr>
          <a:xfrm>
            <a:off x="-53013" y="-29029"/>
            <a:ext cx="11573501" cy="6532675"/>
          </a:xfrm>
          <a:prstGeom prst="rect">
            <a:avLst/>
          </a:prstGeom>
          <a:ln w="12700">
            <a:miter lim="400000"/>
          </a:ln>
        </p:spPr>
      </p:pic>
      <p:sp>
        <p:nvSpPr>
          <p:cNvPr id="1845" name="流程图: 手动输入 4"/>
          <p:cNvSpPr/>
          <p:nvPr/>
        </p:nvSpPr>
        <p:spPr>
          <a:xfrm rot="16200000" flipH="1">
            <a:off x="4358349" y="-681962"/>
            <a:ext cx="6480178" cy="7844102"/>
          </a:xfrm>
          <a:custGeom>
            <a:avLst/>
            <a:gdLst/>
            <a:ahLst/>
            <a:cxnLst>
              <a:cxn ang="0">
                <a:pos x="wd2" y="hd2"/>
              </a:cxn>
              <a:cxn ang="5400000">
                <a:pos x="wd2" y="hd2"/>
              </a:cxn>
              <a:cxn ang="10800000">
                <a:pos x="wd2" y="hd2"/>
              </a:cxn>
              <a:cxn ang="16200000">
                <a:pos x="wd2" y="hd2"/>
              </a:cxn>
            </a:cxnLst>
            <a:rect l="0" t="0" r="r" b="b"/>
            <a:pathLst>
              <a:path w="21600" h="21600" extrusionOk="0">
                <a:moveTo>
                  <a:pt x="0" y="4320"/>
                </a:moveTo>
                <a:lnTo>
                  <a:pt x="21600" y="0"/>
                </a:lnTo>
                <a:lnTo>
                  <a:pt x="21600" y="21600"/>
                </a:lnTo>
                <a:lnTo>
                  <a:pt x="0" y="21600"/>
                </a:lnTo>
                <a:close/>
              </a:path>
            </a:pathLst>
          </a:custGeom>
          <a:solidFill>
            <a:srgbClr val="FFFFFF"/>
          </a:solidFill>
          <a:ln w="12700">
            <a:miter lim="400000"/>
          </a:ln>
          <a:effectLst>
            <a:outerShdw blurRad="38100" dist="23000" dir="5400000" rotWithShape="0">
              <a:srgbClr val="000000">
                <a:alpha val="35000"/>
              </a:srgbClr>
            </a:outerShdw>
          </a:effectLst>
        </p:spPr>
        <p:txBody>
          <a:bodyPr lIns="45719" rIns="45719" anchor="ctr"/>
          <a:lstStyle/>
          <a:p>
            <a:pPr algn="ctr">
              <a:defRPr>
                <a:solidFill>
                  <a:srgbClr val="FFFFFF"/>
                </a:solidFill>
              </a:defRPr>
            </a:pPr>
            <a:endParaRPr/>
          </a:p>
        </p:txBody>
      </p:sp>
      <p:pic>
        <p:nvPicPr>
          <p:cNvPr id="1846" name="图片 5" descr="图片 5"/>
          <p:cNvPicPr>
            <a:picLocks noChangeAspect="1"/>
          </p:cNvPicPr>
          <p:nvPr/>
        </p:nvPicPr>
        <p:blipFill>
          <a:blip r:embed="rId3">
            <a:extLst/>
          </a:blip>
          <a:stretch>
            <a:fillRect/>
          </a:stretch>
        </p:blipFill>
        <p:spPr>
          <a:xfrm>
            <a:off x="-101600" y="-1851"/>
            <a:ext cx="11520489" cy="6541660"/>
          </a:xfrm>
          <a:prstGeom prst="rect">
            <a:avLst/>
          </a:prstGeom>
          <a:ln w="12700">
            <a:miter lim="400000"/>
          </a:ln>
        </p:spPr>
      </p:pic>
      <p:pic>
        <p:nvPicPr>
          <p:cNvPr id="1847" name="图片 6" descr="图片 6"/>
          <p:cNvPicPr>
            <a:picLocks noChangeAspect="1"/>
          </p:cNvPicPr>
          <p:nvPr/>
        </p:nvPicPr>
        <p:blipFill>
          <a:blip r:embed="rId4">
            <a:extLst/>
          </a:blip>
          <a:stretch>
            <a:fillRect/>
          </a:stretch>
        </p:blipFill>
        <p:spPr>
          <a:xfrm>
            <a:off x="-138274" y="-29029"/>
            <a:ext cx="11658763" cy="6557282"/>
          </a:xfrm>
          <a:prstGeom prst="rect">
            <a:avLst/>
          </a:prstGeom>
          <a:ln w="12700">
            <a:miter lim="400000"/>
          </a:ln>
        </p:spPr>
      </p:pic>
      <p:sp>
        <p:nvSpPr>
          <p:cNvPr id="1848" name="文本框 7"/>
          <p:cNvSpPr txBox="1"/>
          <p:nvPr/>
        </p:nvSpPr>
        <p:spPr>
          <a:xfrm>
            <a:off x="5146766" y="2204946"/>
            <a:ext cx="5857795" cy="768415"/>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r">
              <a:lnSpc>
                <a:spcPct val="120000"/>
              </a:lnSpc>
              <a:defRPr sz="4000" spc="300">
                <a:solidFill>
                  <a:srgbClr val="E94609"/>
                </a:solidFill>
                <a:latin typeface="思源黑体"/>
                <a:ea typeface="思源黑体"/>
                <a:cs typeface="思源黑体"/>
                <a:sym typeface="思源黑体"/>
              </a:defRPr>
            </a:lvl1pPr>
          </a:lstStyle>
          <a:p>
            <a:r>
              <a:rPr dirty="0" err="1">
                <a:latin typeface="微软雅黑" panose="020B0503020204020204" pitchFamily="34" charset="-122"/>
                <a:ea typeface="微软雅黑" panose="020B0503020204020204" pitchFamily="34" charset="-122"/>
              </a:rPr>
              <a:t>谢谢</a:t>
            </a:r>
            <a:endParaRPr dirty="0">
              <a:latin typeface="微软雅黑" panose="020B0503020204020204" pitchFamily="34" charset="-122"/>
              <a:ea typeface="微软雅黑" panose="020B0503020204020204" pitchFamily="34" charset="-122"/>
            </a:endParaRPr>
          </a:p>
        </p:txBody>
      </p:sp>
    </p:spTree>
  </p:cSld>
  <p:clrMapOvr>
    <a:masterClrMapping/>
  </p:clrMapOvr>
  <p:transition spd="med"/>
</p:sld>
</file>

<file path=ppt/theme/theme1.xml><?xml version="1.0" encoding="utf-8"?>
<a:theme xmlns:a="http://schemas.openxmlformats.org/drawingml/2006/main" name="平安云内部培训PPT模版">
  <a:themeElements>
    <a:clrScheme name="Office 主题">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主题">
      <a:majorFont>
        <a:latin typeface="Helvetica"/>
        <a:ea typeface="Helvetica"/>
        <a:cs typeface="Helvetica"/>
      </a:majorFont>
      <a:minorFont>
        <a:latin typeface="等线"/>
        <a:ea typeface="等线"/>
        <a:cs typeface="等线"/>
      </a:minorFont>
    </a:fontScheme>
    <a:fmtScheme name="Office 主题">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575980" rtl="0" fontAlgn="auto" latinLnBrk="0" hangingPunct="0">
          <a:lnSpc>
            <a:spcPct val="100000"/>
          </a:lnSpc>
          <a:spcBef>
            <a:spcPts val="0"/>
          </a:spcBef>
          <a:spcAft>
            <a:spcPts val="0"/>
          </a:spcAft>
          <a:buClrTx/>
          <a:buSzTx/>
          <a:buFontTx/>
          <a:buNone/>
          <a:tabLst/>
          <a:defRPr kumimoji="0" sz="2200" b="0" i="0" u="none" strike="noStrike" cap="none" spc="0" normalizeH="0" baseline="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575980" rtl="0" fontAlgn="auto" latinLnBrk="0" hangingPunct="0">
          <a:lnSpc>
            <a:spcPct val="100000"/>
          </a:lnSpc>
          <a:spcBef>
            <a:spcPts val="0"/>
          </a:spcBef>
          <a:spcAft>
            <a:spcPts val="0"/>
          </a:spcAft>
          <a:buClrTx/>
          <a:buSzTx/>
          <a:buFontTx/>
          <a:buNone/>
          <a:tabLst/>
          <a:defRPr kumimoji="0" sz="2200" b="0" i="0" u="none" strike="noStrike" cap="none" spc="0" normalizeH="0" baseline="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Office 主题">
  <a:themeElements>
    <a:clrScheme name="Office 主题">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主题">
      <a:majorFont>
        <a:latin typeface="Helvetica"/>
        <a:ea typeface="Helvetica"/>
        <a:cs typeface="Helvetica"/>
      </a:majorFont>
      <a:minorFont>
        <a:latin typeface="等线"/>
        <a:ea typeface="等线"/>
        <a:cs typeface="等线"/>
      </a:minorFont>
    </a:fontScheme>
    <a:fmtScheme name="Office 主题">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575980" rtl="0" fontAlgn="auto" latinLnBrk="0" hangingPunct="0">
          <a:lnSpc>
            <a:spcPct val="100000"/>
          </a:lnSpc>
          <a:spcBef>
            <a:spcPts val="0"/>
          </a:spcBef>
          <a:spcAft>
            <a:spcPts val="0"/>
          </a:spcAft>
          <a:buClrTx/>
          <a:buSzTx/>
          <a:buFontTx/>
          <a:buNone/>
          <a:tabLst/>
          <a:defRPr kumimoji="0" sz="2200" b="0" i="0" u="none" strike="noStrike" cap="none" spc="0" normalizeH="0" baseline="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575980" rtl="0" fontAlgn="auto" latinLnBrk="0" hangingPunct="0">
          <a:lnSpc>
            <a:spcPct val="100000"/>
          </a:lnSpc>
          <a:spcBef>
            <a:spcPts val="0"/>
          </a:spcBef>
          <a:spcAft>
            <a:spcPts val="0"/>
          </a:spcAft>
          <a:buClrTx/>
          <a:buSzTx/>
          <a:buFontTx/>
          <a:buNone/>
          <a:tabLst/>
          <a:defRPr kumimoji="0" sz="2200" b="0" i="0" u="none" strike="noStrike" cap="none" spc="0" normalizeH="0" baseline="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emplate>平安云内部培训PPT模版</Template>
  <TotalTime>17046</TotalTime>
  <Words>1038</Words>
  <Application>Microsoft Office PowerPoint</Application>
  <PresentationFormat>自定义</PresentationFormat>
  <Paragraphs>244</Paragraphs>
  <Slides>25</Slides>
  <Notes>9</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25</vt:i4>
      </vt:variant>
    </vt:vector>
  </HeadingPairs>
  <TitlesOfParts>
    <vt:vector size="39" baseType="lpstr">
      <vt:lpstr>.PingFangSC</vt:lpstr>
      <vt:lpstr>.SFNSText</vt:lpstr>
      <vt:lpstr>-apple-system</vt:lpstr>
      <vt:lpstr>等线</vt:lpstr>
      <vt:lpstr>思源黑体</vt:lpstr>
      <vt:lpstr>宋体</vt:lpstr>
      <vt:lpstr>宋体-18030</vt:lpstr>
      <vt:lpstr>Microsoft YaHei</vt:lpstr>
      <vt:lpstr>Microsoft YaHei</vt:lpstr>
      <vt:lpstr>Arial</vt:lpstr>
      <vt:lpstr>Calibri</vt:lpstr>
      <vt:lpstr>Consolas</vt:lpstr>
      <vt:lpstr>Impact</vt:lpstr>
      <vt:lpstr>平安云内部培训PPT模版</vt:lpstr>
      <vt:lpstr>PowerPoint 演示文稿</vt:lpstr>
      <vt:lpstr>PowerPoint 演示文稿</vt:lpstr>
      <vt:lpstr>监控方案</vt:lpstr>
      <vt:lpstr>监控方案</vt:lpstr>
      <vt:lpstr>PowerPoint 演示文稿</vt:lpstr>
      <vt:lpstr>私有云监控</vt:lpstr>
      <vt:lpstr>私有云监控</vt:lpstr>
      <vt:lpstr>私有云监控</vt:lpstr>
      <vt:lpstr>私有云监控</vt:lpstr>
      <vt:lpstr>私有云监控</vt:lpstr>
      <vt:lpstr>告警规则的判断</vt:lpstr>
      <vt:lpstr>私有云监控</vt:lpstr>
      <vt:lpstr>thanos</vt:lpstr>
      <vt:lpstr>私有云监控</vt:lpstr>
      <vt:lpstr>私有云监控</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常规运维操作</vt:lpstr>
      <vt:lpstr>PowerPoint 演示文稿</vt:lpstr>
      <vt:lpstr>PowerPoint 演示文稿</vt:lpstr>
    </vt:vector>
  </TitlesOfParts>
  <Company>中国平安保险(集团)股份有限公司</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Localadmin</dc:creator>
  <cp:keywords>lgm</cp:keywords>
  <cp:lastModifiedBy>admin</cp:lastModifiedBy>
  <cp:revision>215</cp:revision>
  <dcterms:created xsi:type="dcterms:W3CDTF">2018-07-12T06:20:54Z</dcterms:created>
  <dcterms:modified xsi:type="dcterms:W3CDTF">2021-05-28T02:01:16Z</dcterms:modified>
</cp:coreProperties>
</file>