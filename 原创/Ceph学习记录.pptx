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396" r:id="rId6"/>
    <p:sldId id="464" r:id="rId7"/>
    <p:sldId id="456" r:id="rId8"/>
    <p:sldId id="507" r:id="rId9"/>
    <p:sldId id="508" r:id="rId10"/>
    <p:sldId id="457" r:id="rId11"/>
    <p:sldId id="465" r:id="rId12"/>
    <p:sldId id="482" r:id="rId13"/>
    <p:sldId id="466" r:id="rId14"/>
    <p:sldId id="467" r:id="rId15"/>
    <p:sldId id="468" r:id="rId16"/>
    <p:sldId id="469" r:id="rId17"/>
    <p:sldId id="470" r:id="rId18"/>
    <p:sldId id="471" r:id="rId19"/>
    <p:sldId id="472" r:id="rId20"/>
    <p:sldId id="473" r:id="rId21"/>
    <p:sldId id="474" r:id="rId22"/>
    <p:sldId id="475" r:id="rId23"/>
    <p:sldId id="476" r:id="rId24"/>
    <p:sldId id="477" r:id="rId25"/>
    <p:sldId id="478" r:id="rId26"/>
    <p:sldId id="479" r:id="rId27"/>
    <p:sldId id="480" r:id="rId28"/>
    <p:sldId id="481" r:id="rId29"/>
    <p:sldId id="458" r:id="rId30"/>
    <p:sldId id="459" r:id="rId31"/>
    <p:sldId id="460" r:id="rId32"/>
    <p:sldId id="461" r:id="rId33"/>
    <p:sldId id="463" r:id="rId34"/>
    <p:sldId id="462" r:id="rId35"/>
    <p:sldId id="447" r:id="rId36"/>
    <p:sldId id="295" r:id="rId37"/>
  </p:sldIdLst>
  <p:sldSz cx="11518900" cy="647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7594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1pPr>
    <a:lvl2pPr marL="0" marR="0" indent="575945" algn="l" defTabSz="57594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2pPr>
    <a:lvl3pPr marL="0" marR="0" indent="1151890" algn="l" defTabSz="57594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3pPr>
    <a:lvl4pPr marL="0" marR="0" indent="1727835" algn="l" defTabSz="57594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4pPr>
    <a:lvl5pPr marL="0" marR="0" indent="2303780" algn="l" defTabSz="57594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5pPr>
    <a:lvl6pPr marL="0" marR="0" indent="2879725" algn="l" defTabSz="57594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6pPr>
    <a:lvl7pPr marL="0" marR="0" indent="3455670" algn="l" defTabSz="57594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7pPr>
    <a:lvl8pPr marL="0" marR="0" indent="4031615" algn="l" defTabSz="57594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8pPr>
    <a:lvl9pPr marL="0" marR="0" indent="4607560" algn="l" defTabSz="57594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梁桂明(平安科技计算产品团队监控智能服务组)" initials="梁桂明(平安科技计算产品团队监控智能服务组)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709"/>
    <a:srgbClr val="229113"/>
    <a:srgbClr val="0000CC"/>
    <a:srgbClr val="333031"/>
    <a:srgbClr val="D75328"/>
    <a:srgbClr val="DD4B23"/>
    <a:srgbClr val="ABE7F3"/>
    <a:srgbClr val="7983DD"/>
    <a:srgbClr val="F587E8"/>
    <a:srgbClr val="EA46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2244" autoAdjust="0"/>
  </p:normalViewPr>
  <p:slideViewPr>
    <p:cSldViewPr snapToGrid="0">
      <p:cViewPr>
        <p:scale>
          <a:sx n="75" d="100"/>
          <a:sy n="75" d="100"/>
        </p:scale>
        <p:origin x="438" y="54"/>
      </p:cViewPr>
      <p:guideLst>
        <p:guide orient="horz" pos="2040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36" name="Shape 1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等线" panose="02010600030101010101" charset="-122"/>
      </a:defRPr>
    </a:lvl1pPr>
    <a:lvl2pPr indent="228600" latinLnBrk="0">
      <a:defRPr sz="1200">
        <a:latin typeface="+mn-lt"/>
        <a:ea typeface="+mn-ea"/>
        <a:cs typeface="+mn-cs"/>
        <a:sym typeface="等线" panose="02010600030101010101" charset="-122"/>
      </a:defRPr>
    </a:lvl2pPr>
    <a:lvl3pPr indent="457200" latinLnBrk="0">
      <a:defRPr sz="1200">
        <a:latin typeface="+mn-lt"/>
        <a:ea typeface="+mn-ea"/>
        <a:cs typeface="+mn-cs"/>
        <a:sym typeface="等线" panose="02010600030101010101" charset="-122"/>
      </a:defRPr>
    </a:lvl3pPr>
    <a:lvl4pPr indent="685800" latinLnBrk="0">
      <a:defRPr sz="1200">
        <a:latin typeface="+mn-lt"/>
        <a:ea typeface="+mn-ea"/>
        <a:cs typeface="+mn-cs"/>
        <a:sym typeface="等线" panose="02010600030101010101" charset="-122"/>
      </a:defRPr>
    </a:lvl4pPr>
    <a:lvl5pPr indent="914400" latinLnBrk="0">
      <a:defRPr sz="1200">
        <a:latin typeface="+mn-lt"/>
        <a:ea typeface="+mn-ea"/>
        <a:cs typeface="+mn-cs"/>
        <a:sym typeface="等线" panose="02010600030101010101" charset="-122"/>
      </a:defRPr>
    </a:lvl5pPr>
    <a:lvl6pPr indent="1143000" latinLnBrk="0">
      <a:defRPr sz="1200">
        <a:latin typeface="+mn-lt"/>
        <a:ea typeface="+mn-ea"/>
        <a:cs typeface="+mn-cs"/>
        <a:sym typeface="等线" panose="02010600030101010101" charset="-122"/>
      </a:defRPr>
    </a:lvl6pPr>
    <a:lvl7pPr indent="1371600" latinLnBrk="0">
      <a:defRPr sz="1200">
        <a:latin typeface="+mn-lt"/>
        <a:ea typeface="+mn-ea"/>
        <a:cs typeface="+mn-cs"/>
        <a:sym typeface="等线" panose="02010600030101010101" charset="-122"/>
      </a:defRPr>
    </a:lvl7pPr>
    <a:lvl8pPr indent="1600200" latinLnBrk="0">
      <a:defRPr sz="1200">
        <a:latin typeface="+mn-lt"/>
        <a:ea typeface="+mn-ea"/>
        <a:cs typeface="+mn-cs"/>
        <a:sym typeface="等线" panose="02010600030101010101" charset="-122"/>
      </a:defRPr>
    </a:lvl8pPr>
    <a:lvl9pPr indent="1828800" latinLnBrk="0">
      <a:defRPr sz="1200">
        <a:latin typeface="+mn-lt"/>
        <a:ea typeface="+mn-ea"/>
        <a:cs typeface="+mn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文本"/>
          <p:cNvSpPr txBox="1">
            <a:spLocks noGrp="1"/>
          </p:cNvSpPr>
          <p:nvPr>
            <p:ph type="title"/>
          </p:nvPr>
        </p:nvSpPr>
        <p:spPr>
          <a:xfrm>
            <a:off x="864036" y="2013055"/>
            <a:ext cx="9792416" cy="138903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728073" y="3672099"/>
            <a:ext cx="8064342" cy="1656046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/>
          </p:nvPr>
        </p:nvSpPr>
        <p:spPr>
          <a:xfrm>
            <a:off x="910039" y="4164114"/>
            <a:ext cx="9792415" cy="128703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1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910039" y="2746574"/>
            <a:ext cx="9792415" cy="141753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32" name="图片 6" descr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1520489" cy="647941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1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76023" y="1134030"/>
            <a:ext cx="5088218" cy="3207087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42" name="图片 7" descr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1520489" cy="647941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" name="图片 8" descr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430" y="0"/>
            <a:ext cx="973734" cy="1121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576025" y="1450540"/>
            <a:ext cx="5090217" cy="604517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3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5852250" y="1450540"/>
            <a:ext cx="5092217" cy="604517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spcBef>
                <a:spcPts val="500"/>
              </a:spcBef>
              <a:buSzTx/>
              <a:buFontTx/>
              <a:buNone/>
              <a:defRPr sz="2400" b="1"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标题文本"/>
          <p:cNvSpPr txBox="1">
            <a:spLocks noGrp="1"/>
          </p:cNvSpPr>
          <p:nvPr>
            <p:ph type="title"/>
          </p:nvPr>
        </p:nvSpPr>
        <p:spPr>
          <a:xfrm>
            <a:off x="576025" y="258006"/>
            <a:ext cx="3790162" cy="109803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7" name="正文级别 1…"/>
          <p:cNvSpPr txBox="1">
            <a:spLocks noGrp="1"/>
          </p:cNvSpPr>
          <p:nvPr>
            <p:ph type="body" idx="1"/>
          </p:nvPr>
        </p:nvSpPr>
        <p:spPr>
          <a:xfrm>
            <a:off x="4504190" y="258007"/>
            <a:ext cx="6440275" cy="55306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8" name="文本占位符 3"/>
          <p:cNvSpPr>
            <a:spLocks noGrp="1"/>
          </p:cNvSpPr>
          <p:nvPr>
            <p:ph type="body" sz="half" idx="13"/>
          </p:nvPr>
        </p:nvSpPr>
        <p:spPr>
          <a:xfrm>
            <a:off x="576026" y="1356037"/>
            <a:ext cx="3790161" cy="4432622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FontTx/>
              <a:buNone/>
              <a:defRPr sz="1400"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标题文本"/>
          <p:cNvSpPr txBox="1">
            <a:spLocks noGrp="1"/>
          </p:cNvSpPr>
          <p:nvPr>
            <p:ph type="title"/>
          </p:nvPr>
        </p:nvSpPr>
        <p:spPr>
          <a:xfrm>
            <a:off x="2258096" y="4536121"/>
            <a:ext cx="6912293" cy="53551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7" name="图片占位符 2"/>
          <p:cNvSpPr>
            <a:spLocks noGrp="1"/>
          </p:cNvSpPr>
          <p:nvPr>
            <p:ph type="pic" sz="half" idx="13"/>
          </p:nvPr>
        </p:nvSpPr>
        <p:spPr>
          <a:xfrm>
            <a:off x="2258096" y="579014"/>
            <a:ext cx="6912293" cy="38881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9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2258096" y="5071636"/>
            <a:ext cx="6912293" cy="7605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7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标题文本"/>
          <p:cNvSpPr txBox="1">
            <a:spLocks noGrp="1"/>
          </p:cNvSpPr>
          <p:nvPr>
            <p:ph type="title"/>
          </p:nvPr>
        </p:nvSpPr>
        <p:spPr>
          <a:xfrm>
            <a:off x="8352353" y="195005"/>
            <a:ext cx="2592111" cy="414611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6" name="正文级别 1…"/>
          <p:cNvSpPr txBox="1">
            <a:spLocks noGrp="1"/>
          </p:cNvSpPr>
          <p:nvPr>
            <p:ph type="body" idx="1"/>
          </p:nvPr>
        </p:nvSpPr>
        <p:spPr>
          <a:xfrm>
            <a:off x="576025" y="195005"/>
            <a:ext cx="7584321" cy="41461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只有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矩形 4"/>
          <p:cNvSpPr/>
          <p:nvPr/>
        </p:nvSpPr>
        <p:spPr>
          <a:xfrm>
            <a:off x="418582" y="0"/>
            <a:ext cx="167206" cy="654019"/>
          </a:xfrm>
          <a:prstGeom prst="rect">
            <a:avLst/>
          </a:prstGeom>
          <a:solidFill>
            <a:srgbClr val="FF5D0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100">
                <a:solidFill>
                  <a:srgbClr val="FFFFFF"/>
                </a:solidFill>
              </a:defRPr>
            </a:pPr>
          </a:p>
        </p:txBody>
      </p:sp>
      <p:pic>
        <p:nvPicPr>
          <p:cNvPr id="125" name="图片 5" descr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66" y="261531"/>
            <a:ext cx="3072131" cy="29398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6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4260839" y="712595"/>
            <a:ext cx="2998809" cy="342986"/>
          </a:xfrm>
          <a:prstGeom prst="rect">
            <a:avLst/>
          </a:prstGeom>
        </p:spPr>
        <p:txBody>
          <a:bodyPr/>
          <a:lstStyle>
            <a:lvl1pPr marL="0" indent="0" algn="ctr" defTabSz="864235">
              <a:lnSpc>
                <a:spcPct val="90000"/>
              </a:lnSpc>
              <a:spcBef>
                <a:spcPts val="900"/>
              </a:spcBef>
              <a:buSzTx/>
              <a:buFontTx/>
              <a:buNone/>
              <a:defRPr sz="2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 marL="681990" indent="-224790" algn="ctr" defTabSz="864235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 marL="1123950" indent="-209550" algn="ctr" defTabSz="864235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 marL="1623060" indent="-251460" algn="ctr" defTabSz="864235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 marL="2080260" indent="-251460" algn="ctr" defTabSz="864235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7" name="标题文本"/>
          <p:cNvSpPr txBox="1">
            <a:spLocks noGrp="1"/>
          </p:cNvSpPr>
          <p:nvPr>
            <p:ph type="title"/>
          </p:nvPr>
        </p:nvSpPr>
        <p:spPr>
          <a:xfrm>
            <a:off x="792034" y="206813"/>
            <a:ext cx="3278307" cy="447206"/>
          </a:xfrm>
          <a:prstGeom prst="rect">
            <a:avLst/>
          </a:prstGeom>
        </p:spPr>
        <p:txBody>
          <a:bodyPr/>
          <a:lstStyle>
            <a:lvl1pPr>
              <a:defRPr sz="2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8" name="文本占位符 39"/>
          <p:cNvSpPr>
            <a:spLocks noGrp="1"/>
          </p:cNvSpPr>
          <p:nvPr>
            <p:ph type="body" sz="quarter" idx="13"/>
          </p:nvPr>
        </p:nvSpPr>
        <p:spPr>
          <a:xfrm>
            <a:off x="792034" y="712595"/>
            <a:ext cx="2931125" cy="342986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500"/>
              </a:spcBef>
              <a:buSzTx/>
              <a:buFontTx/>
              <a:buNone/>
              <a:defRPr sz="2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464473" y="6044047"/>
            <a:ext cx="263983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5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576025" y="259507"/>
            <a:ext cx="10368440" cy="108003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576025" y="1512042"/>
            <a:ext cx="10368440" cy="4276617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pic>
        <p:nvPicPr>
          <p:cNvPr id="4" name="图片 6" descr="图片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"/>
            <a:ext cx="11520489" cy="647941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680483" y="6044047"/>
            <a:ext cx="263982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1pPr>
      <a:lvl2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2pPr>
      <a:lvl3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3pPr>
      <a:lvl4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4pPr>
      <a:lvl5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5pPr>
      <a:lvl6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titleStyle>
    <p:bodyStyle>
      <a:lvl1pPr marL="342900" marR="0" indent="-34290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1pPr>
      <a:lvl2pPr marL="783590" marR="0" indent="-32639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2pPr>
      <a:lvl3pPr marL="1219200" marR="0" indent="-30480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3pPr>
      <a:lvl4pPr marL="17373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4pPr>
      <a:lvl5pPr marL="21945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5pPr>
      <a:lvl6pPr marL="26517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31089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5661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40233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57594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575945" algn="r" defTabSz="57594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1151890" algn="r" defTabSz="57594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727835" algn="r" defTabSz="57594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2303780" algn="r" defTabSz="57594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879725" algn="r" defTabSz="57594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3455670" algn="r" defTabSz="57594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4031615" algn="r" defTabSz="57594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4607560" algn="r" defTabSz="57594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38" name="流程图: 手动输入 4"/>
          <p:cNvSpPr/>
          <p:nvPr/>
        </p:nvSpPr>
        <p:spPr>
          <a:xfrm rot="16200000" flipH="1">
            <a:off x="4358349" y="-681962"/>
            <a:ext cx="6480178" cy="7844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432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9" name="图片 5" descr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1600" y="-1851"/>
            <a:ext cx="11520489" cy="65416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0" name="图片 6" descr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8274" y="-29029"/>
            <a:ext cx="11658763" cy="655728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3" name="图片 9" descr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56" y="-6999"/>
            <a:ext cx="11508085" cy="649575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1" name="文本框 7"/>
          <p:cNvSpPr txBox="1"/>
          <p:nvPr/>
        </p:nvSpPr>
        <p:spPr>
          <a:xfrm>
            <a:off x="8074812" y="2824589"/>
            <a:ext cx="2639060" cy="82994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algn="r">
              <a:lnSpc>
                <a:spcPct val="120000"/>
              </a:lnSpc>
              <a:defRPr sz="40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4000" b="1" spc="300" dirty="0">
                <a:latin typeface="微软雅黑" panose="020B0503020204020204" charset="-122"/>
                <a:ea typeface="微软雅黑" panose="020B0503020204020204" charset="-122"/>
                <a:cs typeface="思源黑体"/>
                <a:sym typeface="思源黑体"/>
              </a:rPr>
              <a:t>Ceph</a:t>
            </a:r>
            <a:r>
              <a:rPr lang="zh-CN" altLang="en-US" sz="4000" b="1" spc="300" dirty="0">
                <a:latin typeface="微软雅黑" panose="020B0503020204020204" charset="-122"/>
                <a:ea typeface="微软雅黑" panose="020B0503020204020204" charset="-122"/>
                <a:cs typeface="思源黑体"/>
                <a:sym typeface="思源黑体"/>
              </a:rPr>
              <a:t>培训</a:t>
            </a:r>
            <a:endParaRPr lang="zh-CN" altLang="en-US" sz="4000" b="1" spc="300" dirty="0">
              <a:latin typeface="微软雅黑" panose="020B0503020204020204" charset="-122"/>
              <a:ea typeface="微软雅黑" panose="020B0503020204020204" charset="-122"/>
              <a:cs typeface="思源黑体"/>
              <a:sym typeface="思源黑体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940487" y="6032552"/>
            <a:ext cx="6341922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r" defTabSz="57594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Calibri" panose="020F0502020204030204"/>
              </a:rPr>
              <a:t>平安科技（深圳）有限公司  版权所有  未经授权不得使用和传播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chemeClr val="bg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r>
              <a:rPr dirty="0"/>
              <a:t>1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4624070" cy="82994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分布式存储演进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第一代存储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4"/>
          <p:cNvSpPr txBox="1"/>
          <p:nvPr/>
        </p:nvSpPr>
        <p:spPr>
          <a:xfrm>
            <a:off x="1763866" y="1582782"/>
            <a:ext cx="7992758" cy="303339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Prometheus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方案概述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endParaRPr lang="en-US" altLang="zh-CN" sz="1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sz="1600" dirty="0">
                <a:sym typeface="思源黑体"/>
              </a:rPr>
              <a:t>私有云监控</a:t>
            </a:r>
            <a:r>
              <a:rPr lang="en-US" altLang="zh-CN" sz="1600" dirty="0">
                <a:sym typeface="思源黑体"/>
              </a:rPr>
              <a:t>(</a:t>
            </a:r>
            <a:r>
              <a:rPr lang="en-US" altLang="zh-CN" sz="1600" dirty="0" err="1">
                <a:sym typeface="思源黑体"/>
              </a:rPr>
              <a:t>prometheus</a:t>
            </a:r>
            <a:r>
              <a:rPr lang="zh-CN" altLang="en-US" sz="1600" dirty="0">
                <a:sym typeface="思源黑体"/>
              </a:rPr>
              <a:t>方案</a:t>
            </a:r>
            <a:r>
              <a:rPr lang="en-US" altLang="zh-CN" sz="1600" dirty="0">
                <a:sym typeface="思源黑体"/>
              </a:rPr>
              <a:t>)</a:t>
            </a:r>
            <a:r>
              <a:rPr lang="zh-CN" altLang="en-US" sz="1600" dirty="0">
                <a:sym typeface="思源黑体"/>
              </a:rPr>
              <a:t>定位是私有云企业的运维用户，监控采用了开源的</a:t>
            </a:r>
            <a:r>
              <a:rPr lang="en-US" altLang="zh-CN" sz="1600" dirty="0" err="1">
                <a:sym typeface="思源黑体"/>
              </a:rPr>
              <a:t>prometheus</a:t>
            </a:r>
            <a:r>
              <a:rPr lang="zh-CN" altLang="en-US" sz="1600" dirty="0">
                <a:sym typeface="思源黑体"/>
              </a:rPr>
              <a:t>组件。在不改动开源组件的情况下，通过写配置生成告警规则的配置。</a:t>
            </a:r>
            <a:r>
              <a:rPr lang="en-US" altLang="zh-CN" sz="1600" dirty="0">
                <a:sym typeface="思源黑体"/>
              </a:rPr>
              <a:t>server</a:t>
            </a:r>
            <a:r>
              <a:rPr lang="zh-CN" altLang="en-US" sz="1600" dirty="0">
                <a:sym typeface="思源黑体"/>
              </a:rPr>
              <a:t>通过主动拉取</a:t>
            </a:r>
            <a:r>
              <a:rPr lang="en-US" altLang="zh-CN" sz="1600" dirty="0">
                <a:sym typeface="思源黑体"/>
              </a:rPr>
              <a:t>client</a:t>
            </a:r>
            <a:r>
              <a:rPr lang="zh-CN" altLang="en-US" sz="1600" dirty="0">
                <a:sym typeface="思源黑体"/>
              </a:rPr>
              <a:t>数据，根据告警规则判断，实现告警功能。</a:t>
            </a:r>
            <a:endParaRPr lang="en-US" altLang="zh-CN" sz="1600" dirty="0">
              <a:sym typeface="思源黑体"/>
            </a:endParaRPr>
          </a:p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sz="1600" spc="300" dirty="0">
                <a:latin typeface="思源黑体"/>
                <a:ea typeface="思源黑体"/>
                <a:cs typeface="思源黑体"/>
              </a:rPr>
              <a:t>模块较少</a:t>
            </a:r>
            <a:r>
              <a:rPr lang="en-US" altLang="zh-CN" sz="1600" spc="300" dirty="0">
                <a:latin typeface="思源黑体"/>
                <a:ea typeface="思源黑体"/>
                <a:cs typeface="思源黑体"/>
              </a:rPr>
              <a:t>,</a:t>
            </a:r>
            <a:r>
              <a:rPr lang="zh-CN" altLang="en-US" sz="1600" spc="300" dirty="0">
                <a:latin typeface="思源黑体"/>
                <a:ea typeface="思源黑体"/>
                <a:cs typeface="思源黑体"/>
              </a:rPr>
              <a:t>方便运维，社区力量强</a:t>
            </a:r>
            <a:endParaRPr lang="en-US" altLang="zh-CN" sz="1600" spc="300" dirty="0">
              <a:latin typeface="思源黑体"/>
              <a:ea typeface="思源黑体"/>
              <a:cs typeface="思源黑体"/>
            </a:endParaRPr>
          </a:p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sz="1600" spc="300" dirty="0">
                <a:latin typeface="思源黑体"/>
                <a:ea typeface="思源黑体"/>
                <a:cs typeface="思源黑体"/>
              </a:rPr>
              <a:t>负责整个私有云平台的监控告警</a:t>
            </a:r>
            <a:endParaRPr lang="en-US" altLang="zh-CN" sz="1600" spc="300" dirty="0">
              <a:latin typeface="思源黑体"/>
              <a:ea typeface="思源黑体"/>
              <a:cs typeface="思源黑体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第二代存储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4"/>
          <p:cNvSpPr txBox="1"/>
          <p:nvPr/>
        </p:nvSpPr>
        <p:spPr>
          <a:xfrm>
            <a:off x="1763866" y="1582782"/>
            <a:ext cx="7992758" cy="303339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Prometheus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方案概述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endParaRPr lang="en-US" altLang="zh-CN" sz="1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sz="1600" dirty="0">
                <a:sym typeface="思源黑体"/>
              </a:rPr>
              <a:t>私有云监控</a:t>
            </a:r>
            <a:r>
              <a:rPr lang="en-US" altLang="zh-CN" sz="1600" dirty="0">
                <a:sym typeface="思源黑体"/>
              </a:rPr>
              <a:t>(</a:t>
            </a:r>
            <a:r>
              <a:rPr lang="en-US" altLang="zh-CN" sz="1600" dirty="0" err="1">
                <a:sym typeface="思源黑体"/>
              </a:rPr>
              <a:t>prometheus</a:t>
            </a:r>
            <a:r>
              <a:rPr lang="zh-CN" altLang="en-US" sz="1600" dirty="0">
                <a:sym typeface="思源黑体"/>
              </a:rPr>
              <a:t>方案</a:t>
            </a:r>
            <a:r>
              <a:rPr lang="en-US" altLang="zh-CN" sz="1600" dirty="0">
                <a:sym typeface="思源黑体"/>
              </a:rPr>
              <a:t>)</a:t>
            </a:r>
            <a:r>
              <a:rPr lang="zh-CN" altLang="en-US" sz="1600" dirty="0">
                <a:sym typeface="思源黑体"/>
              </a:rPr>
              <a:t>定位是私有云企业的运维用户，监控采用了开源的</a:t>
            </a:r>
            <a:r>
              <a:rPr lang="en-US" altLang="zh-CN" sz="1600" dirty="0" err="1">
                <a:sym typeface="思源黑体"/>
              </a:rPr>
              <a:t>prometheus</a:t>
            </a:r>
            <a:r>
              <a:rPr lang="zh-CN" altLang="en-US" sz="1600" dirty="0">
                <a:sym typeface="思源黑体"/>
              </a:rPr>
              <a:t>组件。在不改动开源组件的情况下，通过写配置生成告警规则的配置。</a:t>
            </a:r>
            <a:r>
              <a:rPr lang="en-US" altLang="zh-CN" sz="1600" dirty="0">
                <a:sym typeface="思源黑体"/>
              </a:rPr>
              <a:t>server</a:t>
            </a:r>
            <a:r>
              <a:rPr lang="zh-CN" altLang="en-US" sz="1600" dirty="0">
                <a:sym typeface="思源黑体"/>
              </a:rPr>
              <a:t>通过主动拉取</a:t>
            </a:r>
            <a:r>
              <a:rPr lang="en-US" altLang="zh-CN" sz="1600" dirty="0">
                <a:sym typeface="思源黑体"/>
              </a:rPr>
              <a:t>client</a:t>
            </a:r>
            <a:r>
              <a:rPr lang="zh-CN" altLang="en-US" sz="1600" dirty="0">
                <a:sym typeface="思源黑体"/>
              </a:rPr>
              <a:t>数据，根据告警规则判断，实现告警功能。</a:t>
            </a:r>
            <a:endParaRPr lang="en-US" altLang="zh-CN" sz="1600" dirty="0">
              <a:sym typeface="思源黑体"/>
            </a:endParaRPr>
          </a:p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sz="1600" spc="300" dirty="0">
                <a:latin typeface="思源黑体"/>
                <a:ea typeface="思源黑体"/>
                <a:cs typeface="思源黑体"/>
              </a:rPr>
              <a:t>模块较少</a:t>
            </a:r>
            <a:r>
              <a:rPr lang="en-US" altLang="zh-CN" sz="1600" spc="300" dirty="0">
                <a:latin typeface="思源黑体"/>
                <a:ea typeface="思源黑体"/>
                <a:cs typeface="思源黑体"/>
              </a:rPr>
              <a:t>,</a:t>
            </a:r>
            <a:r>
              <a:rPr lang="zh-CN" altLang="en-US" sz="1600" spc="300" dirty="0">
                <a:latin typeface="思源黑体"/>
                <a:ea typeface="思源黑体"/>
                <a:cs typeface="思源黑体"/>
              </a:rPr>
              <a:t>方便运维，社区力量强</a:t>
            </a:r>
            <a:endParaRPr lang="en-US" altLang="zh-CN" sz="1600" spc="300" dirty="0">
              <a:latin typeface="思源黑体"/>
              <a:ea typeface="思源黑体"/>
              <a:cs typeface="思源黑体"/>
            </a:endParaRPr>
          </a:p>
          <a:p>
            <a:pPr>
              <a:lnSpc>
                <a:spcPct val="140000"/>
              </a:lnSpc>
              <a:defRPr sz="24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sz="1600" spc="300" dirty="0">
                <a:latin typeface="思源黑体"/>
                <a:ea typeface="思源黑体"/>
                <a:cs typeface="思源黑体"/>
              </a:rPr>
              <a:t>负责整个私有云平台的监控告警</a:t>
            </a:r>
            <a:endParaRPr lang="en-US" altLang="zh-CN" sz="1600" spc="300" dirty="0">
              <a:latin typeface="思源黑体"/>
              <a:ea typeface="思源黑体"/>
              <a:cs typeface="思源黑体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r>
              <a:rPr dirty="0"/>
              <a:t>1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250" y="2334895"/>
            <a:ext cx="4464685" cy="82994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lvl="0" algn="l"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Ceph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前世今生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项目发展历史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575945" y="843280"/>
            <a:ext cx="10287000" cy="4572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项目版本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4930" y="1524635"/>
            <a:ext cx="7522210" cy="4286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342900" marR="0" indent="-342900" algn="l" defTabSz="57594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zh-CN" altLang="en-US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红帽Ceph</a:t>
            </a:r>
            <a:endParaRPr kumimoji="0" lang="zh-CN" altLang="en-US" sz="2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44930" y="2406650"/>
            <a:ext cx="7522210" cy="4286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342900" marR="0" indent="-342900" algn="l" defTabSz="57594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zh-CN" altLang="en-US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Ceph社区</a:t>
            </a:r>
            <a:endParaRPr kumimoji="0" lang="zh-CN" altLang="en-US" sz="2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15110" y="3023870"/>
            <a:ext cx="7522210" cy="4286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R="0" algn="l" defTabSz="57594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kumimoji="0" lang="en-US" altLang="zh-CN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pacific</a:t>
            </a:r>
            <a:r>
              <a:rPr kumimoji="0" lang="zh-CN" altLang="en-US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Calibri" panose="020F0502020204030204"/>
              </a:rPr>
              <a:t>、</a:t>
            </a:r>
            <a:r>
              <a:rPr kumimoji="0" lang="en-US" altLang="zh-CN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Calibri" panose="020F0502020204030204"/>
              </a:rPr>
              <a:t>octopus</a:t>
            </a:r>
            <a:r>
              <a:rPr kumimoji="0" lang="zh-CN" altLang="en-US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Calibri" panose="020F0502020204030204"/>
              </a:rPr>
              <a:t>、</a:t>
            </a:r>
            <a:r>
              <a:rPr kumimoji="0" lang="en-US" altLang="zh-CN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Calibri" panose="020F0502020204030204"/>
              </a:rPr>
              <a:t>nautilus</a:t>
            </a:r>
            <a:r>
              <a:rPr kumimoji="0" lang="zh-CN" altLang="en-US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Calibri" panose="020F0502020204030204"/>
              </a:rPr>
              <a:t>、</a:t>
            </a:r>
            <a:r>
              <a:rPr kumimoji="0" lang="en-US" altLang="zh-CN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宋体" panose="02010600030101010101" pitchFamily="2" charset="-122"/>
                <a:cs typeface="Calibri" panose="020F0502020204030204"/>
                <a:sym typeface="Calibri" panose="020F0502020204030204"/>
              </a:rPr>
              <a:t>mimic</a:t>
            </a:r>
            <a:endParaRPr kumimoji="0" lang="en-US" altLang="zh-CN" sz="2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宋体" panose="02010600030101010101" pitchFamily="2" charset="-122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r>
              <a:rPr dirty="0"/>
              <a:t>1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250" y="2334895"/>
            <a:ext cx="4464685" cy="42989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lvl="0" algn="l"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Ceph逻辑架构</a:t>
            </a:r>
            <a:endParaRPr lang="zh-CN" altLang="en-US" sz="2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整体架构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892810" y="949960"/>
            <a:ext cx="8167370" cy="46221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客户端访问路径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6" name="图片 115"/>
          <p:cNvPicPr/>
          <p:nvPr/>
        </p:nvPicPr>
        <p:blipFill>
          <a:blip r:embed="rId1"/>
          <a:stretch>
            <a:fillRect/>
          </a:stretch>
        </p:blipFill>
        <p:spPr>
          <a:xfrm>
            <a:off x="2922905" y="1947545"/>
            <a:ext cx="5429250" cy="2133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daemons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70735" y="1432560"/>
            <a:ext cx="1939290" cy="4286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ctr" forceAA="0">
            <a:spAutoFit/>
          </a:bodyPr>
          <a:p>
            <a:pPr marL="0" marR="0" indent="0" algn="l" defTabSz="57594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Monitors</a:t>
            </a:r>
            <a:endParaRPr kumimoji="0" lang="en-US" altLang="zh-CN" sz="2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70735" y="2355215"/>
            <a:ext cx="1939290" cy="4286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fromWordArt="0" anchor="ctr" anchorCtr="0" forceAA="0" compatLnSpc="1">
            <a:spAutoFit/>
          </a:bodyPr>
          <a:p>
            <a:pPr lvl="0" algn="l"/>
            <a:r>
              <a:rPr lang="en-US" altLang="zh-CN">
                <a:sym typeface="Calibri" panose="020F0502020204030204"/>
              </a:rPr>
              <a:t>OSDs</a:t>
            </a:r>
            <a:endParaRPr lang="en-US" altLang="zh-CN">
              <a:sym typeface="Calibri" panose="020F05020202040302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735" y="3368675"/>
            <a:ext cx="1939290" cy="4286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fromWordArt="0" anchor="ctr" anchorCtr="0" forceAA="0" compatLnSpc="1">
            <a:spAutoFit/>
          </a:bodyPr>
          <a:p>
            <a:pPr lvl="0" algn="l"/>
            <a:r>
              <a:rPr lang="en-US" altLang="zh-CN">
                <a:sym typeface="Calibri" panose="020F0502020204030204"/>
              </a:rPr>
              <a:t>Managers</a:t>
            </a:r>
            <a:endParaRPr lang="en-US" altLang="zh-CN">
              <a:sym typeface="Calibri" panose="020F050202020403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70735" y="4420235"/>
            <a:ext cx="1939290" cy="4286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fromWordArt="0" anchor="ctr" anchorCtr="0" forceAA="0" compatLnSpc="1">
            <a:spAutoFit/>
          </a:bodyPr>
          <a:p>
            <a:pPr lvl="0" algn="l"/>
            <a:r>
              <a:rPr lang="en-US" altLang="zh-CN">
                <a:sym typeface="Calibri" panose="020F0502020204030204"/>
              </a:rPr>
              <a:t>MDS</a:t>
            </a:r>
            <a:endParaRPr lang="en-US" altLang="zh-CN"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数据存储过程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2581275" y="1292225"/>
            <a:ext cx="3714750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2581275" y="3037840"/>
            <a:ext cx="5715000" cy="1466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cluster map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57605" y="1155065"/>
            <a:ext cx="4359910" cy="4286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anchorCtr="0" forceAA="0">
            <a:spAutoFit/>
          </a:bodyPr>
          <a:p>
            <a:pPr marL="342900" marR="0" indent="-342900" algn="l" defTabSz="57594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Monitor Map</a:t>
            </a:r>
            <a:endParaRPr kumimoji="0" lang="en-US" altLang="zh-CN" sz="2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57605" y="1964055"/>
            <a:ext cx="4359910" cy="4286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anchorCtr="0" forceAA="0">
            <a:spAutoFit/>
          </a:bodyPr>
          <a:p>
            <a:pPr marL="342900" marR="0" indent="-342900" algn="l" defTabSz="57594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OSD Map</a:t>
            </a:r>
            <a:endParaRPr kumimoji="0" lang="en-US" altLang="zh-CN" sz="2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57605" y="2773045"/>
            <a:ext cx="4359910" cy="4286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anchorCtr="0" forceAA="0">
            <a:spAutoFit/>
          </a:bodyPr>
          <a:p>
            <a:pPr marL="342900" marR="0" indent="-342900" algn="l" defTabSz="57594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PG Map</a:t>
            </a:r>
            <a:endParaRPr kumimoji="0" lang="en-US" altLang="zh-CN" sz="2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57605" y="3582035"/>
            <a:ext cx="4359910" cy="4286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anchorCtr="0" forceAA="0">
            <a:spAutoFit/>
          </a:bodyPr>
          <a:p>
            <a:pPr marL="342900" marR="0" indent="-342900" algn="l" defTabSz="57594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CRUSH Map</a:t>
            </a:r>
            <a:endParaRPr kumimoji="0" lang="en-US" altLang="zh-CN" sz="2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57605" y="4391025"/>
            <a:ext cx="4359910" cy="4286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anchorCtr="0" forceAA="0">
            <a:spAutoFit/>
          </a:bodyPr>
          <a:p>
            <a:pPr marL="342900" marR="0" indent="-342900" algn="l" defTabSz="57594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zh-CN" sz="2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MDS Map</a:t>
            </a:r>
            <a:endParaRPr kumimoji="0" lang="en-US" altLang="zh-CN" sz="2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认证过程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3034030" y="1489711"/>
            <a:ext cx="4667250" cy="186689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认证过程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3140710" y="1262381"/>
            <a:ext cx="4762500" cy="373379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认证过程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5" name="图片 104"/>
          <p:cNvPicPr/>
          <p:nvPr/>
        </p:nvPicPr>
        <p:blipFill>
          <a:blip r:embed="rId1"/>
          <a:stretch>
            <a:fillRect/>
          </a:stretch>
        </p:blipFill>
        <p:spPr>
          <a:xfrm>
            <a:off x="2680335" y="904875"/>
            <a:ext cx="5619750" cy="4667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复制过程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6" name="图片 105"/>
          <p:cNvPicPr/>
          <p:nvPr/>
        </p:nvPicPr>
        <p:blipFill>
          <a:blip r:embed="rId1"/>
          <a:stretch>
            <a:fillRect/>
          </a:stretch>
        </p:blipFill>
        <p:spPr>
          <a:xfrm>
            <a:off x="3806826" y="1504950"/>
            <a:ext cx="3905249" cy="3467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POOLS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" name="图片 106"/>
          <p:cNvPicPr/>
          <p:nvPr/>
        </p:nvPicPr>
        <p:blipFill>
          <a:blip r:embed="rId1"/>
          <a:stretch>
            <a:fillRect/>
          </a:stretch>
        </p:blipFill>
        <p:spPr>
          <a:xfrm>
            <a:off x="3663951" y="2105025"/>
            <a:ext cx="4190999" cy="2266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PG--&gt;OSDS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映射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8" name="图片 107"/>
          <p:cNvPicPr/>
          <p:nvPr/>
        </p:nvPicPr>
        <p:blipFill>
          <a:blip r:embed="rId1"/>
          <a:stretch>
            <a:fillRect/>
          </a:stretch>
        </p:blipFill>
        <p:spPr>
          <a:xfrm>
            <a:off x="2901950" y="1571625"/>
            <a:ext cx="5715000" cy="3333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数据均衡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9" name="图片 108"/>
          <p:cNvPicPr/>
          <p:nvPr/>
        </p:nvPicPr>
        <p:blipFill>
          <a:blip r:embed="rId1"/>
          <a:stretch>
            <a:fillRect/>
          </a:stretch>
        </p:blipFill>
        <p:spPr>
          <a:xfrm>
            <a:off x="3218180" y="1656080"/>
            <a:ext cx="4953000" cy="2933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读写过程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0" name="图片 109"/>
          <p:cNvPicPr/>
          <p:nvPr/>
        </p:nvPicPr>
        <p:blipFill>
          <a:blip r:embed="rId1"/>
          <a:stretch>
            <a:fillRect/>
          </a:stretch>
        </p:blipFill>
        <p:spPr>
          <a:xfrm>
            <a:off x="2643505" y="452755"/>
            <a:ext cx="5879465" cy="57359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读写过程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1" name="图片 110"/>
          <p:cNvPicPr/>
          <p:nvPr/>
        </p:nvPicPr>
        <p:blipFill>
          <a:blip r:embed="rId1"/>
          <a:stretch>
            <a:fillRect/>
          </a:stretch>
        </p:blipFill>
        <p:spPr>
          <a:xfrm>
            <a:off x="3239135" y="440055"/>
            <a:ext cx="4951730" cy="57600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分层缓存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2" name="图片 111"/>
          <p:cNvPicPr/>
          <p:nvPr/>
        </p:nvPicPr>
        <p:blipFill>
          <a:blip r:embed="rId1"/>
          <a:stretch>
            <a:fillRect/>
          </a:stretch>
        </p:blipFill>
        <p:spPr>
          <a:xfrm>
            <a:off x="2282825" y="1371601"/>
            <a:ext cx="6953250" cy="373379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对象监视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通知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3" name="图片 112"/>
          <p:cNvPicPr/>
          <p:nvPr/>
        </p:nvPicPr>
        <p:blipFill>
          <a:blip r:embed="rId1"/>
          <a:stretch>
            <a:fillRect/>
          </a:stretch>
        </p:blipFill>
        <p:spPr>
          <a:xfrm>
            <a:off x="2163445" y="851535"/>
            <a:ext cx="6774815" cy="52616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数据分片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4" name="图片 113"/>
          <p:cNvPicPr/>
          <p:nvPr/>
        </p:nvPicPr>
        <p:blipFill>
          <a:blip r:embed="rId1"/>
          <a:stretch>
            <a:fillRect/>
          </a:stretch>
        </p:blipFill>
        <p:spPr>
          <a:xfrm>
            <a:off x="4140200" y="1104900"/>
            <a:ext cx="3238500" cy="426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数据分片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5" name="图片 114"/>
          <p:cNvPicPr/>
          <p:nvPr/>
        </p:nvPicPr>
        <p:blipFill>
          <a:blip r:embed="rId1"/>
          <a:stretch>
            <a:fillRect/>
          </a:stretch>
        </p:blipFill>
        <p:spPr>
          <a:xfrm>
            <a:off x="2563495" y="577215"/>
            <a:ext cx="6583680" cy="5540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r>
              <a:rPr dirty="0"/>
              <a:t>1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250" y="2334895"/>
            <a:ext cx="4464685" cy="42989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lvl="0" algn="l"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Ceph集群部署</a:t>
            </a:r>
            <a:endParaRPr lang="zh-CN" altLang="en-US" sz="2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r>
              <a:rPr dirty="0"/>
              <a:t>1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250" y="2334895"/>
            <a:ext cx="4464685" cy="42989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lvl="0" algn="l"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Ceph</a:t>
            </a:r>
            <a:r>
              <a:rPr lang="en-US" altLang="zh-CN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--RBD</a:t>
            </a:r>
            <a:endParaRPr lang="en-US" altLang="zh-CN" sz="2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r>
              <a:rPr dirty="0"/>
              <a:t>1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250" y="2334895"/>
            <a:ext cx="4464685" cy="42989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lvl="0" algn="l"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Ceph</a:t>
            </a:r>
            <a:r>
              <a:rPr lang="en-US" altLang="zh-CN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-OBS</a:t>
            </a:r>
            <a:endParaRPr lang="en-US" altLang="zh-CN" sz="2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r>
              <a:rPr dirty="0"/>
              <a:t>1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250" y="2334895"/>
            <a:ext cx="4464685" cy="42989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lvl="0" algn="l"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Ceph</a:t>
            </a:r>
            <a:r>
              <a:rPr lang="en-US" altLang="zh-CN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--Dashboard</a:t>
            </a:r>
            <a:endParaRPr lang="en-US" altLang="zh-CN" sz="2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r>
              <a:rPr dirty="0"/>
              <a:t>1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250" y="2334895"/>
            <a:ext cx="4464685" cy="42989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lvl="0" algn="l"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Ceph</a:t>
            </a:r>
            <a:r>
              <a:rPr lang="en-US" altLang="zh-CN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常规运维</a:t>
            </a:r>
            <a:endParaRPr lang="zh-CN" altLang="en-US" sz="2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r>
              <a:rPr dirty="0"/>
              <a:t>1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250" y="2334895"/>
            <a:ext cx="4464685" cy="42989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lvl="0" algn="l"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Ceph</a:t>
            </a:r>
            <a:r>
              <a:rPr lang="en-US" altLang="zh-CN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常见问题</a:t>
            </a:r>
            <a:endParaRPr lang="zh-CN" altLang="en-US" sz="2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5471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r>
              <a:rPr lang="en-US" altLang="zh-CN" dirty="0"/>
              <a:t>4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493256" y="2579616"/>
            <a:ext cx="1103826" cy="15696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QA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1" name="图片 8" descr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3013" y="-29029"/>
            <a:ext cx="11573501" cy="65326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45" name="流程图: 手动输入 4"/>
          <p:cNvSpPr/>
          <p:nvPr/>
        </p:nvSpPr>
        <p:spPr>
          <a:xfrm rot="16200000" flipH="1">
            <a:off x="4358349" y="-681962"/>
            <a:ext cx="6480178" cy="7844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432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846" name="图片 5" descr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-1851"/>
            <a:ext cx="11520489" cy="65416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47" name="图片 6" descr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274" y="-29029"/>
            <a:ext cx="11658763" cy="655728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48" name="文本框 7"/>
          <p:cNvSpPr txBox="1"/>
          <p:nvPr/>
        </p:nvSpPr>
        <p:spPr>
          <a:xfrm>
            <a:off x="5146766" y="2204946"/>
            <a:ext cx="5857795" cy="76841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lnSpc>
                <a:spcPct val="120000"/>
              </a:lnSpc>
              <a:defRPr sz="4000" spc="300">
                <a:solidFill>
                  <a:srgbClr val="E94609"/>
                </a:solidFill>
                <a:latin typeface="思源黑体"/>
                <a:ea typeface="思源黑体"/>
                <a:cs typeface="思源黑体"/>
                <a:sym typeface="思源黑体"/>
              </a:defRPr>
            </a:lvl1pPr>
          </a:lstStyle>
          <a:p>
            <a:r>
              <a:rPr dirty="0" err="1"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平安云内部培训PPT模版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57594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57594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57594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57594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平安云内部培训PPT模版</Template>
  <TotalTime>0</TotalTime>
  <Words>702</Words>
  <Application>WPS 演示</Application>
  <PresentationFormat>自定义</PresentationFormat>
  <Paragraphs>127</Paragraphs>
  <Slides>34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Arial</vt:lpstr>
      <vt:lpstr>宋体</vt:lpstr>
      <vt:lpstr>Wingdings</vt:lpstr>
      <vt:lpstr>Calibri</vt:lpstr>
      <vt:lpstr>Arial</vt:lpstr>
      <vt:lpstr>微软雅黑</vt:lpstr>
      <vt:lpstr>等线</vt:lpstr>
      <vt:lpstr>思源黑体</vt:lpstr>
      <vt:lpstr>黑体</vt:lpstr>
      <vt:lpstr>Impact</vt:lpstr>
      <vt:lpstr>Arial Unicode MS</vt:lpstr>
      <vt:lpstr>Wingdings</vt:lpstr>
      <vt:lpstr>平安云内部培训PPT模版</vt:lpstr>
      <vt:lpstr>PowerPoint 演示文稿</vt:lpstr>
      <vt:lpstr>PowerPoint 演示文稿</vt:lpstr>
      <vt:lpstr>第一代存储</vt:lpstr>
      <vt:lpstr>第二代存储</vt:lpstr>
      <vt:lpstr>PowerPoint 演示文稿</vt:lpstr>
      <vt:lpstr>第二代存储</vt:lpstr>
      <vt:lpstr>项目发展历史</vt:lpstr>
      <vt:lpstr>PowerPoint 演示文稿</vt:lpstr>
      <vt:lpstr>整体架构</vt:lpstr>
      <vt:lpstr>客户端访问路径</vt:lpstr>
      <vt:lpstr>daemons</vt:lpstr>
      <vt:lpstr>数据存储过程</vt:lpstr>
      <vt:lpstr>cluster map</vt:lpstr>
      <vt:lpstr>认证过程</vt:lpstr>
      <vt:lpstr>认证过程</vt:lpstr>
      <vt:lpstr>认证过程</vt:lpstr>
      <vt:lpstr>复制过程</vt:lpstr>
      <vt:lpstr>POOLS</vt:lpstr>
      <vt:lpstr>PG--&gt;OSDS映射</vt:lpstr>
      <vt:lpstr>数据均衡</vt:lpstr>
      <vt:lpstr>读写过程</vt:lpstr>
      <vt:lpstr>读写过程</vt:lpstr>
      <vt:lpstr>分层缓存</vt:lpstr>
      <vt:lpstr>对象监视/通知</vt:lpstr>
      <vt:lpstr>数据分片</vt:lpstr>
      <vt:lpstr>数据分片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中国平安保险(集团)股份有限公司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Localadmin</dc:creator>
  <cp:keywords>lgm</cp:keywords>
  <cp:lastModifiedBy>Localadmin</cp:lastModifiedBy>
  <cp:revision>265</cp:revision>
  <dcterms:created xsi:type="dcterms:W3CDTF">2018-07-12T06:20:00Z</dcterms:created>
  <dcterms:modified xsi:type="dcterms:W3CDTF">2021-11-30T10:04:49Z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D4CE1A10C17E4FF5B80418583DBD9369</vt:lpwstr>
  </property>
  <property fmtid="{D5CDD505-2E9C-101B-9397-08002B2CF9AE}" pid="3" name="KSOProductBuildVer">
    <vt:lpwstr>2052-11.1.0.11045</vt:lpwstr>
  </property>
</Properties>
</file>