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48" r:id="rId1"/>
  </p:sldMasterIdLst>
  <p:notesMasterIdLst>
    <p:notesMasterId r:id="rId47"/>
  </p:notesMasterIdLst>
  <p:sldIdLst>
    <p:sldId id="256" r:id="rId2"/>
    <p:sldId id="453" r:id="rId3"/>
    <p:sldId id="456" r:id="rId4"/>
    <p:sldId id="458" r:id="rId5"/>
    <p:sldId id="459" r:id="rId6"/>
    <p:sldId id="460" r:id="rId7"/>
    <p:sldId id="461" r:id="rId8"/>
    <p:sldId id="468" r:id="rId9"/>
    <p:sldId id="469" r:id="rId10"/>
    <p:sldId id="462" r:id="rId11"/>
    <p:sldId id="470" r:id="rId12"/>
    <p:sldId id="471" r:id="rId13"/>
    <p:sldId id="472" r:id="rId14"/>
    <p:sldId id="473" r:id="rId15"/>
    <p:sldId id="463" r:id="rId16"/>
    <p:sldId id="474" r:id="rId17"/>
    <p:sldId id="475" r:id="rId18"/>
    <p:sldId id="476" r:id="rId19"/>
    <p:sldId id="477" r:id="rId20"/>
    <p:sldId id="464" r:id="rId21"/>
    <p:sldId id="478" r:id="rId22"/>
    <p:sldId id="479" r:id="rId23"/>
    <p:sldId id="480" r:id="rId24"/>
    <p:sldId id="481" r:id="rId25"/>
    <p:sldId id="482" r:id="rId26"/>
    <p:sldId id="483" r:id="rId27"/>
    <p:sldId id="486" r:id="rId28"/>
    <p:sldId id="485" r:id="rId29"/>
    <p:sldId id="487" r:id="rId30"/>
    <p:sldId id="488" r:id="rId31"/>
    <p:sldId id="489" r:id="rId32"/>
    <p:sldId id="484" r:id="rId33"/>
    <p:sldId id="493" r:id="rId34"/>
    <p:sldId id="494" r:id="rId35"/>
    <p:sldId id="495" r:id="rId36"/>
    <p:sldId id="490" r:id="rId37"/>
    <p:sldId id="491" r:id="rId38"/>
    <p:sldId id="492" r:id="rId39"/>
    <p:sldId id="465" r:id="rId40"/>
    <p:sldId id="496" r:id="rId41"/>
    <p:sldId id="497" r:id="rId42"/>
    <p:sldId id="466" r:id="rId43"/>
    <p:sldId id="467" r:id="rId44"/>
    <p:sldId id="447" r:id="rId45"/>
    <p:sldId id="295" r:id="rId46"/>
  </p:sldIdLst>
  <p:sldSz cx="11518900" cy="647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575980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1151960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727942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2303921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879903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3455882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4031863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4607843" algn="l" defTabSz="5759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040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梁桂明(平安科技计算产品团队监控智能服务组)" initials="梁桂明(平安科技计算产品团队监控智能服务组)" lastIdx="1" clrIdx="0">
    <p:extLst>
      <p:ext uri="{19B8F6BF-5375-455C-9EA6-DF929625EA0E}">
        <p15:presenceInfo xmlns:p15="http://schemas.microsoft.com/office/powerpoint/2012/main" userId="S-1-5-21-1392117938-847598349-1136263860-25766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4709"/>
    <a:srgbClr val="229113"/>
    <a:srgbClr val="0000CC"/>
    <a:srgbClr val="333031"/>
    <a:srgbClr val="D75328"/>
    <a:srgbClr val="DD4B23"/>
    <a:srgbClr val="ABE7F3"/>
    <a:srgbClr val="7983DD"/>
    <a:srgbClr val="F587E8"/>
    <a:srgbClr val="EA46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87692" autoAdjust="0"/>
  </p:normalViewPr>
  <p:slideViewPr>
    <p:cSldViewPr snapToGrid="0">
      <p:cViewPr varScale="1">
        <p:scale>
          <a:sx n="64" d="100"/>
          <a:sy n="64" d="100"/>
        </p:scale>
        <p:origin x="852" y="72"/>
      </p:cViewPr>
      <p:guideLst>
        <p:guide orient="horz" pos="2040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6" name="Shape 1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7062434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等线"/>
      </a:defRPr>
    </a:lvl1pPr>
    <a:lvl2pPr indent="228600" latinLnBrk="0">
      <a:defRPr sz="1200">
        <a:latin typeface="+mn-lt"/>
        <a:ea typeface="+mn-ea"/>
        <a:cs typeface="+mn-cs"/>
        <a:sym typeface="等线"/>
      </a:defRPr>
    </a:lvl2pPr>
    <a:lvl3pPr indent="457200" latinLnBrk="0">
      <a:defRPr sz="1200">
        <a:latin typeface="+mn-lt"/>
        <a:ea typeface="+mn-ea"/>
        <a:cs typeface="+mn-cs"/>
        <a:sym typeface="等线"/>
      </a:defRPr>
    </a:lvl3pPr>
    <a:lvl4pPr indent="685800" latinLnBrk="0">
      <a:defRPr sz="1200">
        <a:latin typeface="+mn-lt"/>
        <a:ea typeface="+mn-ea"/>
        <a:cs typeface="+mn-cs"/>
        <a:sym typeface="等线"/>
      </a:defRPr>
    </a:lvl4pPr>
    <a:lvl5pPr indent="914400" latinLnBrk="0">
      <a:defRPr sz="1200">
        <a:latin typeface="+mn-lt"/>
        <a:ea typeface="+mn-ea"/>
        <a:cs typeface="+mn-cs"/>
        <a:sym typeface="等线"/>
      </a:defRPr>
    </a:lvl5pPr>
    <a:lvl6pPr indent="1143000" latinLnBrk="0">
      <a:defRPr sz="1200">
        <a:latin typeface="+mn-lt"/>
        <a:ea typeface="+mn-ea"/>
        <a:cs typeface="+mn-cs"/>
        <a:sym typeface="等线"/>
      </a:defRPr>
    </a:lvl6pPr>
    <a:lvl7pPr indent="1371600" latinLnBrk="0">
      <a:defRPr sz="1200">
        <a:latin typeface="+mn-lt"/>
        <a:ea typeface="+mn-ea"/>
        <a:cs typeface="+mn-cs"/>
        <a:sym typeface="等线"/>
      </a:defRPr>
    </a:lvl7pPr>
    <a:lvl8pPr indent="1600200" latinLnBrk="0">
      <a:defRPr sz="1200">
        <a:latin typeface="+mn-lt"/>
        <a:ea typeface="+mn-ea"/>
        <a:cs typeface="+mn-cs"/>
        <a:sym typeface="等线"/>
      </a:defRPr>
    </a:lvl8pPr>
    <a:lvl9pPr indent="1828800" latinLnBrk="0">
      <a:defRPr sz="1200">
        <a:latin typeface="+mn-lt"/>
        <a:ea typeface="+mn-ea"/>
        <a:cs typeface="+mn-cs"/>
        <a:sym typeface="等线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350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2258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文本"/>
          <p:cNvSpPr txBox="1">
            <a:spLocks noGrp="1"/>
          </p:cNvSpPr>
          <p:nvPr>
            <p:ph type="title"/>
          </p:nvPr>
        </p:nvSpPr>
        <p:spPr>
          <a:xfrm>
            <a:off x="864036" y="2013055"/>
            <a:ext cx="9792416" cy="138903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728073" y="3672099"/>
            <a:ext cx="8064342" cy="1656046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/>
          </p:nvPr>
        </p:nvSpPr>
        <p:spPr>
          <a:xfrm>
            <a:off x="910039" y="4164114"/>
            <a:ext cx="9792415" cy="128703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1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910039" y="2746574"/>
            <a:ext cx="9792415" cy="141753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pic>
        <p:nvPicPr>
          <p:cNvPr id="32" name="图片 6" descr="图片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"/>
            <a:ext cx="11520489" cy="6479414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1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576023" y="1134030"/>
            <a:ext cx="5088218" cy="3207087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pic>
        <p:nvPicPr>
          <p:cNvPr id="42" name="图片 7" descr="图片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"/>
            <a:ext cx="11520489" cy="6479414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片 8" descr="图片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5430" y="0"/>
            <a:ext cx="973734" cy="112170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576025" y="1450540"/>
            <a:ext cx="5090217" cy="604517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63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5852250" y="1450540"/>
            <a:ext cx="5092217" cy="604517"/>
          </a:xfrm>
          <a:prstGeom prst="rect">
            <a:avLst/>
          </a:prstGeom>
        </p:spPr>
        <p:txBody>
          <a:bodyPr anchor="b"/>
          <a:lstStyle/>
          <a:p>
            <a:pPr marL="0" lvl="0" indent="0">
              <a:spcBef>
                <a:spcPts val="500"/>
              </a:spcBef>
              <a:buSzTx/>
              <a:buFontTx/>
              <a:buNone/>
              <a:defRPr sz="2400" b="1"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7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标题文本"/>
          <p:cNvSpPr txBox="1">
            <a:spLocks noGrp="1"/>
          </p:cNvSpPr>
          <p:nvPr>
            <p:ph type="title"/>
          </p:nvPr>
        </p:nvSpPr>
        <p:spPr>
          <a:xfrm>
            <a:off x="576025" y="258006"/>
            <a:ext cx="3790162" cy="109803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87" name="正文级别 1…"/>
          <p:cNvSpPr txBox="1">
            <a:spLocks noGrp="1"/>
          </p:cNvSpPr>
          <p:nvPr>
            <p:ph type="body" idx="1"/>
          </p:nvPr>
        </p:nvSpPr>
        <p:spPr>
          <a:xfrm>
            <a:off x="4504190" y="258007"/>
            <a:ext cx="6440275" cy="55306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88" name="文本占位符 3"/>
          <p:cNvSpPr>
            <a:spLocks noGrp="1"/>
          </p:cNvSpPr>
          <p:nvPr>
            <p:ph type="body" sz="half" idx="13"/>
          </p:nvPr>
        </p:nvSpPr>
        <p:spPr>
          <a:xfrm>
            <a:off x="576026" y="1356037"/>
            <a:ext cx="3790161" cy="4432622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300"/>
              </a:spcBef>
              <a:buSzTx/>
              <a:buFontTx/>
              <a:buNone/>
              <a:defRPr sz="1400"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8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标题文本"/>
          <p:cNvSpPr txBox="1">
            <a:spLocks noGrp="1"/>
          </p:cNvSpPr>
          <p:nvPr>
            <p:ph type="title"/>
          </p:nvPr>
        </p:nvSpPr>
        <p:spPr>
          <a:xfrm>
            <a:off x="2258096" y="4536121"/>
            <a:ext cx="6912293" cy="53551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7" name="图片占位符 2"/>
          <p:cNvSpPr>
            <a:spLocks noGrp="1"/>
          </p:cNvSpPr>
          <p:nvPr>
            <p:ph type="pic" sz="half" idx="13"/>
          </p:nvPr>
        </p:nvSpPr>
        <p:spPr>
          <a:xfrm>
            <a:off x="2258096" y="579014"/>
            <a:ext cx="6912293" cy="38881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zh-CN" altLang="en-US"/>
              <a:t>单击图标添加图片</a:t>
            </a:r>
            <a:endParaRPr/>
          </a:p>
        </p:txBody>
      </p:sp>
      <p:sp>
        <p:nvSpPr>
          <p:cNvPr id="9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2258096" y="5071636"/>
            <a:ext cx="6912293" cy="76052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9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07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0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标题文本"/>
          <p:cNvSpPr txBox="1">
            <a:spLocks noGrp="1"/>
          </p:cNvSpPr>
          <p:nvPr>
            <p:ph type="title"/>
          </p:nvPr>
        </p:nvSpPr>
        <p:spPr>
          <a:xfrm>
            <a:off x="8352353" y="195005"/>
            <a:ext cx="2592111" cy="414611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16" name="正文级别 1…"/>
          <p:cNvSpPr txBox="1">
            <a:spLocks noGrp="1"/>
          </p:cNvSpPr>
          <p:nvPr>
            <p:ph type="body" idx="1"/>
          </p:nvPr>
        </p:nvSpPr>
        <p:spPr>
          <a:xfrm>
            <a:off x="576025" y="195005"/>
            <a:ext cx="7584321" cy="41461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1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只有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矩形 4"/>
          <p:cNvSpPr/>
          <p:nvPr/>
        </p:nvSpPr>
        <p:spPr>
          <a:xfrm>
            <a:off x="418582" y="0"/>
            <a:ext cx="167206" cy="654019"/>
          </a:xfrm>
          <a:prstGeom prst="rect">
            <a:avLst/>
          </a:prstGeom>
          <a:solidFill>
            <a:srgbClr val="FF5D0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1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5" name="图片 5" descr="图片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31666" y="261531"/>
            <a:ext cx="3072131" cy="293981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4260839" y="712595"/>
            <a:ext cx="2998809" cy="342986"/>
          </a:xfrm>
          <a:prstGeom prst="rect">
            <a:avLst/>
          </a:prstGeom>
        </p:spPr>
        <p:txBody>
          <a:bodyPr/>
          <a:lstStyle>
            <a:lvl1pPr marL="0" indent="0" algn="ctr" defTabSz="864017">
              <a:lnSpc>
                <a:spcPct val="90000"/>
              </a:lnSpc>
              <a:spcBef>
                <a:spcPts val="900"/>
              </a:spcBef>
              <a:buSzTx/>
              <a:buFontTx/>
              <a:buNone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marL="681717" indent="-224517" algn="ctr" defTabSz="864017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marL="1123950" indent="-209550" algn="ctr" defTabSz="864017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marL="1623060" indent="-251460" algn="ctr" defTabSz="864017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marL="2080260" indent="-251460" algn="ctr" defTabSz="864017">
              <a:lnSpc>
                <a:spcPct val="90000"/>
              </a:lnSpc>
              <a:spcBef>
                <a:spcPts val="900"/>
              </a:spcBef>
              <a:buFontTx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27" name="标题文本"/>
          <p:cNvSpPr txBox="1">
            <a:spLocks noGrp="1"/>
          </p:cNvSpPr>
          <p:nvPr>
            <p:ph type="title"/>
          </p:nvPr>
        </p:nvSpPr>
        <p:spPr>
          <a:xfrm>
            <a:off x="792034" y="206813"/>
            <a:ext cx="3278307" cy="447206"/>
          </a:xfrm>
          <a:prstGeom prst="rect">
            <a:avLst/>
          </a:prstGeom>
        </p:spPr>
        <p:txBody>
          <a:bodyPr/>
          <a:lstStyle>
            <a:lvl1pPr>
              <a:defRPr sz="26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28" name="文本占位符 39"/>
          <p:cNvSpPr>
            <a:spLocks noGrp="1"/>
          </p:cNvSpPr>
          <p:nvPr>
            <p:ph type="body" sz="quarter" idx="13"/>
          </p:nvPr>
        </p:nvSpPr>
        <p:spPr>
          <a:xfrm>
            <a:off x="792034" y="712595"/>
            <a:ext cx="2931125" cy="342986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ts val="500"/>
              </a:spcBef>
              <a:buSzTx/>
              <a:buFontTx/>
              <a:buNone/>
              <a:defRPr sz="2200">
                <a:solidFill>
                  <a:srgbClr val="59595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2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464473" y="6044047"/>
            <a:ext cx="263983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576025" y="259507"/>
            <a:ext cx="10368440" cy="1080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576025" y="1512042"/>
            <a:ext cx="10368440" cy="42766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pic>
        <p:nvPicPr>
          <p:cNvPr id="4" name="图片 6" descr="图片 6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0" y="1"/>
            <a:ext cx="11520489" cy="6479414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680483" y="6044047"/>
            <a:ext cx="263982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 spd="med"/>
  <p:txStyles>
    <p:titleStyle>
      <a:lvl1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575980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1151960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727942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2303921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879903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3455882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4031863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4607843" algn="r" defTabSz="57598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ogle/re2/wiki/Syntax" TargetMode="Externa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流程图: 手动输入 4"/>
          <p:cNvSpPr/>
          <p:nvPr/>
        </p:nvSpPr>
        <p:spPr>
          <a:xfrm rot="16200000" flipH="1">
            <a:off x="4358349" y="-681962"/>
            <a:ext cx="6480178" cy="7844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432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39" name="图片 5" descr="图片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01600" y="-1851"/>
            <a:ext cx="11520489" cy="65416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图片 6" descr="图片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38274" y="-29029"/>
            <a:ext cx="11658763" cy="655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图片 9" descr="图片 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-9856" y="-6999"/>
            <a:ext cx="11508085" cy="6495751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文本框 7"/>
          <p:cNvSpPr txBox="1"/>
          <p:nvPr/>
        </p:nvSpPr>
        <p:spPr>
          <a:xfrm>
            <a:off x="7115774" y="2824589"/>
            <a:ext cx="3598098" cy="768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lnSpc>
                <a:spcPct val="120000"/>
              </a:lnSpc>
              <a:defRPr sz="4000" spc="300"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sz="4000" b="1" spc="3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思源黑体"/>
                <a:sym typeface="思源黑体"/>
              </a:rPr>
              <a:t>Promethues</a:t>
            </a:r>
            <a:endParaRPr lang="en-US" altLang="zh-CN" sz="4000" b="1" spc="300" dirty="0">
              <a:latin typeface="微软雅黑" panose="020B0503020204020204" pitchFamily="34" charset="-122"/>
              <a:ea typeface="微软雅黑" panose="020B0503020204020204" pitchFamily="34" charset="-122"/>
              <a:cs typeface="思源黑体"/>
              <a:sym typeface="思源黑体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940487" y="6032552"/>
            <a:ext cx="6341922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r" defTabSz="5759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平安科技（深圳）有限公司  版权所有  未经授权不得使用和传播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dirty="0"/>
              <a:t>1</a:t>
            </a:r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5337357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Prometheus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07352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98056" y="1547444"/>
            <a:ext cx="9102547" cy="24675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216000" rIns="45719" bIns="216000" numCol="1" spcCol="3810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Prometheus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是由前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Google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工程师从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年开始在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Soundcloud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以开源软件的形式进行研发的系统监控和告警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工具包。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Prometheus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的开发者和用户社区非常活跃，它现在是一个独立的开源项目，可以独立于任何公司进行维护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Prometheus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月加入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CNCF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基金会，成为继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Kubernetes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之后的第二个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CNCF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托管项目。</a:t>
            </a:r>
            <a:endParaRPr kumimoji="0" lang="zh-CN" altLang="en-US" sz="2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26543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优势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98056" y="1547444"/>
            <a:ext cx="9102547" cy="31446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216000" rIns="45719" bIns="21600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457200" indent="-457200">
              <a:buFont typeface="+mj-lt"/>
              <a:buAutoNum type="arabicPeriod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由指标名称和和键</a:t>
            </a:r>
            <a:r>
              <a:rPr lang="en-US" altLang="zh-CN" dirty="0"/>
              <a:t>/</a:t>
            </a:r>
            <a:r>
              <a:rPr lang="zh-CN" altLang="en-US" dirty="0"/>
              <a:t>值对标签标识的时间序列数据组成的多维数据模型。</a:t>
            </a:r>
            <a:endParaRPr lang="en-US" altLang="zh-CN" dirty="0"/>
          </a:p>
          <a:p>
            <a:r>
              <a:rPr lang="zh-CN" altLang="en-US" dirty="0"/>
              <a:t>强大的查询语言 </a:t>
            </a:r>
            <a:r>
              <a:rPr lang="en-US" altLang="zh-CN" dirty="0" err="1"/>
              <a:t>PromQL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不依赖分布式存储；单个服务节点具有自治能力。</a:t>
            </a:r>
            <a:endParaRPr lang="en-US" altLang="zh-CN" dirty="0"/>
          </a:p>
          <a:p>
            <a:r>
              <a:rPr lang="zh-CN" altLang="en-US" dirty="0"/>
              <a:t>时间序列数据是服务端通过 </a:t>
            </a:r>
            <a:r>
              <a:rPr lang="en-US" altLang="zh-CN" dirty="0"/>
              <a:t>HTTP </a:t>
            </a:r>
            <a:r>
              <a:rPr lang="zh-CN" altLang="en-US" dirty="0"/>
              <a:t>协议主动拉取获得的。</a:t>
            </a:r>
            <a:endParaRPr lang="en-US" altLang="zh-CN" dirty="0"/>
          </a:p>
          <a:p>
            <a:r>
              <a:rPr lang="zh-CN" altLang="en-US" dirty="0"/>
              <a:t>也可以通过中间网关来推送时间序列数据。</a:t>
            </a:r>
            <a:endParaRPr lang="en-US" altLang="zh-CN" dirty="0"/>
          </a:p>
          <a:p>
            <a:r>
              <a:rPr lang="zh-CN" altLang="en-US" dirty="0"/>
              <a:t>可以通过静态配置文件或服务发现来获取监控目标。</a:t>
            </a:r>
            <a:endParaRPr lang="en-US" altLang="zh-CN" dirty="0"/>
          </a:p>
          <a:p>
            <a:r>
              <a:rPr lang="zh-CN" altLang="en-US" dirty="0"/>
              <a:t>支持多种类型的图表和仪表盘。</a:t>
            </a:r>
          </a:p>
        </p:txBody>
      </p:sp>
    </p:spTree>
    <p:extLst>
      <p:ext uri="{BB962C8B-B14F-4D97-AF65-F5344CB8AC3E}">
        <p14:creationId xmlns:p14="http://schemas.microsoft.com/office/powerpoint/2010/main" val="19132314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98056" y="1547444"/>
            <a:ext cx="9102547" cy="24675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216000" rIns="45719" bIns="216000" numCol="1" spcCol="38100" rtlCol="0" anchor="t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Prometheus Server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作为服务端，用来存储时间序列数据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库用来检测应用程序代码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(Client Library)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支持临时任务的推送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网关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Pushgateway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Exporter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用来监控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并提供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标准格式的监控样本数据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alartmanager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用来处理告警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各种周边工具</a:t>
            </a:r>
          </a:p>
        </p:txBody>
      </p:sp>
    </p:spTree>
    <p:extLst>
      <p:ext uri="{BB962C8B-B14F-4D97-AF65-F5344CB8AC3E}">
        <p14:creationId xmlns:p14="http://schemas.microsoft.com/office/powerpoint/2010/main" val="18469104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87" y="1085850"/>
            <a:ext cx="10677525" cy="43053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87" y="1238250"/>
            <a:ext cx="1067752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45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2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140038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69620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数据模型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0741" y="2949674"/>
            <a:ext cx="1272141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457200" marR="0" indent="-457200" algn="l" defTabSz="5759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zh-CN" altLang="en-US" sz="2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样本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8631" y="1893000"/>
            <a:ext cx="8746944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每一条时间序列由指标名称（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Metrics Name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）以及一组标签（键值对）唯一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字符、数字、下划线以及冒号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标签的名称只能由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字符、数字以及下划线组成并满足正则表达式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[a-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-Z_][a-zA-Z0-9_]*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259584"/>
            <a:ext cx="306750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457200" marR="0" indent="-457200" algn="l" defTabSz="5759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zh-CN" altLang="en-US" sz="2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指标名称和标签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6638" y="4576917"/>
            <a:ext cx="1990286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457200" marR="0" indent="-457200" algn="l" defTabSz="5759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zh-CN" altLang="en-US" sz="2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表达方式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36774" y="3545678"/>
            <a:ext cx="6199772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指标（</a:t>
            </a:r>
            <a:r>
              <a:rPr lang="en-US" altLang="zh-CN" dirty="0"/>
              <a:t>metric</a:t>
            </a:r>
            <a:r>
              <a:rPr lang="zh-CN" altLang="en-US" dirty="0"/>
              <a:t>）：指标名称和描述当前样本特征的 </a:t>
            </a:r>
            <a:r>
              <a:rPr lang="en-US" altLang="zh-CN" dirty="0" err="1"/>
              <a:t>labelsets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时间戳（</a:t>
            </a:r>
            <a:r>
              <a:rPr lang="en-US" altLang="zh-CN" dirty="0"/>
              <a:t>timestamp</a:t>
            </a:r>
            <a:r>
              <a:rPr lang="zh-CN" altLang="en-US" dirty="0"/>
              <a:t>）：一个精确到毫秒的时间戳；</a:t>
            </a:r>
            <a:endParaRPr lang="en-US" altLang="zh-CN" dirty="0"/>
          </a:p>
          <a:p>
            <a:r>
              <a:rPr lang="zh-CN" altLang="en-US" dirty="0"/>
              <a:t>样本值（</a:t>
            </a:r>
            <a:r>
              <a:rPr lang="en-US" altLang="zh-CN" dirty="0"/>
              <a:t>value</a:t>
            </a:r>
            <a:r>
              <a:rPr lang="zh-CN" altLang="en-US" dirty="0"/>
              <a:t>）： 一个 </a:t>
            </a:r>
            <a:r>
              <a:rPr lang="en-US" altLang="zh-CN" dirty="0"/>
              <a:t>folat64 </a:t>
            </a:r>
            <a:r>
              <a:rPr lang="zh-CN" altLang="en-US" dirty="0"/>
              <a:t>的浮点型数据表示当前样本的值。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36774" y="5302377"/>
            <a:ext cx="4922179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&lt;metric name&gt;{&lt;label name&gt;=&lt;label value&gt;, ...}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136774" y="5843171"/>
            <a:ext cx="6988450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>
                <a:solidFill>
                  <a:schemeClr val="accent6">
                    <a:lumMod val="75000"/>
                  </a:schemeClr>
                </a:solidFill>
              </a:rPr>
              <a:t>示例：</a:t>
            </a:r>
            <a:r>
              <a:rPr lang="en-US" altLang="zh-CN" dirty="0" err="1" smtClean="0">
                <a:solidFill>
                  <a:schemeClr val="accent6">
                    <a:lumMod val="75000"/>
                  </a:schemeClr>
                </a:solidFill>
              </a:rPr>
              <a:t>api_http_requests_total</a:t>
            </a:r>
            <a:r>
              <a:rPr lang="en-US" altLang="zh-CN" dirty="0" smtClean="0">
                <a:solidFill>
                  <a:schemeClr val="accent6">
                    <a:lumMod val="75000"/>
                  </a:schemeClr>
                </a:solidFill>
              </a:rPr>
              <a:t>{method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="POST", handler="/messages"}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63545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指标类型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0741" y="2738656"/>
            <a:ext cx="3469859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Gauge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（仪表盘）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36774" y="1507468"/>
            <a:ext cx="9245182" cy="1323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一种样本数据单调递增的指标，即只增不减，除非监控系统发生了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重置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0" lang="en-US" altLang="zh-CN" sz="16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Inc</a:t>
            </a:r>
            <a:r>
              <a: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()</a:t>
            </a:r>
            <a:r>
              <a:rPr kumimoji="0" lang="zh-CN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：将</a:t>
            </a:r>
            <a:r>
              <a: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counter</a:t>
            </a:r>
            <a:r>
              <a:rPr kumimoji="0" lang="zh-CN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值加</a:t>
            </a:r>
            <a:r>
              <a: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1</a:t>
            </a:r>
          </a:p>
          <a:p>
            <a:r>
              <a: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Add(float64)</a:t>
            </a:r>
            <a:r>
              <a:rPr kumimoji="0" lang="zh-CN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：将指定值加到</a:t>
            </a:r>
            <a:r>
              <a: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counter</a:t>
            </a:r>
            <a:r>
              <a:rPr kumimoji="0" lang="zh-CN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上</a:t>
            </a:r>
            <a:endParaRPr kumimoji="0" lang="en-US" altLang="zh-CN" sz="16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  <a:p>
            <a:r>
              <a: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rate()</a:t>
            </a:r>
            <a:r>
              <a:rPr kumimoji="0" lang="zh-CN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：获取样本的增长率</a:t>
            </a:r>
            <a:endParaRPr kumimoji="0" lang="en-US" altLang="zh-CN" sz="16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  <a:p>
            <a:r>
              <a:rPr kumimoji="0" lang="en-US" altLang="zh-CN" sz="1600" b="0" i="0" u="none" strike="noStrike" cap="none" spc="0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topk</a:t>
            </a:r>
            <a:r>
              <a: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()</a:t>
            </a:r>
            <a:r>
              <a:rPr kumimoji="0" lang="zh-CN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：获取样本访问前</a:t>
            </a:r>
            <a:r>
              <a: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n</a:t>
            </a:r>
            <a:r>
              <a:rPr kumimoji="0" lang="zh-CN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清单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048566"/>
            <a:ext cx="373435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Counter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（计数器）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6638" y="4115179"/>
            <a:ext cx="4152738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Histogram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（直方图）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36774" y="3295264"/>
            <a:ext cx="9245182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代表一种样本数据可以任意变化的指标，即可增可</a:t>
            </a:r>
            <a:r>
              <a:rPr lang="zh-CN" altLang="en-US" dirty="0" smtClean="0"/>
              <a:t>减</a:t>
            </a:r>
            <a:endParaRPr lang="en-US" altLang="zh-CN" dirty="0" smtClean="0"/>
          </a:p>
          <a:p>
            <a:r>
              <a:rPr lang="en-US" altLang="zh-CN" dirty="0" err="1" smtClean="0"/>
              <a:t>Dalta</a:t>
            </a:r>
            <a:r>
              <a:rPr lang="en-US" altLang="zh-CN" dirty="0" smtClean="0"/>
              <a:t>():</a:t>
            </a:r>
            <a:r>
              <a:rPr lang="zh-CN" altLang="en-US" dirty="0" smtClean="0"/>
              <a:t>获取样本一一段时弊内的变更情况</a:t>
            </a:r>
            <a:endParaRPr lang="en-US" altLang="zh-CN" dirty="0" smtClean="0"/>
          </a:p>
          <a:p>
            <a:r>
              <a:rPr lang="en-US" altLang="zh-CN" dirty="0" err="1" smtClean="0"/>
              <a:t>Predict_linear</a:t>
            </a:r>
            <a:r>
              <a:rPr lang="en-US" altLang="zh-CN" dirty="0" smtClean="0"/>
              <a:t>()</a:t>
            </a:r>
            <a:r>
              <a:rPr lang="zh-CN" altLang="en-US" dirty="0" smtClean="0"/>
              <a:t>：基于简单线性回归，预测趋势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36638" y="5171204"/>
            <a:ext cx="3618937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Summary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（摘要）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36773" y="4594812"/>
            <a:ext cx="9245183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在一段时间范围内对数据进行采样（通常是请求持续时间或响应大小等），并将其计入可配置的存储桶（</a:t>
            </a:r>
            <a:r>
              <a:rPr lang="en-US" altLang="zh-CN" dirty="0"/>
              <a:t>bucket</a:t>
            </a:r>
            <a:r>
              <a:rPr lang="zh-CN" altLang="en-US" dirty="0"/>
              <a:t>）中，后续可通过指定区间筛选样本，也可以统计样本总数，最后一般将数据展示为直方图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136772" y="5632382"/>
            <a:ext cx="9245183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用于表示一段时间内的数据采样结果（通常是请求持续时间或响应大小等），但它直接存储了分位数（通过客户端计算，然后展示出来），而不是通过区间来计算</a:t>
            </a:r>
          </a:p>
        </p:txBody>
      </p:sp>
    </p:spTree>
    <p:extLst>
      <p:ext uri="{BB962C8B-B14F-4D97-AF65-F5344CB8AC3E}">
        <p14:creationId xmlns:p14="http://schemas.microsoft.com/office/powerpoint/2010/main" val="30869624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 smtClean="0"/>
              <a:t>3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140038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部署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54630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Promethues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Server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8631" y="1893000"/>
            <a:ext cx="8746944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每一条时间序列由指标名称（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Metrics Name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）以及一组标签（键值对）唯一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字符、数字、下划线以及冒号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标签的名称只能由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字符、数字以及下划线组成并满足正则表达式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[a-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-Z_][a-zA-Z0-9_]*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259584"/>
            <a:ext cx="306750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457200" marR="0" indent="-457200" algn="l" defTabSz="5759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zh-CN" altLang="en-US" sz="2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指标名称和标签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76762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Alertmanger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8631" y="1893000"/>
            <a:ext cx="8746944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每一条时间序列由指标名称（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Metrics Name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）以及一组标签（键值对）唯一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字符、数字、下划线以及冒号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标签的名称只能由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字符、数字以及下划线组成并满足正则表达式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[a-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-Z_][a-zA-Z0-9_]*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259584"/>
            <a:ext cx="306750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457200" marR="0" indent="-457200" algn="l" defTabSz="5759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zh-CN" altLang="en-US" sz="2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指标名称和标签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97183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Pushgateway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8631" y="1893000"/>
            <a:ext cx="8746944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每一条时间序列由指标名称（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Metrics Name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）以及一组标签（键值对）唯一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字符、数字、下划线以及冒号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标签的名称只能由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字符、数字以及下划线组成并满足正则表达式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[a-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-Z_][a-zA-Z0-9_]*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259584"/>
            <a:ext cx="306750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457200" marR="0" indent="-457200" algn="l" defTabSz="5759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zh-CN" altLang="en-US" sz="2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指标名称和标签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14838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Node_exporter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8631" y="1893000"/>
            <a:ext cx="8746944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每一条时间序列由指标名称（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Metrics Name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）以及一组标签（键值对）唯一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字符、数字、下划线以及冒号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标签的名称只能由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字符、数字以及下划线组成并满足正则表达式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[a-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-Z_][a-zA-Z0-9_]*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259584"/>
            <a:ext cx="306750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457200" marR="0" indent="-457200" algn="l" defTabSz="5759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zh-CN" altLang="en-US" sz="2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指标名称和标签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97264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54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4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140038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82736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Promethues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Server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8631" y="1893000"/>
            <a:ext cx="8746944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每一条时间序列由指标名称（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Metrics Name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）以及一组标签（键值对）唯一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字符、数字、下划线以及冒号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标签的名称只能由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字符、数字以及下划线组成并满足正则表达式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[a-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-Z_][a-zA-Z0-9_]*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259584"/>
            <a:ext cx="306750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457200" marR="0" indent="-457200" algn="l" defTabSz="5759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zh-CN" altLang="en-US" sz="2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指标名称和标签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95978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Alertmanger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8631" y="1893000"/>
            <a:ext cx="8746944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每一条时间序列由指标名称（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Metrics Name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）以及一组标签（键值对）唯一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字符、数字、下划线以及冒号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标签的名称只能由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字符、数字以及下划线组成并满足正则表达式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[a-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-Z_][a-zA-Z0-9_]*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259584"/>
            <a:ext cx="306750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457200" marR="0" indent="-457200" algn="l" defTabSz="5759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zh-CN" altLang="en-US" sz="2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指标名称和标签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113122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Pushgateway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8631" y="1893000"/>
            <a:ext cx="8746944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每一条时间序列由指标名称（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Metrics Name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）以及一组标签（键值对）唯一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字符、数字、下划线以及冒号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标签的名称只能由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字符、数字以及下划线组成并满足正则表达式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[a-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-Z_][a-zA-Z0-9_]*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259584"/>
            <a:ext cx="306750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457200" marR="0" indent="-457200" algn="l" defTabSz="5759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zh-CN" altLang="en-US" sz="2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指标名称和标签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02819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Node_exporter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8631" y="1893000"/>
            <a:ext cx="8746944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每一条时间序列由指标名称（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Metrics Name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）以及一组标签（键值对）唯一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标识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指标名称只能由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字符、数字、下划线以及冒号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标签的名称只能由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ASCII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字符、数字以及下划线组成并满足正则表达式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[a-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zA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-Z_][a-zA-Z0-9_]*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259584"/>
            <a:ext cx="306750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457200" marR="0" indent="-457200" algn="l" defTabSz="5759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kumimoji="0" lang="zh-CN" altLang="en-US" sz="2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指标名称和标签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48319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5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2721256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PromQL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85265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表达式数据类型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259584"/>
            <a:ext cx="291041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Instant vector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6638" y="2434539"/>
            <a:ext cx="2817436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Range vector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6638" y="3609494"/>
            <a:ext cx="1571903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Scalar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6638" y="4784448"/>
            <a:ext cx="1578315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String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77624" y="1939394"/>
            <a:ext cx="7068600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一组时间序列，每个时间序列包含一个样本，所有数据样本共享相同的时间戳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77624" y="3114349"/>
            <a:ext cx="6042678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一组时间序列，其中包含每个时间序列随时间变化的一系列数据点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77624" y="4289304"/>
            <a:ext cx="2144175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一个简单的数字浮点值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77624" y="5464258"/>
            <a:ext cx="1938990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一个简单的字符串值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699170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字面量类型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259584"/>
            <a:ext cx="291041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String literals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6638" y="2820913"/>
            <a:ext cx="263469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Float literals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77624" y="1939394"/>
            <a:ext cx="2964912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由单引号，双引号或反引号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77624" y="3500723"/>
            <a:ext cx="3920302" cy="20621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浮点值可以表示为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[-](digits)[.(digits)]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形式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[-+]?(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[0-9]*\.?[0-9]+([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eE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][-+]?[0-9]+)?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| 0[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][0-9a-fA-F]+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| 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aA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| 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fF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20561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时间序列选择器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259584"/>
            <a:ext cx="4636845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Instant vector selectors 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6025" y="3855375"/>
            <a:ext cx="4543871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Range vector selectors 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77625" y="1840917"/>
            <a:ext cx="9641958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允许在给定时间戳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瞬时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上选择一组时间序列和每个样本的当个采样值：在最简单的形式中，仅指定度量名称。这会生成包含具有该数据指标名称的所有时间序列的元素的即时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Prometheus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中的所有正则表达式都使用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RE2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语法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https://github.com/google/re2/wiki/Syntax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17011" y="4334083"/>
            <a:ext cx="9190976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将范围持续时间附加在向量选择器末尾的方括号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([])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中，以指定为每个范围向量元素提取多久的时间值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17011" y="2757675"/>
            <a:ext cx="6509204" cy="10977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=: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选择与提供的字符串完全相同的标签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精确匹配</a:t>
            </a:r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!=: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选择不等于提供的字符串的标签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反向匹配</a:t>
            </a:r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=~: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选择与提供的字符串进行正则表达式匹配的标签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正则表达式匹配</a:t>
            </a:r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!~: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选择正则表达式不匹配提供的字符串的标签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反向正则表达式匹配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6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17011" y="4672635"/>
            <a:ext cx="3132958" cy="15593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- </a:t>
            </a:r>
            <a:r>
              <a:rPr lang="zh-CN" altLang="en-US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endParaRPr lang="en-US" altLang="zh-CN" sz="16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endParaRPr lang="en-US" altLang="zh-CN" sz="16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</a:t>
            </a:r>
            <a:endParaRPr lang="en-US" altLang="zh-CN" sz="16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</a:t>
            </a:r>
            <a:endParaRPr lang="en-US" altLang="zh-CN" sz="16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 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</a:t>
            </a:r>
            <a:endParaRPr lang="en-US" altLang="zh-CN" sz="16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en-US" altLang="zh-CN" sz="16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526216" y="2863922"/>
            <a:ext cx="3193368" cy="1077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job</a:t>
            </a:r>
            <a:r>
              <a:rPr lang="en-US" altLang="zh-CN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=~".+"}</a:t>
            </a:r>
          </a:p>
          <a:p>
            <a:r>
              <a:rPr lang="en-US" altLang="zh-CN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job=~".*",method="get</a:t>
            </a:r>
            <a:r>
              <a:rPr lang="en-US" altLang="zh-CN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"}</a:t>
            </a:r>
          </a:p>
          <a:p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{__name__=~"job</a:t>
            </a:r>
            <a:r>
              <a:rPr lang="en-US" altLang="zh-CN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:.*"}</a:t>
            </a:r>
          </a:p>
          <a:p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{__name__="on"}</a:t>
            </a:r>
            <a:endParaRPr lang="en-US" altLang="zh-CN" sz="1600" dirty="0" smtClean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543865" y="4884619"/>
            <a:ext cx="6175718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http_requests_total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{job="</a:t>
            </a: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prometheus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"}[5m</a:t>
            </a:r>
            <a:r>
              <a:rPr lang="en-US" altLang="zh-CN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08330825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偏移量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134818"/>
            <a:ext cx="10409258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offset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修饰符允许更改查询中各个瞬时向量和范围向量的时间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偏移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offset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修饰符始必须直接跟在选择器后面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36638" y="2568500"/>
            <a:ext cx="10307827" cy="20621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、返回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相对于当前查询时间过去 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分钟的 </a:t>
            </a: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http_requests_total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endParaRPr lang="en-US" altLang="zh-CN" sz="1600" dirty="0" smtClean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err="1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http_requests_total</a:t>
            </a:r>
            <a:r>
              <a:rPr lang="en-US" altLang="zh-CN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offset </a:t>
            </a:r>
            <a:r>
              <a:rPr lang="en-US" altLang="zh-CN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5m</a:t>
            </a:r>
          </a:p>
          <a:p>
            <a:endParaRPr lang="en-US" altLang="zh-CN" sz="1600" dirty="0" smtClean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、返回相对于当前查询时间过去</a:t>
            </a:r>
            <a:r>
              <a:rPr lang="en-US" altLang="zh-CN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分钟内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600" dirty="0" err="1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GET”http_requests_total</a:t>
            </a:r>
            <a:r>
              <a:rPr lang="zh-CN" altLang="en-US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数量总和</a:t>
            </a:r>
            <a:endParaRPr lang="en-US" altLang="zh-CN" sz="1600" dirty="0" smtClean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sum(</a:t>
            </a: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http_requests_total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{method="GET"} offset 5m</a:t>
            </a:r>
            <a:r>
              <a:rPr lang="en-US" altLang="zh-CN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endParaRPr lang="en-US" altLang="zh-CN" sz="1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、返回</a:t>
            </a: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http_requests_total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一周前的 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分钟速率</a:t>
            </a:r>
            <a:endParaRPr lang="en-US" altLang="zh-CN" sz="1600" dirty="0" smtClean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rate(</a:t>
            </a:r>
            <a:r>
              <a:rPr lang="en-US" altLang="zh-CN" sz="16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http_requests_total</a:t>
            </a:r>
            <a:r>
              <a:rPr lang="en-US" altLang="zh-CN" sz="1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[5m] offset 1w)</a:t>
            </a:r>
            <a:endParaRPr lang="en-US" altLang="zh-CN" sz="1600" dirty="0" smtClean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03603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子查询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044141"/>
            <a:ext cx="7273784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允许针对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给定的范围和分辨率运行即时查询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查询的结果是范围向量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6638" y="2802935"/>
            <a:ext cx="8126990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8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语法：</a:t>
            </a:r>
            <a:endParaRPr lang="en-US" altLang="zh-CN" sz="18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8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8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instant_query</a:t>
            </a:r>
            <a:r>
              <a:rPr lang="en-US" altLang="zh-CN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'[' &lt;range&gt; ':' [&lt;resolution&gt;] ']' [ offset &lt;duration&gt; </a:t>
            </a:r>
            <a:r>
              <a:rPr lang="en-US" altLang="zh-CN" sz="18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endParaRPr lang="en-US" altLang="zh-CN" sz="18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&lt;resolution&gt; </a:t>
            </a:r>
            <a:r>
              <a:rPr lang="zh-CN" altLang="en-US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是可选的。默认是全局评估时间间隔。</a:t>
            </a:r>
            <a:endParaRPr lang="en-US" altLang="zh-CN" sz="18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72970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操作符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6638" y="1259584"/>
            <a:ext cx="3683058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支持二元和聚合操作符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6638" y="1907568"/>
            <a:ext cx="812699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https://prometheus.io/docs/prometheus/latest/querying/operators/</a:t>
            </a:r>
            <a:endParaRPr lang="en-US" altLang="zh-CN" sz="18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6638" y="2379896"/>
            <a:ext cx="209287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二元运算符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6638" y="3939071"/>
            <a:ext cx="178510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矢量匹配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6638" y="5102106"/>
            <a:ext cx="178510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聚合操作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6638" y="5618031"/>
            <a:ext cx="301620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二元运算符优先级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98302" y="2957376"/>
            <a:ext cx="2195471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0" lang="zh-CN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二元算术运算符号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98301" y="3307101"/>
            <a:ext cx="1990286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0" lang="zh-CN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二元比较运算符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98301" y="3645653"/>
            <a:ext cx="2078452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0" lang="zh-CN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逻辑</a:t>
            </a:r>
            <a:r>
              <a:rPr kumimoji="0" lang="en-US" altLang="zh-CN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/</a:t>
            </a:r>
            <a:r>
              <a:rPr kumimoji="0" lang="zh-CN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集合运算符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98301" y="4355870"/>
            <a:ext cx="1990286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0" lang="zh-CN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一对一向量匹配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98300" y="4705595"/>
            <a:ext cx="2811024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kumimoji="0" lang="zh-CN" alt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多对一和一对多向量匹配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536544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算术运算符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76025" y="1747858"/>
            <a:ext cx="8126990" cy="2308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lang="zh-CN" altLang="en-US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 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</a:t>
            </a:r>
            <a:r>
              <a:rPr lang="zh-CN" altLang="en-US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^ 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乘方，幂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66658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比较运算符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76025" y="1663452"/>
            <a:ext cx="8126990" cy="2308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== </a:t>
            </a:r>
            <a:r>
              <a:rPr lang="zh-CN" altLang="en-US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!= 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</a:t>
            </a:r>
            <a:r>
              <a:rPr lang="zh-CN" altLang="en-US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  </a:t>
            </a:r>
            <a:r>
              <a:rPr lang="zh-CN" altLang="en-US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小于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&gt;= 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</a:t>
            </a:r>
            <a:r>
              <a:rPr lang="zh-CN" altLang="en-US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&lt;= 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小于等于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40329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集合运算符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76025" y="1804129"/>
            <a:ext cx="8126990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</a:t>
            </a:r>
            <a:r>
              <a:rPr lang="zh-CN" altLang="en-US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交集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 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en-US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unless 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补集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4909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聚合操作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76025" y="1134818"/>
            <a:ext cx="8126990" cy="452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 (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在指定维度上求和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在指定维度上求最大值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在指定维度上求最小值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400" dirty="0" err="1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avg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在指定维度上求平均值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400" dirty="0" err="1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stddev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在指定维度上求标准差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400" dirty="0" err="1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stdvar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在指定维度上求方差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统计向量元素的个数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400" dirty="0" err="1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count_values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统计具有相同数值的元素数量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400" dirty="0" err="1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bottomk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样本值中最小的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个值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400" dirty="0" err="1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topk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样本值中最大的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个值</a:t>
            </a: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quantile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在指定维度上统计 </a:t>
            </a:r>
            <a:r>
              <a:rPr lang="el-GR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φ-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quantile 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分位数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 ≤ </a:t>
            </a:r>
            <a:r>
              <a:rPr lang="el-GR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φ ≤ 1))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07520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运算优先级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76025" y="1987009"/>
            <a:ext cx="8126990" cy="2308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^ </a:t>
            </a: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*, /, % 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+, - 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==, !=, &lt;=, &lt;, &gt;=, &gt; 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and, unless 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or</a:t>
            </a:r>
            <a:endParaRPr lang="en-US" altLang="zh-CN" sz="24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6025" y="1360859"/>
            <a:ext cx="1887694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从高到低如下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12191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411133" y="10049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1133" y="1637745"/>
            <a:ext cx="812699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80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https://prometheus.io/docs/prometheus/latest/querying/functions/</a:t>
            </a:r>
            <a:endParaRPr lang="en-US" altLang="zh-CN" sz="18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51355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411133" y="10049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6065" y="1180528"/>
            <a:ext cx="1769072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状态码：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8386" y="1580635"/>
            <a:ext cx="9764689" cy="738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404 Bad Request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：当参数错误或者缺失时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422 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Unprocessable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Entity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当表达式无法执行时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503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Service 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Unavailiable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当请求超时或者被中断时。：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1133" y="2651245"/>
            <a:ext cx="2039980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响应格式：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454" y="3051352"/>
            <a:ext cx="9764689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 "status": "success" | "error",  "data": &lt;data&gt;,  // Only set if status is "error". The data field may still hold  // additional data.  "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errorType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": "&lt;string&gt;",  "error": "&lt;string&gt;"}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6065" y="4038105"/>
            <a:ext cx="101886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8386" y="4479574"/>
            <a:ext cx="9764689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 /</a:t>
            </a:r>
            <a:r>
              <a:rPr lang="en-US" altLang="zh-CN" sz="1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/v1/query 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查询当前计算结果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 /</a:t>
            </a:r>
            <a:r>
              <a:rPr lang="en-US" altLang="zh-CN" sz="1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/v1/</a:t>
            </a:r>
            <a:r>
              <a:rPr lang="en-US" altLang="zh-CN" sz="1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query_range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查询一定时间范围内的计算结果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831217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411133" y="10049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/v1/query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6065" y="1180528"/>
            <a:ext cx="1607169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请求参数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8386" y="1580635"/>
            <a:ext cx="9764689" cy="738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query=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PromQL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：用于指定用于计算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PromQL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的时间戳。可选参数，默认情况下使用当前系统时间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timeout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：超时设置。可选参数，默认情况下使用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query,timeout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的全局设置。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6065" y="2501345"/>
            <a:ext cx="605292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8386" y="2901452"/>
            <a:ext cx="9764689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查询表达式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在时间点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2015-07-01T20:10:51.781Z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的计算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curl 'http://localhost:9090/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/v1/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query?query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up&amp;time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=2015-07-01T20:10:51.781Z'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6065" y="3689883"/>
            <a:ext cx="2373405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响应类型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20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8386" y="4089990"/>
            <a:ext cx="9764689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瞬时向量：</a:t>
            </a:r>
            <a:r>
              <a:rPr lang="en-US" altLang="zh-CN" sz="1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vecto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区间向量：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matrix</a:t>
            </a:r>
          </a:p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标量：</a:t>
            </a:r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scalar</a:t>
            </a:r>
          </a:p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字符串：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54871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411133" y="10049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/v1/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query_range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6065" y="1180528"/>
            <a:ext cx="1607169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请求参数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8386" y="1580635"/>
            <a:ext cx="9764689" cy="11695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query=: 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PromQL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start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=: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起始时间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=: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结束时间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=: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查询步长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timeout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=: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超时设置。可选参数，默认情况下使用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query,timeout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的全局设置。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6065" y="2906079"/>
            <a:ext cx="605292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zh-CN" altLang="en-US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8386" y="3306186"/>
            <a:ext cx="9764689" cy="738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查询表达式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秒范围内以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秒为间隔计算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PromQL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表达式的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结果：</a:t>
            </a:r>
            <a:endParaRPr lang="en-US" altLang="zh-CN" sz="1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curl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'http://localhost:9090/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/v1/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query_range?query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up&amp;start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=2015-07-01T20:10:30.781Z&amp;end=2015-07-01T20:11:00.781Z&amp;step=15s'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1133" y="4200743"/>
            <a:ext cx="396902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3454" y="4600850"/>
            <a:ext cx="9764689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当使用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QUERY_RANGE API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r>
              <a:rPr lang="en-US" altLang="zh-CN" sz="1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PromQL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表达式时，返回结果一定是一个区间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768586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411133" y="10049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个黄金指标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975" y="1134774"/>
            <a:ext cx="8126990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延迟：服务请求所需时间</a:t>
            </a:r>
            <a:endParaRPr lang="en-US" altLang="zh-CN" sz="20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0975" y="2496895"/>
            <a:ext cx="8126990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通讯量：监控当前系统的流量，用于衡量服务的容量需求</a:t>
            </a:r>
            <a:endParaRPr lang="en-US" altLang="zh-CN" sz="20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0975" y="3567056"/>
            <a:ext cx="10128598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错误：监控当前系统所有发生的错误请求，衡量当前系统错误发生的速率。</a:t>
            </a:r>
            <a:endParaRPr lang="en-US" altLang="zh-CN" sz="20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0975" y="4783198"/>
            <a:ext cx="8126990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饱和度：衡量当前服务的饱和度</a:t>
            </a:r>
            <a:endParaRPr lang="en-US" altLang="zh-CN" sz="20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4440" y="1534881"/>
            <a:ext cx="9925133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记录用户所有请求所需的时间，重点是要区分成功请求的延迟时间和失败请求的延迟时间。 例如在数据库或者其他关键祸端服务异常触发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 500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情况下，用户也可能会很快得到请求失败的响应内容，如果不加区分计算这些请求的延迟，可能导致计算结果与实际结果产生巨大的差异。除此以外，在微服务中通常提倡“快速失败”，开发人员需要特别注意这些延迟较大的错误，因为这些缓慢的错误会明显影响系统的性能，因此追踪这些错误的延迟也是非常重要的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Calibri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52707" y="2981855"/>
            <a:ext cx="9925133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流量对于不同类型的系统而言可能代表不同的含义。例如，在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 REST API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流量通常是每秒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请求数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Calibri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54440" y="3952202"/>
            <a:ext cx="9925133" cy="738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对于失败而言有些是显式的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比如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, HTTP 500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错误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，而有些是隐式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比如，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响应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200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，但实际业务流程依然是失败的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)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。对于一些显式的错误如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HTTP 500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可以通过在负载均衡器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(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如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Nginx)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上进行捕获，而对于一些系统内部的异常，则可能需要直接从服务中添加钩子统计并进行获取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Calibri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54439" y="5183733"/>
            <a:ext cx="9925133" cy="738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主要强调最能影响服务状态的受限制的资源。 例如，如果系统主要受内存影响，那就主要关注系统的内存状态，如果系统主要受限与磁盘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I/O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，那就主要观测磁盘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I/O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的状态。因为通常情况下，当这些资源达到饱和后，服务的性能会明显下降。同时还可以利用饱和度对系统做出预测，比如，“磁盘是否可能在</a:t>
            </a:r>
            <a:r>
              <a:rPr lang="en-US" altLang="zh-CN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个小时候就满了”。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895967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411133" y="10049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RED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975" y="1652735"/>
            <a:ext cx="812699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速率：服务每秒接收的请求数</a:t>
            </a:r>
            <a:endParaRPr lang="en-US" altLang="zh-CN" sz="1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0975" y="2715795"/>
            <a:ext cx="812699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错误：每秒失败的请求数</a:t>
            </a:r>
            <a:endParaRPr lang="en-US" altLang="zh-CN" sz="1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0975" y="3778856"/>
            <a:ext cx="812699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耗时：每个请求的耗时</a:t>
            </a:r>
            <a:endParaRPr lang="en-US" altLang="zh-CN" sz="1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43280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411133" y="10049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USE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975" y="1652735"/>
            <a:ext cx="8126990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使用率：关注系统资源的使用情况。 这里的资源主要包括但不限于：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，内存，网络，磁盘等等。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的使用率通常是系统性能瓶颈的标志</a:t>
            </a:r>
            <a:endParaRPr lang="en-US" altLang="zh-CN" sz="1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0975" y="2592274"/>
            <a:ext cx="8126990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饱和度：例如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的平均运行排队长度，这里主要是针对资源的饱和度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注意，不同于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大黄金信号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。任何资源在某种程度上的饱和都可能导致系统性能的下降。</a:t>
            </a:r>
            <a:endParaRPr lang="en-US" altLang="zh-CN" sz="1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0975" y="3808812"/>
            <a:ext cx="812699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错误：错误计数</a:t>
            </a:r>
            <a:endParaRPr lang="en-US" altLang="zh-CN" sz="1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247750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6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140038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告警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17307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告警简介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6025" y="1115393"/>
            <a:ext cx="1528622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组合部分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5765" y="1786003"/>
            <a:ext cx="178510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告警名称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65764" y="2851940"/>
            <a:ext cx="1785102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告警规则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27429" y="2380527"/>
            <a:ext cx="9229925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用户需要为告警规则命名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27428" y="3323354"/>
            <a:ext cx="9229926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zh-CN" altLang="en-US" sz="1600" dirty="0" smtClean="0"/>
              <a:t>告警</a:t>
            </a:r>
            <a:r>
              <a:rPr lang="zh-CN" altLang="en-US" sz="1600" dirty="0"/>
              <a:t>规则实际上主要由</a:t>
            </a:r>
            <a:r>
              <a:rPr lang="en-US" altLang="zh-CN" sz="1600" dirty="0" err="1"/>
              <a:t>PromQL</a:t>
            </a:r>
            <a:r>
              <a:rPr lang="zh-CN" altLang="en-US" sz="1600" dirty="0"/>
              <a:t>进行定义，其实际意义是当表达式（</a:t>
            </a:r>
            <a:r>
              <a:rPr lang="en-US" altLang="zh-CN" sz="1600" dirty="0" err="1"/>
              <a:t>PromQL</a:t>
            </a:r>
            <a:r>
              <a:rPr lang="zh-CN" altLang="en-US" sz="1600" dirty="0"/>
              <a:t>）查询结果持续多长时间（</a:t>
            </a:r>
            <a:r>
              <a:rPr lang="en-US" altLang="zh-CN" sz="1600" dirty="0"/>
              <a:t>During</a:t>
            </a:r>
            <a:r>
              <a:rPr lang="zh-CN" altLang="en-US" sz="1600" dirty="0"/>
              <a:t>）后出发告警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76025" y="3996770"/>
            <a:ext cx="1528622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r>
              <a:rPr kumimoji="0" lang="zh-CN" altLang="en-US" sz="2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告警处理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264" y="4468183"/>
            <a:ext cx="8972550" cy="184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791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>
          <a:xfrm>
            <a:off x="576025" y="54787"/>
            <a:ext cx="10368440" cy="108003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告警特性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5098" y="1226779"/>
            <a:ext cx="116954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分组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5098" y="1836227"/>
            <a:ext cx="116954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去重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35098" y="3055123"/>
            <a:ext cx="116954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静默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35098" y="2445675"/>
            <a:ext cx="1169549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kumimoji="0" lang="zh-CN" altLang="en-US" sz="2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Calibri"/>
              </a:rPr>
              <a:t>抵制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Calibri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927" y="3516786"/>
            <a:ext cx="802957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768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 smtClean="0"/>
              <a:t>7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140038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迁移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8472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7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dirty="0"/>
              <a:t>8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016178" y="2559738"/>
            <a:ext cx="140038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迁移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465011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文本框 3"/>
          <p:cNvSpPr txBox="1"/>
          <p:nvPr/>
        </p:nvSpPr>
        <p:spPr>
          <a:xfrm>
            <a:off x="231708" y="1332280"/>
            <a:ext cx="1030515" cy="3154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9900" spc="3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en-US" altLang="zh-CN" dirty="0"/>
              <a:t>4</a:t>
            </a:r>
            <a:endParaRPr dirty="0"/>
          </a:p>
        </p:txBody>
      </p:sp>
      <p:sp>
        <p:nvSpPr>
          <p:cNvPr id="156" name="文本框 4"/>
          <p:cNvSpPr txBox="1"/>
          <p:nvPr/>
        </p:nvSpPr>
        <p:spPr>
          <a:xfrm>
            <a:off x="3493256" y="2579616"/>
            <a:ext cx="1103826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QA</a:t>
            </a:r>
          </a:p>
          <a:p>
            <a:pPr>
              <a:defRPr sz="4800" spc="3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30884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1" name="图片 8" descr="图片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3013" y="-29029"/>
            <a:ext cx="11573501" cy="6532675"/>
          </a:xfrm>
          <a:prstGeom prst="rect">
            <a:avLst/>
          </a:prstGeom>
          <a:ln w="12700">
            <a:miter lim="400000"/>
          </a:ln>
        </p:spPr>
      </p:pic>
      <p:sp>
        <p:nvSpPr>
          <p:cNvPr id="1845" name="流程图: 手动输入 4"/>
          <p:cNvSpPr/>
          <p:nvPr/>
        </p:nvSpPr>
        <p:spPr>
          <a:xfrm rot="16200000" flipH="1">
            <a:off x="4358349" y="-681962"/>
            <a:ext cx="6480178" cy="78441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432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846" name="图片 5" descr="图片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01600" y="-1851"/>
            <a:ext cx="11520489" cy="65416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7" name="图片 6" descr="图片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38274" y="-29029"/>
            <a:ext cx="11658763" cy="6557282"/>
          </a:xfrm>
          <a:prstGeom prst="rect">
            <a:avLst/>
          </a:prstGeom>
          <a:ln w="12700">
            <a:miter lim="400000"/>
          </a:ln>
        </p:spPr>
      </p:pic>
      <p:sp>
        <p:nvSpPr>
          <p:cNvPr id="1848" name="文本框 7"/>
          <p:cNvSpPr txBox="1"/>
          <p:nvPr/>
        </p:nvSpPr>
        <p:spPr>
          <a:xfrm>
            <a:off x="5146766" y="2204946"/>
            <a:ext cx="5857795" cy="768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20000"/>
              </a:lnSpc>
              <a:defRPr sz="4000" spc="300">
                <a:solidFill>
                  <a:srgbClr val="E94609"/>
                </a:solidFill>
                <a:latin typeface="思源黑体"/>
                <a:ea typeface="思源黑体"/>
                <a:cs typeface="思源黑体"/>
                <a:sym typeface="思源黑体"/>
              </a:defRPr>
            </a:lvl1pPr>
          </a:lstStyle>
          <a:p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平安云内部培训PPT模版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5759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5759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5759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5759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平安云内部培训PPT模版</Template>
  <TotalTime>18757</TotalTime>
  <Words>2590</Words>
  <Application>Microsoft Office PowerPoint</Application>
  <PresentationFormat>自定义</PresentationFormat>
  <Paragraphs>285</Paragraphs>
  <Slides>45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5" baseType="lpstr">
      <vt:lpstr>等线</vt:lpstr>
      <vt:lpstr>思源黑体</vt:lpstr>
      <vt:lpstr>Microsoft YaHei</vt:lpstr>
      <vt:lpstr>Microsoft YaHei</vt:lpstr>
      <vt:lpstr>微软雅黑 Light</vt:lpstr>
      <vt:lpstr>Arial</vt:lpstr>
      <vt:lpstr>Calibri</vt:lpstr>
      <vt:lpstr>Impact</vt:lpstr>
      <vt:lpstr>Wingdings</vt:lpstr>
      <vt:lpstr>平安云内部培训PPT模版</vt:lpstr>
      <vt:lpstr>PowerPoint 演示文稿</vt:lpstr>
      <vt:lpstr>PowerPoint 演示文稿</vt:lpstr>
      <vt:lpstr>简介</vt:lpstr>
      <vt:lpstr>优势</vt:lpstr>
      <vt:lpstr>组件</vt:lpstr>
      <vt:lpstr>架构</vt:lpstr>
      <vt:lpstr>PowerPoint 演示文稿</vt:lpstr>
      <vt:lpstr>数据模型</vt:lpstr>
      <vt:lpstr>指标类型</vt:lpstr>
      <vt:lpstr>PowerPoint 演示文稿</vt:lpstr>
      <vt:lpstr>Promethues Server</vt:lpstr>
      <vt:lpstr>Alertmanger</vt:lpstr>
      <vt:lpstr>Pushgateway</vt:lpstr>
      <vt:lpstr>Node_exporter</vt:lpstr>
      <vt:lpstr>PowerPoint 演示文稿</vt:lpstr>
      <vt:lpstr>Promethues Server</vt:lpstr>
      <vt:lpstr>Alertmanger</vt:lpstr>
      <vt:lpstr>Pushgateway</vt:lpstr>
      <vt:lpstr>Node_exporter</vt:lpstr>
      <vt:lpstr>PowerPoint 演示文稿</vt:lpstr>
      <vt:lpstr>表达式数据类型</vt:lpstr>
      <vt:lpstr>字面量类型</vt:lpstr>
      <vt:lpstr>时间序列选择器</vt:lpstr>
      <vt:lpstr>偏移量</vt:lpstr>
      <vt:lpstr>子查询</vt:lpstr>
      <vt:lpstr>操作符</vt:lpstr>
      <vt:lpstr>算术运算符</vt:lpstr>
      <vt:lpstr>比较运算符</vt:lpstr>
      <vt:lpstr>逻辑/集合运算符</vt:lpstr>
      <vt:lpstr>聚合操作</vt:lpstr>
      <vt:lpstr>运算优先级</vt:lpstr>
      <vt:lpstr>函数</vt:lpstr>
      <vt:lpstr>API</vt:lpstr>
      <vt:lpstr>/api/v1/query</vt:lpstr>
      <vt:lpstr>/api/v1/query_range</vt:lpstr>
      <vt:lpstr>4个黄金指标</vt:lpstr>
      <vt:lpstr>RED方法</vt:lpstr>
      <vt:lpstr>USE方法</vt:lpstr>
      <vt:lpstr>PowerPoint 演示文稿</vt:lpstr>
      <vt:lpstr>告警简介</vt:lpstr>
      <vt:lpstr>告警特性</vt:lpstr>
      <vt:lpstr>PowerPoint 演示文稿</vt:lpstr>
      <vt:lpstr>PowerPoint 演示文稿</vt:lpstr>
      <vt:lpstr>PowerPoint 演示文稿</vt:lpstr>
      <vt:lpstr>PowerPoint 演示文稿</vt:lpstr>
    </vt:vector>
  </TitlesOfParts>
  <Company>中国平安保险(集团)股份有限公司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Localadmin</dc:creator>
  <cp:keywords>lgm</cp:keywords>
  <cp:lastModifiedBy>admin</cp:lastModifiedBy>
  <cp:revision>368</cp:revision>
  <dcterms:created xsi:type="dcterms:W3CDTF">2018-07-12T06:20:54Z</dcterms:created>
  <dcterms:modified xsi:type="dcterms:W3CDTF">2021-07-14T03:44:16Z</dcterms:modified>
</cp:coreProperties>
</file>